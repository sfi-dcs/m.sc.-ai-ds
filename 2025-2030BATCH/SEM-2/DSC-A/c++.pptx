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62"/>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80" r:id="rId22"/>
    <p:sldId id="281" r:id="rId23"/>
    <p:sldId id="282" r:id="rId24"/>
    <p:sldId id="283" r:id="rId25"/>
    <p:sldId id="284" r:id="rId26"/>
    <p:sldId id="287" r:id="rId27"/>
    <p:sldId id="288" r:id="rId28"/>
    <p:sldId id="289" r:id="rId29"/>
    <p:sldId id="290" r:id="rId30"/>
    <p:sldId id="291" r:id="rId31"/>
    <p:sldId id="292" r:id="rId32"/>
    <p:sldId id="293" r:id="rId33"/>
    <p:sldId id="294" r:id="rId34"/>
    <p:sldId id="295" r:id="rId35"/>
    <p:sldId id="296" r:id="rId36"/>
    <p:sldId id="297" r:id="rId37"/>
    <p:sldId id="298" r:id="rId38"/>
    <p:sldId id="299" r:id="rId39"/>
    <p:sldId id="300" r:id="rId40"/>
    <p:sldId id="302" r:id="rId41"/>
    <p:sldId id="303" r:id="rId42"/>
    <p:sldId id="304" r:id="rId43"/>
    <p:sldId id="305" r:id="rId44"/>
    <p:sldId id="306" r:id="rId45"/>
    <p:sldId id="307" r:id="rId46"/>
    <p:sldId id="309" r:id="rId47"/>
    <p:sldId id="310" r:id="rId48"/>
    <p:sldId id="312" r:id="rId49"/>
    <p:sldId id="313" r:id="rId50"/>
    <p:sldId id="314" r:id="rId51"/>
    <p:sldId id="316" r:id="rId52"/>
    <p:sldId id="317" r:id="rId53"/>
    <p:sldId id="318" r:id="rId54"/>
    <p:sldId id="319" r:id="rId55"/>
    <p:sldId id="320" r:id="rId56"/>
    <p:sldId id="321" r:id="rId57"/>
    <p:sldId id="322" r:id="rId58"/>
    <p:sldId id="323" r:id="rId59"/>
    <p:sldId id="324" r:id="rId60"/>
    <p:sldId id="325" r:id="rId6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1186" y="293"/>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3329832ed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3329832ed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3329832edf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3329832edf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3329832edf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3329832edf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3329832edf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3329832edf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3329832edf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3329832edf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3df3391a21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3df3391a2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3329832edf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3329832edf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3329832edf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3329832edf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3df3391a21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3df3391a21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3329832edf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3329832edf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3329832edf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3329832edf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3329832edf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3329832edf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3329832edf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3329832edf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3329832edf_0_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3329832edf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3df3391a21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3df3391a21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3329832edf_0_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3329832edf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3329832edf_0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3329832edf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3329832edf_0_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3329832edf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3329832edf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3329832edf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3329832edf_0_1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3329832edf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3329832edf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3329832edf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3329832edf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33329832edf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3329832edf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33329832edf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3329832edf_0_1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3329832edf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3329832edf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3329832edf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3329832edf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3329832edf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3329832edf_0_1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33329832edf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3329832edf_0_1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33329832edf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3329832edf_0_2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33329832edf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3329832edf_0_2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33329832edf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33329832edf_0_2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33329832edf_0_2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3329832edf_0_2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33329832edf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3329832edf_0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33329832edf_0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3329832edf_0_2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33329832edf_0_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33329832edf_0_2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33329832edf_0_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33329832edf_0_2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33329832edf_0_2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33329832edf_0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33329832edf_0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3329832edf_0_2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33329832edf_0_2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3329832edf_0_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33329832edf_0_2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3329832edf_0_2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33329832edf_0_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3329832edf_0_2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33329832edf_0_2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3329832edf_0_3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33329832edf_0_3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3329832edf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33329832edf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33329832edf_0_3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33329832edf_0_3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33329832edf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33329832edf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33329832edf_0_3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33329832edf_0_3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33329832edf_0_3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33329832edf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33329832edf_0_3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33329832edf_0_3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33329832edf_0_3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33329832edf_0_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33329832edf_0_3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33329832edf_0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33329832edf_0_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 name="Google Shape;426;g33329832edf_0_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33329832edf_0_3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33329832edf_0_3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33329832edf_0_3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33329832edf_0_3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33329832edf_0_4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33329832edf_0_4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33329832edf_0_4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33329832edf_0_4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3329832edf_0_4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33329832edf_0_4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33329832edf_0_4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33329832edf_0_4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33329832edf_0_4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33329832edf_0_4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33329832edf_0_4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33329832edf_0_4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33329832edf_0_4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3329832edf_0_4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Clr>
                <a:schemeClr val="dk1"/>
              </a:buClr>
              <a:buSzPts val="1100"/>
              <a:buFont typeface="Arial"/>
              <a:buNone/>
            </a:pPr>
            <a:r>
              <a:rPr lang="en" sz="1800" b="1" dirty="0">
                <a:solidFill>
                  <a:schemeClr val="dk2"/>
                </a:solidFill>
              </a:rPr>
              <a:t>Object Oriented Programming</a:t>
            </a:r>
            <a:endParaRPr b="1" dirty="0"/>
          </a:p>
        </p:txBody>
      </p:sp>
      <p:sp>
        <p:nvSpPr>
          <p:cNvPr id="55" name="Google Shape;55;p1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The basic theme of the object oriented approach is to model the real –world problems.</a:t>
            </a:r>
            <a:endParaRPr/>
          </a:p>
          <a:p>
            <a:pPr marL="0" lvl="0" indent="0" algn="l" rtl="0">
              <a:spcBef>
                <a:spcPts val="1200"/>
              </a:spcBef>
              <a:spcAft>
                <a:spcPts val="0"/>
              </a:spcAft>
              <a:buNone/>
            </a:pPr>
            <a:r>
              <a:rPr lang="en"/>
              <a:t> So, object oriented programming language</a:t>
            </a:r>
            <a:r>
              <a:rPr lang="en">
                <a:solidFill>
                  <a:srgbClr val="FF0000"/>
                </a:solidFill>
              </a:rPr>
              <a:t> C++ introduces a new data type called class by which you can define your own data types as class.</a:t>
            </a:r>
            <a:endParaRPr>
              <a:solidFill>
                <a:srgbClr val="FF0000"/>
              </a:solidFill>
            </a:endParaRPr>
          </a:p>
          <a:p>
            <a:pPr marL="0" lvl="0" indent="0" algn="l" rtl="0">
              <a:spcBef>
                <a:spcPts val="1200"/>
              </a:spcBef>
              <a:spcAft>
                <a:spcPts val="1200"/>
              </a:spcAft>
              <a:buNone/>
            </a:pPr>
            <a:r>
              <a:rPr lang="en"/>
              <a:t> </a:t>
            </a:r>
            <a:r>
              <a:rPr lang="en">
                <a:solidFill>
                  <a:srgbClr val="FF0000"/>
                </a:solidFill>
              </a:rPr>
              <a:t>Defining the variables of a class data type is known as a class instantiation and such variables are called objects</a:t>
            </a:r>
            <a:endParaRPr>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Object</a:t>
            </a:r>
            <a:endParaRPr/>
          </a:p>
        </p:txBody>
      </p:sp>
      <p:sp>
        <p:nvSpPr>
          <p:cNvPr id="67" name="Google Shape;67;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An object is something that has fixed shape or well defined boundary. </a:t>
            </a:r>
            <a:endParaRPr/>
          </a:p>
          <a:p>
            <a:pPr marL="0" lvl="0" indent="0" algn="l" rtl="0">
              <a:spcBef>
                <a:spcPts val="1200"/>
              </a:spcBef>
              <a:spcAft>
                <a:spcPts val="0"/>
              </a:spcAft>
              <a:buNone/>
            </a:pPr>
            <a:r>
              <a:rPr lang="en"/>
              <a:t>In other words, an object can be a person, a place, or a thing with which the computer must deal. </a:t>
            </a:r>
            <a:endParaRPr/>
          </a:p>
          <a:p>
            <a:pPr marL="0" lvl="0" indent="0" algn="l" rtl="0">
              <a:spcBef>
                <a:spcPts val="1200"/>
              </a:spcBef>
              <a:spcAft>
                <a:spcPts val="1200"/>
              </a:spcAft>
              <a:buNone/>
            </a:pPr>
            <a:r>
              <a:rPr lang="en"/>
              <a:t>If you look at your surroundings some objects may correspond to real-world entities such as– student, bank account, book, cars, bags, computer, lock, watch etc</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73" name="Google Shape;7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None/>
            </a:pPr>
            <a:r>
              <a:rPr lang="en">
                <a:solidFill>
                  <a:srgbClr val="FF0000"/>
                </a:solidFill>
              </a:rPr>
              <a:t>Properties of Objects</a:t>
            </a:r>
            <a:endParaRPr>
              <a:solidFill>
                <a:srgbClr val="FF0000"/>
              </a:solidFill>
            </a:endParaRPr>
          </a:p>
          <a:p>
            <a:pPr marL="0" lvl="0" indent="0" algn="l" rtl="0">
              <a:spcBef>
                <a:spcPts val="1200"/>
              </a:spcBef>
              <a:spcAft>
                <a:spcPts val="0"/>
              </a:spcAft>
              <a:buNone/>
            </a:pPr>
            <a:r>
              <a:rPr lang="en"/>
              <a:t>(i) each objects has certain attributes.</a:t>
            </a:r>
            <a:endParaRPr/>
          </a:p>
          <a:p>
            <a:pPr marL="0" lvl="0" indent="0" algn="l" rtl="0">
              <a:spcBef>
                <a:spcPts val="1200"/>
              </a:spcBef>
              <a:spcAft>
                <a:spcPts val="0"/>
              </a:spcAft>
              <a:buNone/>
            </a:pPr>
            <a:r>
              <a:rPr lang="en"/>
              <a:t> (ii) each objects has some behaviours or actions or operations associated with it. </a:t>
            </a:r>
            <a:endParaRPr/>
          </a:p>
          <a:p>
            <a:pPr marL="0" lvl="0" indent="0" algn="l" rtl="0">
              <a:spcBef>
                <a:spcPts val="1200"/>
              </a:spcBef>
              <a:spcAft>
                <a:spcPts val="0"/>
              </a:spcAft>
              <a:buNone/>
            </a:pPr>
            <a:r>
              <a:rPr lang="en"/>
              <a:t>For example, the objects ‘computer’ &amp; ‘car’ have the following attributes and operations–  </a:t>
            </a:r>
            <a:endParaRPr/>
          </a:p>
          <a:p>
            <a:pPr marL="0" lvl="0" indent="0" algn="l" rtl="0">
              <a:spcBef>
                <a:spcPts val="1200"/>
              </a:spcBef>
              <a:spcAft>
                <a:spcPts val="0"/>
              </a:spcAft>
              <a:buNone/>
            </a:pPr>
            <a:r>
              <a:rPr lang="en"/>
              <a:t>Object : car </a:t>
            </a:r>
            <a:endParaRPr/>
          </a:p>
          <a:p>
            <a:pPr marL="0" lvl="0" indent="0" algn="l" rtl="0">
              <a:spcBef>
                <a:spcPts val="1200"/>
              </a:spcBef>
              <a:spcAft>
                <a:spcPts val="0"/>
              </a:spcAft>
              <a:buNone/>
            </a:pPr>
            <a:r>
              <a:rPr lang="en"/>
              <a:t>Attributes: company, model, colour, &amp; capacity </a:t>
            </a:r>
            <a:endParaRPr/>
          </a:p>
          <a:p>
            <a:pPr marL="0" lvl="0" indent="0" algn="l" rtl="0">
              <a:spcBef>
                <a:spcPts val="1200"/>
              </a:spcBef>
              <a:spcAft>
                <a:spcPts val="0"/>
              </a:spcAft>
              <a:buNone/>
            </a:pPr>
            <a:r>
              <a:rPr lang="en"/>
              <a:t>Operation: speed ( ), average ( ), &amp; break ( )  </a:t>
            </a:r>
            <a:endParaRPr/>
          </a:p>
          <a:p>
            <a:pPr marL="0" lvl="0" indent="0" algn="l" rtl="0">
              <a:spcBef>
                <a:spcPts val="1200"/>
              </a:spcBef>
              <a:spcAft>
                <a:spcPts val="0"/>
              </a:spcAft>
              <a:buNone/>
            </a:pPr>
            <a:r>
              <a:rPr lang="en"/>
              <a:t>Object: Computer Attributes: brand, price, monitor resolution, hard disk and RAM size </a:t>
            </a:r>
            <a:endParaRPr/>
          </a:p>
          <a:p>
            <a:pPr marL="0" lvl="0" indent="0" algn="l" rtl="0">
              <a:spcBef>
                <a:spcPts val="1200"/>
              </a:spcBef>
              <a:spcAft>
                <a:spcPts val="1200"/>
              </a:spcAft>
              <a:buNone/>
            </a:pPr>
            <a:r>
              <a:rPr lang="en"/>
              <a:t>Operation: Processing( ), display( ) &amp; printing (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79" name="Google Shape;79;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0"/>
              </a:spcAft>
              <a:buNone/>
            </a:pPr>
            <a:r>
              <a:rPr lang="en" dirty="0"/>
              <a:t>Each object will have its own identity though its attributes and operation are same, </a:t>
            </a:r>
            <a:r>
              <a:rPr lang="en" dirty="0">
                <a:solidFill>
                  <a:srgbClr val="FF0000"/>
                </a:solidFill>
              </a:rPr>
              <a:t>the objects will never become equal</a:t>
            </a:r>
            <a:r>
              <a:rPr lang="en" dirty="0"/>
              <a:t>. </a:t>
            </a:r>
            <a:endParaRPr dirty="0"/>
          </a:p>
          <a:p>
            <a:pPr marL="0" lvl="0" indent="0" algn="l" rtl="0">
              <a:spcBef>
                <a:spcPts val="1200"/>
              </a:spcBef>
              <a:spcAft>
                <a:spcPts val="0"/>
              </a:spcAft>
              <a:buNone/>
            </a:pPr>
            <a:r>
              <a:rPr lang="en" dirty="0"/>
              <a:t>In case of person object, for instance, two person have the same attributes like name, age and sex, but they are not equal. </a:t>
            </a:r>
            <a:endParaRPr dirty="0"/>
          </a:p>
          <a:p>
            <a:pPr marL="0" lvl="0" indent="0" algn="l" rtl="0">
              <a:spcBef>
                <a:spcPts val="1200"/>
              </a:spcBef>
              <a:spcAft>
                <a:spcPts val="0"/>
              </a:spcAft>
              <a:buNone/>
            </a:pPr>
            <a:r>
              <a:rPr lang="en" dirty="0">
                <a:solidFill>
                  <a:srgbClr val="FF0000"/>
                </a:solidFill>
              </a:rPr>
              <a:t>Objects are the basic run time entities in an object oriented system. </a:t>
            </a:r>
            <a:endParaRPr dirty="0">
              <a:solidFill>
                <a:srgbClr val="FF0000"/>
              </a:solidFill>
            </a:endParaRPr>
          </a:p>
          <a:p>
            <a:pPr marL="0" lvl="0" indent="0" algn="l" rtl="0">
              <a:spcBef>
                <a:spcPts val="1200"/>
              </a:spcBef>
              <a:spcAft>
                <a:spcPts val="0"/>
              </a:spcAft>
              <a:buNone/>
            </a:pPr>
            <a:r>
              <a:rPr lang="en" dirty="0"/>
              <a:t>Thus, in C++, </a:t>
            </a:r>
            <a:r>
              <a:rPr lang="en" dirty="0">
                <a:solidFill>
                  <a:srgbClr val="FF0000"/>
                </a:solidFill>
              </a:rPr>
              <a:t>an object is a collection of related variables and function bound together to form a high level entity. </a:t>
            </a:r>
            <a:endParaRPr dirty="0">
              <a:solidFill>
                <a:srgbClr val="FF0000"/>
              </a:solidFill>
            </a:endParaRPr>
          </a:p>
          <a:p>
            <a:pPr marL="0" lvl="0" indent="0" algn="l" rtl="0">
              <a:spcBef>
                <a:spcPts val="1200"/>
              </a:spcBef>
              <a:spcAft>
                <a:spcPts val="1200"/>
              </a:spcAft>
              <a:buNone/>
            </a:pPr>
            <a:r>
              <a:rPr lang="en" dirty="0"/>
              <a:t>Thus,  the variable defines – the state of the object </a:t>
            </a:r>
          </a:p>
          <a:p>
            <a:pPr marL="0" lvl="0" indent="0" algn="l" rtl="0">
              <a:spcBef>
                <a:spcPts val="1200"/>
              </a:spcBef>
              <a:spcAft>
                <a:spcPts val="1200"/>
              </a:spcAft>
              <a:buNone/>
            </a:pPr>
            <a:r>
              <a:rPr lang="en" dirty="0"/>
              <a:t>the function defines – the action or operation that can be performed on the object</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IN" dirty="0"/>
              <a:t>Class</a:t>
            </a:r>
            <a:endParaRPr dirty="0"/>
          </a:p>
        </p:txBody>
      </p:sp>
      <p:sp>
        <p:nvSpPr>
          <p:cNvPr id="85" name="Google Shape;85;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solidFill>
                  <a:srgbClr val="FF0000"/>
                </a:solidFill>
              </a:rPr>
              <a:t>A class is a grouping of objects having identical attributes and common behaviour (operations).</a:t>
            </a:r>
            <a:endParaRPr dirty="0">
              <a:solidFill>
                <a:srgbClr val="FF0000"/>
              </a:solidFill>
            </a:endParaRPr>
          </a:p>
          <a:p>
            <a:pPr marL="0" lvl="0" indent="0" algn="l" rtl="0">
              <a:spcBef>
                <a:spcPts val="1200"/>
              </a:spcBef>
              <a:spcAft>
                <a:spcPts val="0"/>
              </a:spcAft>
              <a:buNone/>
            </a:pPr>
            <a:r>
              <a:rPr lang="en" dirty="0"/>
              <a:t> It means all objects possessing similar attributes or properties are grouped into the same unit which is called a class.</a:t>
            </a:r>
            <a:endParaRPr dirty="0"/>
          </a:p>
          <a:p>
            <a:pPr marL="0" lvl="0" indent="0" algn="l" rtl="0">
              <a:spcBef>
                <a:spcPts val="1200"/>
              </a:spcBef>
              <a:spcAft>
                <a:spcPts val="0"/>
              </a:spcAft>
              <a:buNone/>
            </a:pPr>
            <a:r>
              <a:rPr lang="en"/>
              <a:t> A class encloses both the data and function into a single unit as shown in the following Figure 8.1</a:t>
            </a:r>
            <a:endParaRPr dirty="0"/>
          </a:p>
          <a:p>
            <a:pPr marL="0" lvl="0" indent="0" algn="l" rtl="0">
              <a:spcBef>
                <a:spcPts val="1200"/>
              </a:spcBef>
              <a:spcAft>
                <a:spcPts val="1200"/>
              </a:spcAft>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91" name="Google Shape;91;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92" name="Google Shape;92;p19"/>
          <p:cNvPicPr preferRelativeResize="0"/>
          <p:nvPr/>
        </p:nvPicPr>
        <p:blipFill>
          <a:blip r:embed="rId3">
            <a:alphaModFix/>
          </a:blip>
          <a:stretch>
            <a:fillRect/>
          </a:stretch>
        </p:blipFill>
        <p:spPr>
          <a:xfrm>
            <a:off x="2300300" y="1363625"/>
            <a:ext cx="4543425" cy="3336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98" name="Google Shape;98;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en"/>
              <a:t>Thus, the entire group of data and code of an object can be built as a user-defined data type using class. </a:t>
            </a:r>
            <a:endParaRPr/>
          </a:p>
          <a:p>
            <a:pPr marL="0" lvl="0" indent="0" algn="l" rtl="0">
              <a:spcBef>
                <a:spcPts val="1200"/>
              </a:spcBef>
              <a:spcAft>
                <a:spcPts val="0"/>
              </a:spcAft>
              <a:buNone/>
            </a:pPr>
            <a:r>
              <a:rPr lang="en"/>
              <a:t>It is obvious that classes are the basic language construct in C++ for creating the user defined data types. </a:t>
            </a:r>
            <a:endParaRPr/>
          </a:p>
          <a:p>
            <a:pPr marL="0" lvl="0" indent="0" algn="l" rtl="0">
              <a:spcBef>
                <a:spcPts val="1200"/>
              </a:spcBef>
              <a:spcAft>
                <a:spcPts val="0"/>
              </a:spcAft>
              <a:buNone/>
            </a:pPr>
            <a:r>
              <a:rPr lang="en">
                <a:solidFill>
                  <a:srgbClr val="FF0000"/>
                </a:solidFill>
              </a:rPr>
              <a:t>Once a class has been declared, the programmer can create a number of objects associated with that class. </a:t>
            </a:r>
            <a:endParaRPr>
              <a:solidFill>
                <a:srgbClr val="FF0000"/>
              </a:solidFill>
            </a:endParaRPr>
          </a:p>
          <a:p>
            <a:pPr marL="0" lvl="0" indent="0" algn="l" rtl="0">
              <a:spcBef>
                <a:spcPts val="1200"/>
              </a:spcBef>
              <a:spcAft>
                <a:spcPts val="0"/>
              </a:spcAft>
              <a:buNone/>
            </a:pPr>
            <a:r>
              <a:rPr lang="en">
                <a:solidFill>
                  <a:srgbClr val="FF0000"/>
                </a:solidFill>
              </a:rPr>
              <a:t>Objects are nothing but the variable of the class data type. </a:t>
            </a:r>
            <a:endParaRPr>
              <a:solidFill>
                <a:srgbClr val="FF0000"/>
              </a:solidFill>
            </a:endParaRPr>
          </a:p>
          <a:p>
            <a:pPr marL="0" lvl="0" indent="0" algn="l" rtl="0">
              <a:spcBef>
                <a:spcPts val="1200"/>
              </a:spcBef>
              <a:spcAft>
                <a:spcPts val="0"/>
              </a:spcAft>
              <a:buNone/>
            </a:pPr>
            <a:r>
              <a:rPr lang="en">
                <a:solidFill>
                  <a:srgbClr val="FF0000"/>
                </a:solidFill>
              </a:rPr>
              <a:t>Defining variables of a class data type is known as a class instantiation.</a:t>
            </a:r>
            <a:endParaRPr>
              <a:solidFill>
                <a:srgbClr val="FF0000"/>
              </a:solidFill>
            </a:endParaRPr>
          </a:p>
          <a:p>
            <a:pPr marL="0" lvl="0" indent="0" algn="l" rtl="0">
              <a:spcBef>
                <a:spcPts val="1200"/>
              </a:spcBef>
              <a:spcAft>
                <a:spcPts val="1200"/>
              </a:spcAft>
              <a:buNone/>
            </a:pPr>
            <a:r>
              <a:rPr lang="en"/>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04" name="Google Shape;104;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We have come to know that classes contain not only data but also functions. </a:t>
            </a:r>
            <a:endParaRPr/>
          </a:p>
          <a:p>
            <a:pPr marL="0" lvl="0" indent="0" algn="l" rtl="0">
              <a:spcBef>
                <a:spcPts val="1200"/>
              </a:spcBef>
              <a:spcAft>
                <a:spcPts val="0"/>
              </a:spcAft>
              <a:buNone/>
            </a:pPr>
            <a:r>
              <a:rPr lang="en">
                <a:solidFill>
                  <a:srgbClr val="FF0000"/>
                </a:solidFill>
              </a:rPr>
              <a:t>Data and functions within a class are called members of a class.</a:t>
            </a:r>
            <a:r>
              <a:rPr lang="en"/>
              <a:t> </a:t>
            </a:r>
            <a:endParaRPr/>
          </a:p>
          <a:p>
            <a:pPr marL="0" lvl="0" indent="0" algn="l" rtl="0">
              <a:spcBef>
                <a:spcPts val="1200"/>
              </a:spcBef>
              <a:spcAft>
                <a:spcPts val="0"/>
              </a:spcAft>
              <a:buNone/>
            </a:pPr>
            <a:r>
              <a:rPr lang="en">
                <a:solidFill>
                  <a:srgbClr val="FF0000"/>
                </a:solidFill>
              </a:rPr>
              <a:t>The data inside a class is called a data member and the functions are called member function.</a:t>
            </a:r>
            <a:r>
              <a:rPr lang="en"/>
              <a:t> </a:t>
            </a:r>
            <a:endParaRPr/>
          </a:p>
          <a:p>
            <a:pPr marL="0" lvl="0" indent="0" algn="l" rtl="0">
              <a:spcBef>
                <a:spcPts val="1200"/>
              </a:spcBef>
              <a:spcAft>
                <a:spcPts val="0"/>
              </a:spcAft>
              <a:buNone/>
            </a:pPr>
            <a:r>
              <a:rPr lang="en"/>
              <a:t>The member functions define the set of operations that can be performed on the data member of a class. The syntax of a class declaration is shown below—</a:t>
            </a:r>
            <a:endParaRPr/>
          </a:p>
          <a:p>
            <a:pPr marL="0" lvl="0" indent="0" algn="l" rtl="0">
              <a:spcBef>
                <a:spcPts val="1200"/>
              </a:spcBef>
              <a:spcAft>
                <a:spcPts val="120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10" name="Google Shape;110;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11" name="Google Shape;111;p22"/>
          <p:cNvPicPr preferRelativeResize="0"/>
          <p:nvPr/>
        </p:nvPicPr>
        <p:blipFill>
          <a:blip r:embed="rId3">
            <a:alphaModFix/>
          </a:blip>
          <a:stretch>
            <a:fillRect/>
          </a:stretch>
        </p:blipFill>
        <p:spPr>
          <a:xfrm>
            <a:off x="2019300" y="1428875"/>
            <a:ext cx="5105400" cy="27621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17" name="Google Shape;117;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The keyword ‘class’ indicates the name which follows class name, is an abstract data type. </a:t>
            </a:r>
            <a:endParaRPr/>
          </a:p>
          <a:p>
            <a:pPr marL="0" lvl="0" indent="0" algn="l" rtl="0">
              <a:spcBef>
                <a:spcPts val="1200"/>
              </a:spcBef>
              <a:spcAft>
                <a:spcPts val="0"/>
              </a:spcAft>
              <a:buNone/>
            </a:pPr>
            <a:r>
              <a:rPr lang="en">
                <a:solidFill>
                  <a:srgbClr val="FF0000"/>
                </a:solidFill>
              </a:rPr>
              <a:t>The declaration of a class is enclosed with curly braces and terminated by a semi-colon. </a:t>
            </a:r>
            <a:endParaRPr>
              <a:solidFill>
                <a:srgbClr val="FF0000"/>
              </a:solidFill>
            </a:endParaRPr>
          </a:p>
          <a:p>
            <a:pPr marL="0" lvl="0" indent="0" algn="l" rtl="0">
              <a:spcBef>
                <a:spcPts val="1200"/>
              </a:spcBef>
              <a:spcAft>
                <a:spcPts val="0"/>
              </a:spcAft>
              <a:buNone/>
            </a:pPr>
            <a:r>
              <a:rPr lang="en">
                <a:solidFill>
                  <a:srgbClr val="FF0000"/>
                </a:solidFill>
              </a:rPr>
              <a:t>The body of a class contains declaration of data members and member functions. </a:t>
            </a:r>
            <a:endParaRPr>
              <a:solidFill>
                <a:srgbClr val="FF0000"/>
              </a:solidFill>
            </a:endParaRPr>
          </a:p>
          <a:p>
            <a:pPr marL="0" lvl="0" indent="0" algn="l" rtl="0">
              <a:spcBef>
                <a:spcPts val="1200"/>
              </a:spcBef>
              <a:spcAft>
                <a:spcPts val="1200"/>
              </a:spcAft>
              <a:buNone/>
            </a:pPr>
            <a:r>
              <a:rPr lang="en">
                <a:solidFill>
                  <a:srgbClr val="FF0000"/>
                </a:solidFill>
              </a:rPr>
              <a:t>The members of a class are usually grouped in two sections i.e. private and public, which define the visibility of members. </a:t>
            </a:r>
            <a:endParaRPr>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23" name="Google Shape;123;p24"/>
          <p:cNvSpPr txBox="1">
            <a:spLocks noGrp="1"/>
          </p:cNvSpPr>
          <p:nvPr>
            <p:ph type="body" idx="1"/>
          </p:nvPr>
        </p:nvSpPr>
        <p:spPr>
          <a:xfrm>
            <a:off x="311700" y="1206850"/>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A class name should be meaningful, reflecting the information it holds. </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29" name="Google Shape;129;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rgbClr val="FF0000"/>
                </a:solidFill>
              </a:rPr>
              <a:t>In general, the data members are declared as private and member functions are declared as public.</a:t>
            </a:r>
            <a:endParaRPr>
              <a:solidFill>
                <a:srgbClr val="FF0000"/>
              </a:solidFill>
            </a:endParaRPr>
          </a:p>
          <a:p>
            <a:pPr marL="0" lvl="0" indent="0" algn="l" rtl="0">
              <a:spcBef>
                <a:spcPts val="1200"/>
              </a:spcBef>
              <a:spcAft>
                <a:spcPts val="1200"/>
              </a:spcAft>
              <a:buNone/>
            </a:pPr>
            <a:r>
              <a:rPr lang="en">
                <a:solidFill>
                  <a:srgbClr val="FF0000"/>
                </a:solidFill>
              </a:rPr>
              <a:t> In our example, though, we have not specifed the data members as private; yet they are treated as private by default. </a:t>
            </a:r>
            <a:endParaRPr>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 Access Control in a Class </a:t>
            </a:r>
            <a:endParaRPr/>
          </a:p>
        </p:txBody>
      </p:sp>
      <p:sp>
        <p:nvSpPr>
          <p:cNvPr id="135" name="Google Shape;135;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dirty="0"/>
              <a:t>The members of a class are generally grouped into three sections by using the following keyword–  private  public  protected</a:t>
            </a:r>
            <a:endParaRPr dirty="0"/>
          </a:p>
          <a:p>
            <a:pPr marL="0" lvl="0" indent="0" algn="l" rtl="0">
              <a:spcBef>
                <a:spcPts val="1200"/>
              </a:spcBef>
              <a:spcAft>
                <a:spcPts val="0"/>
              </a:spcAft>
              <a:buNone/>
            </a:pPr>
            <a:r>
              <a:rPr lang="en" dirty="0"/>
              <a:t>These keywords are called access control specifiers.</a:t>
            </a:r>
            <a:endParaRPr dirty="0"/>
          </a:p>
          <a:p>
            <a:pPr marL="0" lvl="0" indent="0" algn="l" rtl="0">
              <a:spcBef>
                <a:spcPts val="1200"/>
              </a:spcBef>
              <a:spcAft>
                <a:spcPts val="0"/>
              </a:spcAft>
              <a:buNone/>
            </a:pPr>
            <a:r>
              <a:rPr lang="en" dirty="0"/>
              <a:t>These control specifiers are written inside the class and terminated by this ‘:’ symbol.</a:t>
            </a:r>
            <a:endParaRPr dirty="0"/>
          </a:p>
          <a:p>
            <a:pPr marL="0" lvl="0" indent="0" algn="l" rtl="0">
              <a:spcBef>
                <a:spcPts val="1200"/>
              </a:spcBef>
              <a:spcAft>
                <a:spcPts val="0"/>
              </a:spcAft>
              <a:buNone/>
            </a:pPr>
            <a:r>
              <a:rPr lang="en" dirty="0"/>
              <a:t>All the members that follow a keyword (upto another keyword) belong to that type.</a:t>
            </a:r>
            <a:endParaRPr dirty="0"/>
          </a:p>
          <a:p>
            <a:pPr marL="0" lvl="0" indent="0" algn="l" rtl="0">
              <a:spcBef>
                <a:spcPts val="1200"/>
              </a:spcBef>
              <a:spcAft>
                <a:spcPts val="0"/>
              </a:spcAft>
              <a:buNone/>
            </a:pPr>
            <a:r>
              <a:rPr lang="en" dirty="0"/>
              <a:t> </a:t>
            </a:r>
            <a:r>
              <a:rPr lang="en" dirty="0">
                <a:solidFill>
                  <a:srgbClr val="FF0000"/>
                </a:solidFill>
              </a:rPr>
              <a:t>If no keyword is specified, then the members are assumed as private member.</a:t>
            </a:r>
            <a:endParaRPr dirty="0">
              <a:solidFill>
                <a:srgbClr val="FF0000"/>
              </a:solidFill>
            </a:endParaRPr>
          </a:p>
          <a:p>
            <a:pPr marL="0" lvl="0" indent="0" algn="l" rtl="0">
              <a:spcBef>
                <a:spcPts val="1200"/>
              </a:spcBef>
              <a:spcAft>
                <a:spcPts val="1200"/>
              </a:spcAft>
              <a:buNone/>
            </a:pPr>
            <a:r>
              <a:rPr lang="en" dirty="0">
                <a:solidFill>
                  <a:srgbClr val="FF0000"/>
                </a:solidFill>
              </a:rPr>
              <a:t> </a:t>
            </a:r>
            <a:endParaRPr dirty="0">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41" name="Google Shape;141;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t>Private</a:t>
            </a:r>
            <a:r>
              <a:rPr lang="en"/>
              <a:t>: </a:t>
            </a:r>
            <a:r>
              <a:rPr lang="en">
                <a:solidFill>
                  <a:srgbClr val="FF0000"/>
                </a:solidFill>
              </a:rPr>
              <a:t>Private members are accessible to their own class members only. </a:t>
            </a:r>
            <a:endParaRPr>
              <a:solidFill>
                <a:srgbClr val="FF0000"/>
              </a:solidFill>
            </a:endParaRPr>
          </a:p>
          <a:p>
            <a:pPr marL="0" lvl="0" indent="0" algn="l" rtl="0">
              <a:spcBef>
                <a:spcPts val="1200"/>
              </a:spcBef>
              <a:spcAft>
                <a:spcPts val="0"/>
              </a:spcAft>
              <a:buNone/>
            </a:pPr>
            <a:r>
              <a:rPr lang="en">
                <a:solidFill>
                  <a:srgbClr val="FF0000"/>
                </a:solidFill>
              </a:rPr>
              <a:t>They cannot be accessed from outside the class by any member functions. </a:t>
            </a:r>
            <a:endParaRPr>
              <a:solidFill>
                <a:srgbClr val="FF0000"/>
              </a:solidFill>
            </a:endParaRPr>
          </a:p>
          <a:p>
            <a:pPr marL="0" lvl="0" indent="0" algn="l" rtl="0">
              <a:spcBef>
                <a:spcPts val="1200"/>
              </a:spcBef>
              <a:spcAft>
                <a:spcPts val="0"/>
              </a:spcAft>
              <a:buNone/>
            </a:pPr>
            <a:r>
              <a:rPr lang="en">
                <a:solidFill>
                  <a:srgbClr val="FF0000"/>
                </a:solidFill>
              </a:rPr>
              <a:t>The members at the beginning of class without any access specifier are private by default. </a:t>
            </a:r>
            <a:endParaRPr>
              <a:solidFill>
                <a:srgbClr val="FF0000"/>
              </a:solidFill>
            </a:endParaRPr>
          </a:p>
          <a:p>
            <a:pPr marL="0" lvl="0" indent="0" algn="l" rtl="0">
              <a:spcBef>
                <a:spcPts val="1200"/>
              </a:spcBef>
              <a:spcAft>
                <a:spcPts val="0"/>
              </a:spcAft>
              <a:buNone/>
            </a:pPr>
            <a:r>
              <a:rPr lang="en">
                <a:solidFill>
                  <a:srgbClr val="FF0000"/>
                </a:solidFill>
              </a:rPr>
              <a:t>Hence, writing the keyword ‘private’ at the beginning of a class is optional. </a:t>
            </a:r>
            <a:endParaRPr>
              <a:solidFill>
                <a:srgbClr val="FF0000"/>
              </a:solidFill>
            </a:endParaRPr>
          </a:p>
          <a:p>
            <a:pPr marL="0" lvl="0" indent="0" algn="l" rtl="0">
              <a:spcBef>
                <a:spcPts val="1200"/>
              </a:spcBef>
              <a:spcAft>
                <a:spcPts val="120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47" name="Google Shape;147;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Public: </a:t>
            </a:r>
            <a:r>
              <a:rPr lang="en">
                <a:solidFill>
                  <a:srgbClr val="FF0000"/>
                </a:solidFill>
              </a:rPr>
              <a:t>Public members are visible (accessible) outside the class, they should be declared in public section.</a:t>
            </a:r>
            <a:endParaRPr>
              <a:solidFill>
                <a:srgbClr val="FF0000"/>
              </a:solidFill>
            </a:endParaRPr>
          </a:p>
          <a:p>
            <a:pPr marL="0" lvl="0" indent="0" algn="l" rtl="0">
              <a:spcBef>
                <a:spcPts val="1200"/>
              </a:spcBef>
              <a:spcAft>
                <a:spcPts val="0"/>
              </a:spcAft>
              <a:buClr>
                <a:schemeClr val="dk1"/>
              </a:buClr>
              <a:buSzPts val="1100"/>
              <a:buFont typeface="Arial"/>
              <a:buNone/>
            </a:pPr>
            <a:r>
              <a:rPr lang="en"/>
              <a:t>All data members are not only accessible to their own members of a class but also can be accessible from anywhere in the program, either by functions that belong to the class or by those external to the class.</a:t>
            </a:r>
            <a:endParaRPr/>
          </a:p>
          <a:p>
            <a:pPr marL="0" lvl="0" indent="0" algn="l" rtl="0">
              <a:spcBef>
                <a:spcPts val="1200"/>
              </a:spcBef>
              <a:spcAft>
                <a:spcPts val="120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DECLARING OBJECTS</a:t>
            </a:r>
            <a:endParaRPr/>
          </a:p>
        </p:txBody>
      </p:sp>
      <p:sp>
        <p:nvSpPr>
          <p:cNvPr id="153" name="Google Shape;153;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a:t>A class declaration only builds the structure of objects. </a:t>
            </a:r>
            <a:endParaRPr/>
          </a:p>
          <a:p>
            <a:pPr marL="0" lvl="0" indent="0" algn="l" rtl="0">
              <a:spcBef>
                <a:spcPts val="1200"/>
              </a:spcBef>
              <a:spcAft>
                <a:spcPts val="0"/>
              </a:spcAft>
              <a:buNone/>
            </a:pPr>
            <a:r>
              <a:rPr lang="en"/>
              <a:t>In our example, the class employee does not define any objects of employee but only specifies what it will contain. </a:t>
            </a:r>
            <a:endParaRPr/>
          </a:p>
          <a:p>
            <a:pPr marL="0" lvl="0" indent="0" algn="l" rtl="0">
              <a:spcBef>
                <a:spcPts val="1200"/>
              </a:spcBef>
              <a:spcAft>
                <a:spcPts val="0"/>
              </a:spcAft>
              <a:buNone/>
            </a:pPr>
            <a:r>
              <a:rPr lang="en"/>
              <a:t>Once a class has been declared, we can create variable of that type by using the class name (like any other built-in type variable). </a:t>
            </a:r>
            <a:endParaRPr/>
          </a:p>
          <a:p>
            <a:pPr marL="0" lvl="0" indent="0" algn="l" rtl="0">
              <a:spcBef>
                <a:spcPts val="1200"/>
              </a:spcBef>
              <a:spcAft>
                <a:spcPts val="0"/>
              </a:spcAft>
              <a:buNone/>
            </a:pPr>
            <a:r>
              <a:rPr lang="en">
                <a:solidFill>
                  <a:srgbClr val="FF0000"/>
                </a:solidFill>
              </a:rPr>
              <a:t>The process of creating objects (variables) of the class is called class instantiation.</a:t>
            </a:r>
            <a:endParaRPr>
              <a:solidFill>
                <a:srgbClr val="FF0000"/>
              </a:solidFill>
            </a:endParaRPr>
          </a:p>
          <a:p>
            <a:pPr marL="0" lvl="0" indent="0" algn="l" rtl="0">
              <a:spcBef>
                <a:spcPts val="1200"/>
              </a:spcBef>
              <a:spcAft>
                <a:spcPts val="1200"/>
              </a:spcAft>
              <a:buNone/>
            </a:pPr>
            <a:r>
              <a:rPr lang="en"/>
              <a:t> For example– int x, y, z; // declaration of integer variables float m, n; // declaration of float variables employee a; // declaration of object or class variable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59" name="Google Shape;159;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60" name="Google Shape;160;p30"/>
          <p:cNvPicPr preferRelativeResize="0"/>
          <p:nvPr/>
        </p:nvPicPr>
        <p:blipFill>
          <a:blip r:embed="rId3">
            <a:alphaModFix/>
          </a:blip>
          <a:stretch>
            <a:fillRect/>
          </a:stretch>
        </p:blipFill>
        <p:spPr>
          <a:xfrm>
            <a:off x="1333500" y="1681163"/>
            <a:ext cx="6477000" cy="17811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66" name="Google Shape;166;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For example, class employee e1, or employee e1; In a single statement we can create more than one object as shown below. employee e1, e2, e3, e4;</a:t>
            </a:r>
            <a:endParaRPr/>
          </a:p>
          <a:p>
            <a:pPr marL="0" lvl="0" indent="0" algn="l" rtl="0">
              <a:spcBef>
                <a:spcPts val="1200"/>
              </a:spcBef>
              <a:spcAft>
                <a:spcPts val="0"/>
              </a:spcAft>
              <a:buNone/>
            </a:pPr>
            <a:r>
              <a:rPr lang="en"/>
              <a:t>Always remember that, </a:t>
            </a:r>
            <a:r>
              <a:rPr lang="en">
                <a:solidFill>
                  <a:srgbClr val="FF0000"/>
                </a:solidFill>
              </a:rPr>
              <a:t>at the time of declaration of object, necessary memory space is allocated for an object. </a:t>
            </a:r>
            <a:endParaRPr>
              <a:solidFill>
                <a:srgbClr val="FF0000"/>
              </a:solidFill>
            </a:endParaRPr>
          </a:p>
          <a:p>
            <a:pPr marL="0" lvl="0" indent="0" algn="l" rtl="0">
              <a:spcBef>
                <a:spcPts val="1200"/>
              </a:spcBef>
              <a:spcAft>
                <a:spcPts val="0"/>
              </a:spcAft>
              <a:buNone/>
            </a:pPr>
            <a:r>
              <a:rPr lang="en"/>
              <a:t>Suppose, we have declared two objects as – employee e1, e2; Both e1 and e2 have the same data members and it is illustrated by the following figure</a:t>
            </a:r>
            <a:endParaRPr/>
          </a:p>
          <a:p>
            <a:pPr marL="0" lvl="0" indent="0" algn="l" rtl="0">
              <a:spcBef>
                <a:spcPts val="1200"/>
              </a:spcBef>
              <a:spcAft>
                <a:spcPts val="1200"/>
              </a:spcAft>
              <a:buNone/>
            </a:pPr>
            <a:endParaRPr/>
          </a:p>
        </p:txBody>
      </p:sp>
      <p:pic>
        <p:nvPicPr>
          <p:cNvPr id="167" name="Google Shape;167;p31"/>
          <p:cNvPicPr preferRelativeResize="0"/>
          <p:nvPr/>
        </p:nvPicPr>
        <p:blipFill>
          <a:blip r:embed="rId3">
            <a:alphaModFix/>
          </a:blip>
          <a:stretch>
            <a:fillRect/>
          </a:stretch>
        </p:blipFill>
        <p:spPr>
          <a:xfrm>
            <a:off x="1857375" y="3571100"/>
            <a:ext cx="5429250" cy="12614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73" name="Google Shape;173;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0"/>
              </a:spcAft>
              <a:buNone/>
            </a:pPr>
            <a:r>
              <a:rPr lang="en" dirty="0"/>
              <a:t>Here, in the figure the objects e1 and e2 occupy the memory area. </a:t>
            </a:r>
            <a:endParaRPr dirty="0"/>
          </a:p>
          <a:p>
            <a:pPr marL="0" lvl="0" indent="0" algn="l" rtl="0">
              <a:spcBef>
                <a:spcPts val="1200"/>
              </a:spcBef>
              <a:spcAft>
                <a:spcPts val="0"/>
              </a:spcAft>
              <a:buNone/>
            </a:pPr>
            <a:r>
              <a:rPr lang="en" dirty="0"/>
              <a:t>They are not initialized to anything; however the data members of each object will simply contain junk values.</a:t>
            </a:r>
            <a:endParaRPr dirty="0"/>
          </a:p>
          <a:p>
            <a:pPr marL="0" lvl="0" indent="0" algn="l" rtl="0">
              <a:spcBef>
                <a:spcPts val="1200"/>
              </a:spcBef>
              <a:spcAft>
                <a:spcPts val="0"/>
              </a:spcAft>
              <a:buNone/>
            </a:pPr>
            <a:r>
              <a:rPr lang="en" dirty="0"/>
              <a:t>So, our main task is to access the data members of the object and setting them to some specific values.</a:t>
            </a:r>
            <a:endParaRPr dirty="0"/>
          </a:p>
          <a:p>
            <a:pPr marL="0" lvl="0" indent="0" algn="l" rtl="0">
              <a:spcBef>
                <a:spcPts val="1200"/>
              </a:spcBef>
              <a:spcAft>
                <a:spcPts val="0"/>
              </a:spcAft>
              <a:buNone/>
            </a:pPr>
            <a:r>
              <a:rPr lang="en" dirty="0"/>
              <a:t> </a:t>
            </a:r>
            <a:r>
              <a:rPr lang="en" dirty="0">
                <a:solidFill>
                  <a:srgbClr val="FF0000"/>
                </a:solidFill>
              </a:rPr>
              <a:t>An object is a conceptual entity having the following properties:</a:t>
            </a:r>
            <a:endParaRPr dirty="0">
              <a:solidFill>
                <a:srgbClr val="FF0000"/>
              </a:solidFill>
            </a:endParaRPr>
          </a:p>
          <a:p>
            <a:pPr marL="0" lvl="0" indent="0" algn="l" rtl="0">
              <a:spcBef>
                <a:spcPts val="1200"/>
              </a:spcBef>
              <a:spcAft>
                <a:spcPts val="0"/>
              </a:spcAft>
              <a:buNone/>
            </a:pPr>
            <a:r>
              <a:rPr lang="en" dirty="0">
                <a:solidFill>
                  <a:srgbClr val="FF0000"/>
                </a:solidFill>
              </a:rPr>
              <a:t> - it is individual - it points to a thing, either physical or logical that is identifiable by the user.</a:t>
            </a:r>
            <a:endParaRPr dirty="0">
              <a:solidFill>
                <a:srgbClr val="FF0000"/>
              </a:solidFill>
            </a:endParaRPr>
          </a:p>
          <a:p>
            <a:pPr marL="0" lvl="0" indent="0" algn="l" rtl="0">
              <a:spcBef>
                <a:spcPts val="1200"/>
              </a:spcBef>
              <a:spcAft>
                <a:spcPts val="0"/>
              </a:spcAft>
              <a:buNone/>
            </a:pPr>
            <a:r>
              <a:rPr lang="en" dirty="0">
                <a:solidFill>
                  <a:srgbClr val="FF0000"/>
                </a:solidFill>
              </a:rPr>
              <a:t> - it holds data as well as operation method that handles data. </a:t>
            </a:r>
            <a:endParaRPr dirty="0">
              <a:solidFill>
                <a:srgbClr val="FF0000"/>
              </a:solidFill>
            </a:endParaRPr>
          </a:p>
          <a:p>
            <a:pPr marL="0" lvl="0" indent="0" algn="l" rtl="0">
              <a:spcBef>
                <a:spcPts val="1200"/>
              </a:spcBef>
              <a:spcAft>
                <a:spcPts val="1200"/>
              </a:spcAft>
              <a:buNone/>
            </a:pPr>
            <a:r>
              <a:rPr lang="en" dirty="0">
                <a:solidFill>
                  <a:srgbClr val="FF0000"/>
                </a:solidFill>
              </a:rPr>
              <a:t>- its scope is limited to the block in which it is defined. </a:t>
            </a:r>
            <a:endParaRPr dirty="0">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8.5.1 Accessing Class Members </a:t>
            </a:r>
            <a:endParaRPr/>
          </a:p>
        </p:txBody>
      </p:sp>
      <p:sp>
        <p:nvSpPr>
          <p:cNvPr id="179" name="Google Shape;179;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After creating an object of a class, it is the time to access its members. This is the achieved by using the member access operator, dot ( . ). The syntax for accessing members (data and functions) of a class is shown below–</a:t>
            </a:r>
            <a:endParaRPr/>
          </a:p>
          <a:p>
            <a:pPr marL="0" lvl="0" indent="0" algn="l" rtl="0">
              <a:spcBef>
                <a:spcPts val="1200"/>
              </a:spcBef>
              <a:spcAft>
                <a:spcPts val="1200"/>
              </a:spcAft>
              <a:buNone/>
            </a:pPr>
            <a:endParaRPr/>
          </a:p>
        </p:txBody>
      </p:sp>
      <p:pic>
        <p:nvPicPr>
          <p:cNvPr id="180" name="Google Shape;180;p33"/>
          <p:cNvPicPr preferRelativeResize="0"/>
          <p:nvPr/>
        </p:nvPicPr>
        <p:blipFill>
          <a:blip r:embed="rId3">
            <a:alphaModFix/>
          </a:blip>
          <a:stretch>
            <a:fillRect/>
          </a:stretch>
        </p:blipFill>
        <p:spPr>
          <a:xfrm>
            <a:off x="1609725" y="2244420"/>
            <a:ext cx="5924550" cy="26847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DEFINING MEMBER FUNCTIONS</a:t>
            </a:r>
            <a:endParaRPr/>
          </a:p>
        </p:txBody>
      </p:sp>
      <p:sp>
        <p:nvSpPr>
          <p:cNvPr id="204" name="Google Shape;204;p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en" dirty="0"/>
              <a:t>We have already come to know that a </a:t>
            </a:r>
            <a:r>
              <a:rPr lang="en" dirty="0">
                <a:solidFill>
                  <a:srgbClr val="FF0000"/>
                </a:solidFill>
              </a:rPr>
              <a:t>class holds both the data and functions which are called data members and member functions</a:t>
            </a:r>
            <a:r>
              <a:rPr lang="en" dirty="0"/>
              <a:t>. </a:t>
            </a:r>
            <a:endParaRPr dirty="0"/>
          </a:p>
          <a:p>
            <a:pPr marL="0" lvl="0" indent="0" algn="l" rtl="0">
              <a:spcBef>
                <a:spcPts val="1200"/>
              </a:spcBef>
              <a:spcAft>
                <a:spcPts val="0"/>
              </a:spcAft>
              <a:buNone/>
            </a:pPr>
            <a:r>
              <a:rPr lang="en" dirty="0">
                <a:solidFill>
                  <a:srgbClr val="FF0000"/>
                </a:solidFill>
              </a:rPr>
              <a:t>The data member of a class must be declared within the body of the class. </a:t>
            </a:r>
            <a:endParaRPr dirty="0">
              <a:solidFill>
                <a:srgbClr val="FF0000"/>
              </a:solidFill>
            </a:endParaRPr>
          </a:p>
          <a:p>
            <a:pPr marL="0" lvl="0" indent="0" algn="l" rtl="0">
              <a:spcBef>
                <a:spcPts val="1200"/>
              </a:spcBef>
              <a:spcAft>
                <a:spcPts val="0"/>
              </a:spcAft>
              <a:buNone/>
            </a:pPr>
            <a:r>
              <a:rPr lang="en" dirty="0">
                <a:solidFill>
                  <a:srgbClr val="FF0000"/>
                </a:solidFill>
              </a:rPr>
              <a:t>The member functions of a class can be defined in two places  inside the class definition  outside the class definition.</a:t>
            </a:r>
          </a:p>
          <a:p>
            <a:pPr marL="0" lvl="0" indent="0" algn="l" rtl="0">
              <a:spcBef>
                <a:spcPts val="1200"/>
              </a:spcBef>
              <a:spcAft>
                <a:spcPts val="0"/>
              </a:spcAft>
              <a:buNone/>
            </a:pPr>
            <a:r>
              <a:rPr lang="en" dirty="0">
                <a:solidFill>
                  <a:srgbClr val="FF0000"/>
                </a:solidFill>
              </a:rPr>
              <a:t> It is obvious that a function should perform the same task, no matter where it is defined.</a:t>
            </a:r>
            <a:r>
              <a:rPr lang="en" dirty="0"/>
              <a:t> </a:t>
            </a:r>
            <a:endParaRPr dirty="0"/>
          </a:p>
          <a:p>
            <a:pPr marL="0" lvl="0" indent="0" algn="l" rtl="0">
              <a:spcBef>
                <a:spcPts val="1200"/>
              </a:spcBef>
              <a:spcAft>
                <a:spcPts val="1200"/>
              </a:spcAft>
              <a:buNone/>
            </a:pPr>
            <a:r>
              <a:rPr lang="en" dirty="0">
                <a:solidFill>
                  <a:srgbClr val="FF0000"/>
                </a:solidFill>
              </a:rPr>
              <a:t>But the syntax of a member function definition changes depending on the place of its definition, i.e. inside a class or outside a class. </a:t>
            </a:r>
            <a:endParaRPr dirty="0">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 Member Function Inside a Class </a:t>
            </a:r>
            <a:endParaRPr/>
          </a:p>
        </p:txBody>
      </p:sp>
      <p:sp>
        <p:nvSpPr>
          <p:cNvPr id="210" name="Google Shape;210;p3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In this method, the function is defined inside the class body. </a:t>
            </a:r>
            <a:endParaRPr dirty="0"/>
          </a:p>
          <a:p>
            <a:pPr marL="0" lvl="0" indent="0" algn="l" rtl="0">
              <a:spcBef>
                <a:spcPts val="1200"/>
              </a:spcBef>
              <a:spcAft>
                <a:spcPts val="0"/>
              </a:spcAft>
              <a:buNone/>
            </a:pPr>
            <a:r>
              <a:rPr lang="en" dirty="0"/>
              <a:t>When a function is defined inside a class, it is treated as an inline function. </a:t>
            </a:r>
          </a:p>
          <a:p>
            <a:pPr marL="0" lvl="0" indent="0" algn="l" rtl="0">
              <a:spcBef>
                <a:spcPts val="1200"/>
              </a:spcBef>
              <a:spcAft>
                <a:spcPts val="0"/>
              </a:spcAft>
              <a:buNone/>
            </a:pPr>
            <a:r>
              <a:rPr lang="en" dirty="0"/>
              <a:t>Remember that if a function contains loop instruction i.e. for, while do, while ...etc. then that function will not be treated as inline function.</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Member Function outside a Class</a:t>
            </a:r>
            <a:endParaRPr/>
          </a:p>
        </p:txBody>
      </p:sp>
      <p:sp>
        <p:nvSpPr>
          <p:cNvPr id="216" name="Google Shape;216;p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None/>
            </a:pPr>
            <a:r>
              <a:rPr lang="en" dirty="0">
                <a:solidFill>
                  <a:srgbClr val="FF0000"/>
                </a:solidFill>
              </a:rPr>
              <a:t>In this method of defining a member function outside a class - first you will have to declare a function prototype within the body of the class and then define the function outside the body of the class. </a:t>
            </a:r>
            <a:endParaRPr dirty="0">
              <a:solidFill>
                <a:srgbClr val="FF0000"/>
              </a:solidFill>
            </a:endParaRPr>
          </a:p>
          <a:p>
            <a:pPr marL="0" lvl="0" indent="0" algn="l" rtl="0">
              <a:spcBef>
                <a:spcPts val="1200"/>
              </a:spcBef>
              <a:spcAft>
                <a:spcPts val="0"/>
              </a:spcAft>
              <a:buNone/>
            </a:pPr>
            <a:r>
              <a:rPr lang="en" dirty="0"/>
              <a:t>The function defined outside the body of a class have the same syntax as normal functions i.e. they should have a function header and a function body. </a:t>
            </a:r>
            <a:endParaRPr dirty="0"/>
          </a:p>
          <a:p>
            <a:pPr marL="0" lvl="0" indent="0" algn="l" rtl="0">
              <a:spcBef>
                <a:spcPts val="1200"/>
              </a:spcBef>
              <a:spcAft>
                <a:spcPts val="0"/>
              </a:spcAft>
              <a:buNone/>
            </a:pPr>
            <a:r>
              <a:rPr lang="en" dirty="0"/>
              <a:t>But, there must have a mechanism of binding the functions to the class to which they belong. </a:t>
            </a:r>
            <a:endParaRPr dirty="0"/>
          </a:p>
          <a:p>
            <a:pPr marL="0" lvl="0" indent="0" algn="l" rtl="0">
              <a:spcBef>
                <a:spcPts val="1200"/>
              </a:spcBef>
              <a:spcAft>
                <a:spcPts val="0"/>
              </a:spcAft>
              <a:buNone/>
            </a:pPr>
            <a:r>
              <a:rPr lang="en" dirty="0"/>
              <a:t>This is done by using the scope resolution operation (: :), in the header of the function. </a:t>
            </a:r>
            <a:endParaRPr dirty="0"/>
          </a:p>
          <a:p>
            <a:pPr marL="0" lvl="0" indent="0" algn="l" rtl="0">
              <a:spcBef>
                <a:spcPts val="1200"/>
              </a:spcBef>
              <a:spcAft>
                <a:spcPts val="0"/>
              </a:spcAft>
              <a:buNone/>
            </a:pPr>
            <a:r>
              <a:rPr lang="en" dirty="0">
                <a:solidFill>
                  <a:srgbClr val="FF0000"/>
                </a:solidFill>
              </a:rPr>
              <a:t>The scope resolution operator acts as an ‘identity-label’ and tells the compiler the class to which the function belongs. </a:t>
            </a:r>
            <a:endParaRPr dirty="0">
              <a:solidFill>
                <a:srgbClr val="FF0000"/>
              </a:solidFill>
            </a:endParaRPr>
          </a:p>
          <a:p>
            <a:pPr marL="0" lvl="0" indent="0" algn="l" rtl="0">
              <a:spcBef>
                <a:spcPts val="1200"/>
              </a:spcBef>
              <a:spcAft>
                <a:spcPts val="1200"/>
              </a:spcAft>
              <a:buNone/>
            </a:pPr>
            <a:r>
              <a:rPr lang="en" dirty="0"/>
              <a:t>The general form of a member function definition is shown below–</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22" name="Google Shape;222;p4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23" name="Google Shape;223;p40"/>
          <p:cNvPicPr preferRelativeResize="0"/>
          <p:nvPr/>
        </p:nvPicPr>
        <p:blipFill>
          <a:blip r:embed="rId3">
            <a:alphaModFix/>
          </a:blip>
          <a:stretch>
            <a:fillRect/>
          </a:stretch>
        </p:blipFill>
        <p:spPr>
          <a:xfrm>
            <a:off x="1404950" y="1428875"/>
            <a:ext cx="6334125" cy="35341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29" name="Google Shape;229;p4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Here, the label </a:t>
            </a:r>
            <a:r>
              <a:rPr lang="en" i="1" dirty="0"/>
              <a:t>ClassName : : </a:t>
            </a:r>
            <a:r>
              <a:rPr lang="en" dirty="0"/>
              <a:t>tells the compiler that the function </a:t>
            </a:r>
            <a:r>
              <a:rPr lang="en" i="1" dirty="0"/>
              <a:t>MemberFunction</a:t>
            </a:r>
            <a:r>
              <a:rPr lang="en" dirty="0"/>
              <a:t> is the member of class </a:t>
            </a:r>
            <a:r>
              <a:rPr lang="en" i="1" dirty="0"/>
              <a:t>ClassName. </a:t>
            </a:r>
            <a:endParaRPr i="1" dirty="0"/>
          </a:p>
          <a:p>
            <a:pPr marL="0" lvl="0" indent="0" algn="l" rtl="0">
              <a:spcBef>
                <a:spcPts val="1200"/>
              </a:spcBef>
              <a:spcAft>
                <a:spcPts val="0"/>
              </a:spcAft>
              <a:buNone/>
            </a:pPr>
            <a:r>
              <a:rPr lang="en" dirty="0">
                <a:solidFill>
                  <a:srgbClr val="FF0000"/>
                </a:solidFill>
              </a:rPr>
              <a:t>The scope of the function is restricted to only the objects and other members of the class.</a:t>
            </a:r>
            <a:endParaRPr dirty="0">
              <a:solidFill>
                <a:srgbClr val="FF0000"/>
              </a:solidFill>
            </a:endParaRPr>
          </a:p>
          <a:p>
            <a:pPr marL="0" lvl="0" indent="0" algn="l" rtl="0">
              <a:spcBef>
                <a:spcPts val="1200"/>
              </a:spcBef>
              <a:spcAft>
                <a:spcPts val="1200"/>
              </a:spcAft>
              <a:buNone/>
            </a:pPr>
            <a:r>
              <a:rPr lang="en" dirty="0">
                <a:solidFill>
                  <a:srgbClr val="FF0000"/>
                </a:solidFill>
              </a:rPr>
              <a:t> </a:t>
            </a:r>
            <a:endParaRPr dirty="0">
              <a:solidFill>
                <a:srgbClr val="FF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47" name="Google Shape;247;p4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0" lvl="0" indent="0" algn="l" rtl="0">
              <a:spcBef>
                <a:spcPts val="1200"/>
              </a:spcBef>
              <a:spcAft>
                <a:spcPts val="0"/>
              </a:spcAft>
              <a:buNone/>
            </a:pPr>
            <a:r>
              <a:rPr lang="en" dirty="0"/>
              <a:t>–  </a:t>
            </a:r>
            <a:r>
              <a:rPr lang="en" dirty="0">
                <a:solidFill>
                  <a:srgbClr val="FF0000"/>
                </a:solidFill>
              </a:rPr>
              <a:t>A program can have several different classes and they can use the same name for different member functions</a:t>
            </a:r>
            <a:r>
              <a:rPr lang="en" dirty="0"/>
              <a:t>. </a:t>
            </a:r>
            <a:endParaRPr dirty="0"/>
          </a:p>
          <a:p>
            <a:pPr marL="0" lvl="0" indent="0" algn="l" rtl="0">
              <a:spcBef>
                <a:spcPts val="1200"/>
              </a:spcBef>
              <a:spcAft>
                <a:spcPts val="0"/>
              </a:spcAft>
              <a:buNone/>
            </a:pPr>
            <a:r>
              <a:rPr lang="en" dirty="0"/>
              <a:t>The ‘membership label’ (ClassName : :) resolves the ambiguity of the compiler in deciding which function belong’ to which class.  </a:t>
            </a:r>
            <a:endParaRPr dirty="0"/>
          </a:p>
          <a:p>
            <a:pPr marL="0" lvl="0" indent="0" algn="l" rtl="0">
              <a:spcBef>
                <a:spcPts val="1200"/>
              </a:spcBef>
              <a:spcAft>
                <a:spcPts val="0"/>
              </a:spcAft>
              <a:buNone/>
            </a:pPr>
            <a:r>
              <a:rPr lang="en" dirty="0"/>
              <a:t>Member functions can access the private data of the class, whereas non-member functions are not allowed to access.</a:t>
            </a:r>
            <a:endParaRPr dirty="0"/>
          </a:p>
          <a:p>
            <a:pPr marL="0" lvl="0" indent="0" algn="l" rtl="0">
              <a:spcBef>
                <a:spcPts val="1200"/>
              </a:spcBef>
              <a:spcAft>
                <a:spcPts val="0"/>
              </a:spcAft>
              <a:buNone/>
            </a:pPr>
            <a:r>
              <a:rPr lang="en" dirty="0"/>
              <a:t>But ‘friend function’ can access the private data member of a class </a:t>
            </a:r>
            <a:endParaRPr dirty="0"/>
          </a:p>
          <a:p>
            <a:pPr marL="0" lvl="0" indent="0" algn="l" rtl="0">
              <a:spcBef>
                <a:spcPts val="1200"/>
              </a:spcBef>
              <a:spcAft>
                <a:spcPts val="1200"/>
              </a:spcAft>
              <a:buNone/>
            </a:pPr>
            <a:r>
              <a:rPr lang="en" dirty="0">
                <a:solidFill>
                  <a:srgbClr val="FF0000"/>
                </a:solidFill>
              </a:rPr>
              <a:t>Member functions of the same class can access all other members of their own class without the use of dot operator</a:t>
            </a:r>
            <a:endParaRPr dirty="0">
              <a:solidFill>
                <a:srgbClr val="FF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ARRAY OF OBJECTS </a:t>
            </a:r>
            <a:endParaRPr/>
          </a:p>
        </p:txBody>
      </p:sp>
      <p:sp>
        <p:nvSpPr>
          <p:cNvPr id="253" name="Google Shape;253;p4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We know that arrays hold data of similar type. </a:t>
            </a:r>
            <a:endParaRPr/>
          </a:p>
          <a:p>
            <a:pPr marL="0" lvl="0" indent="0" algn="l" rtl="0">
              <a:spcBef>
                <a:spcPts val="1200"/>
              </a:spcBef>
              <a:spcAft>
                <a:spcPts val="0"/>
              </a:spcAft>
              <a:buNone/>
            </a:pPr>
            <a:r>
              <a:rPr lang="en"/>
              <a:t>Arrays can be of any data type including user defined data type, created by using struct, class etc. </a:t>
            </a:r>
            <a:endParaRPr/>
          </a:p>
          <a:p>
            <a:pPr marL="0" lvl="0" indent="0" algn="l" rtl="0">
              <a:spcBef>
                <a:spcPts val="1200"/>
              </a:spcBef>
              <a:spcAft>
                <a:spcPts val="0"/>
              </a:spcAft>
              <a:buNone/>
            </a:pPr>
            <a:r>
              <a:rPr lang="en"/>
              <a:t>We can create an array of variables by using class data type. </a:t>
            </a:r>
            <a:endParaRPr/>
          </a:p>
          <a:p>
            <a:pPr marL="0" lvl="0" indent="0" algn="l" rtl="0">
              <a:spcBef>
                <a:spcPts val="1200"/>
              </a:spcBef>
              <a:spcAft>
                <a:spcPts val="1200"/>
              </a:spcAft>
              <a:buNone/>
            </a:pPr>
            <a:r>
              <a:rPr lang="en"/>
              <a:t>Such an array of variables of class data type is also known as an array of objects which handle a group of objects.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59" name="Google Shape;259;p4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60" name="Google Shape;260;p46"/>
          <p:cNvPicPr preferRelativeResize="0"/>
          <p:nvPr/>
        </p:nvPicPr>
        <p:blipFill>
          <a:blip r:embed="rId3">
            <a:alphaModFix/>
          </a:blip>
          <a:stretch>
            <a:fillRect/>
          </a:stretch>
        </p:blipFill>
        <p:spPr>
          <a:xfrm>
            <a:off x="1762125" y="1320125"/>
            <a:ext cx="5619750" cy="29185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66" name="Google Shape;266;p4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Here, the identifier ‘employee’ is a user defined data type and can be used to create objects that relate to different categories of employees.</a:t>
            </a:r>
            <a:endParaRPr/>
          </a:p>
          <a:p>
            <a:pPr marL="0" lvl="0" indent="0" algn="l" rtl="0">
              <a:spcBef>
                <a:spcPts val="1200"/>
              </a:spcBef>
              <a:spcAft>
                <a:spcPts val="0"/>
              </a:spcAft>
              <a:buNone/>
            </a:pPr>
            <a:r>
              <a:rPr lang="en"/>
              <a:t> For example, the following definition will creates an array of objects of ‘employee’ class–</a:t>
            </a:r>
            <a:endParaRPr/>
          </a:p>
          <a:p>
            <a:pPr marL="0" lvl="0" indent="0" algn="l" rtl="0">
              <a:spcBef>
                <a:spcPts val="1200"/>
              </a:spcBef>
              <a:spcAft>
                <a:spcPts val="1200"/>
              </a:spcAft>
              <a:buNone/>
            </a:pPr>
            <a:endParaRPr/>
          </a:p>
        </p:txBody>
      </p:sp>
      <p:pic>
        <p:nvPicPr>
          <p:cNvPr id="267" name="Google Shape;267;p47"/>
          <p:cNvPicPr preferRelativeResize="0"/>
          <p:nvPr/>
        </p:nvPicPr>
        <p:blipFill>
          <a:blip r:embed="rId3">
            <a:alphaModFix/>
          </a:blip>
          <a:stretch>
            <a:fillRect/>
          </a:stretch>
        </p:blipFill>
        <p:spPr>
          <a:xfrm>
            <a:off x="2581275" y="2571753"/>
            <a:ext cx="3981450" cy="12712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73" name="Google Shape;273;p4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The array consultant contain 30 objects namely, consultant [0], consultant [1],......... consultant [29], of type employee class. </a:t>
            </a:r>
            <a:endParaRPr/>
          </a:p>
          <a:p>
            <a:pPr marL="0" lvl="0" indent="0" algn="l" rtl="0">
              <a:spcBef>
                <a:spcPts val="1200"/>
              </a:spcBef>
              <a:spcAft>
                <a:spcPts val="0"/>
              </a:spcAft>
              <a:buNone/>
            </a:pPr>
            <a:r>
              <a:rPr lang="en"/>
              <a:t>Similarly, clerk array contains 15 objects and lecturer array contains 20 objects. </a:t>
            </a:r>
            <a:endParaRPr/>
          </a:p>
          <a:p>
            <a:pPr marL="0" lvl="0" indent="0" algn="l" rtl="0">
              <a:spcBef>
                <a:spcPts val="1200"/>
              </a:spcBef>
              <a:spcAft>
                <a:spcPts val="1200"/>
              </a:spcAft>
              <a:buNone/>
            </a:pPr>
            <a:r>
              <a:rPr lang="en"/>
              <a:t>We know that as array elements occupy continuous memory locations like the same way as array of objects occupy contiguous memory locations as shown in the fig. 8.4</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4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79" name="Google Shape;279;p4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80" name="Google Shape;280;p49"/>
          <p:cNvPicPr preferRelativeResize="0"/>
          <p:nvPr/>
        </p:nvPicPr>
        <p:blipFill>
          <a:blip r:embed="rId3">
            <a:alphaModFix/>
          </a:blip>
          <a:stretch>
            <a:fillRect/>
          </a:stretch>
        </p:blipFill>
        <p:spPr>
          <a:xfrm>
            <a:off x="1738325" y="1309250"/>
            <a:ext cx="5667375" cy="37516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86" name="Google Shape;286;p5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87" name="Google Shape;287;p50"/>
          <p:cNvPicPr preferRelativeResize="0"/>
          <p:nvPr/>
        </p:nvPicPr>
        <p:blipFill>
          <a:blip r:embed="rId3">
            <a:alphaModFix/>
          </a:blip>
          <a:stretch>
            <a:fillRect/>
          </a:stretch>
        </p:blipFill>
        <p:spPr>
          <a:xfrm>
            <a:off x="1466850" y="1709738"/>
            <a:ext cx="6210300" cy="17240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5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OBJECTS AS FUNCTION ARGUMENTS</a:t>
            </a:r>
            <a:endParaRPr dirty="0"/>
          </a:p>
        </p:txBody>
      </p:sp>
      <p:sp>
        <p:nvSpPr>
          <p:cNvPr id="293" name="Google Shape;293;p5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Objects can be passed as an argument to a function. </a:t>
            </a:r>
            <a:endParaRPr/>
          </a:p>
          <a:p>
            <a:pPr marL="0" lvl="0" indent="0" algn="l" rtl="0">
              <a:spcBef>
                <a:spcPts val="1200"/>
              </a:spcBef>
              <a:spcAft>
                <a:spcPts val="0"/>
              </a:spcAft>
              <a:buNone/>
            </a:pPr>
            <a:r>
              <a:rPr lang="en"/>
              <a:t>There are three ways of passing objects as function arguments: </a:t>
            </a:r>
            <a:endParaRPr/>
          </a:p>
          <a:p>
            <a:pPr marL="457200" lvl="0" indent="-342900" algn="l" rtl="0">
              <a:spcBef>
                <a:spcPts val="1200"/>
              </a:spcBef>
              <a:spcAft>
                <a:spcPts val="0"/>
              </a:spcAft>
              <a:buSzPts val="1800"/>
              <a:buAutoNum type="arabicParenR"/>
            </a:pPr>
            <a:r>
              <a:rPr lang="en"/>
              <a:t> a copy of the entire object is passed to the function, which is also called pass-by-value  </a:t>
            </a:r>
            <a:endParaRPr/>
          </a:p>
          <a:p>
            <a:pPr marL="457200" lvl="0" indent="-342900" algn="l" rtl="0">
              <a:spcBef>
                <a:spcPts val="0"/>
              </a:spcBef>
              <a:spcAft>
                <a:spcPts val="0"/>
              </a:spcAft>
              <a:buSzPts val="1800"/>
              <a:buAutoNum type="arabicParenR"/>
            </a:pPr>
            <a:r>
              <a:rPr lang="en"/>
              <a:t>only the address of the object is sent implicitly to the function, which is also called – pass by-reference.</a:t>
            </a:r>
            <a:endParaRPr/>
          </a:p>
          <a:p>
            <a:pPr marL="457200" lvl="0" indent="-342900" algn="l" rtl="0">
              <a:spcBef>
                <a:spcPts val="0"/>
              </a:spcBef>
              <a:spcAft>
                <a:spcPts val="0"/>
              </a:spcAft>
              <a:buSzPts val="1800"/>
              <a:buAutoNum type="arabicParenR"/>
            </a:pPr>
            <a:r>
              <a:rPr lang="en"/>
              <a:t> the address of the object is sent explicitly to the function, which is also called – pass-by-pointer</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5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Pass-by-value </a:t>
            </a:r>
            <a:endParaRPr/>
          </a:p>
        </p:txBody>
      </p:sp>
      <p:sp>
        <p:nvSpPr>
          <p:cNvPr id="299" name="Google Shape;299;p5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In this technique, a copy of the object is passed to the called function (callee) from the calling function (caller). </a:t>
            </a:r>
            <a:endParaRPr/>
          </a:p>
          <a:p>
            <a:pPr marL="0" lvl="0" indent="0" algn="l" rtl="0">
              <a:spcBef>
                <a:spcPts val="1200"/>
              </a:spcBef>
              <a:spcAft>
                <a:spcPts val="0"/>
              </a:spcAft>
              <a:buNone/>
            </a:pPr>
            <a:r>
              <a:rPr lang="en"/>
              <a:t>Since a copy of the object is passed so any changes made to the object inside the called function do not affect the object used to call the function.</a:t>
            </a:r>
            <a:endParaRPr/>
          </a:p>
          <a:p>
            <a:pPr marL="0" lvl="0" indent="0" algn="l" rtl="0">
              <a:spcBef>
                <a:spcPts val="1200"/>
              </a:spcBef>
              <a:spcAft>
                <a:spcPts val="1200"/>
              </a:spcAft>
              <a:buNone/>
            </a:pPr>
            <a:r>
              <a:rPr lang="en"/>
              <a:t> The following program demonstrates the use of objects as function arguments in pass-by-value mechanism.</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5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 Pass-by-Reference</a:t>
            </a:r>
            <a:endParaRPr dirty="0"/>
          </a:p>
        </p:txBody>
      </p:sp>
      <p:sp>
        <p:nvSpPr>
          <p:cNvPr id="305" name="Google Shape;305;p5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In this technique, only the address of the object is sent to the function. </a:t>
            </a:r>
            <a:endParaRPr/>
          </a:p>
          <a:p>
            <a:pPr marL="0" lvl="0" indent="0" algn="l" rtl="0">
              <a:spcBef>
                <a:spcPts val="1200"/>
              </a:spcBef>
              <a:spcAft>
                <a:spcPts val="0"/>
              </a:spcAft>
              <a:buNone/>
            </a:pPr>
            <a:r>
              <a:rPr lang="en"/>
              <a:t>When an address of the object is passed, the address acts as reference pointer to the actual object in the calling funciton. </a:t>
            </a:r>
            <a:endParaRPr/>
          </a:p>
          <a:p>
            <a:pPr marL="0" lvl="0" indent="0" algn="l" rtl="0">
              <a:spcBef>
                <a:spcPts val="1200"/>
              </a:spcBef>
              <a:spcAft>
                <a:spcPts val="1200"/>
              </a:spcAft>
              <a:buNone/>
            </a:pPr>
            <a:r>
              <a:rPr lang="en"/>
              <a:t>Therefore, any change made to the objects inside the called function will reflect in the actual object in the calling funciton.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Pass-by-Pointer</a:t>
            </a:r>
            <a:endParaRPr dirty="0"/>
          </a:p>
        </p:txBody>
      </p:sp>
      <p:sp>
        <p:nvSpPr>
          <p:cNvPr id="311" name="Google Shape;311;p5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In this mechanism also, the address of the object is passed explicitly to the called function from the calling function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5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FRIEND FUNCITON AND FRIEND CLASS</a:t>
            </a:r>
            <a:endParaRPr/>
          </a:p>
        </p:txBody>
      </p:sp>
      <p:sp>
        <p:nvSpPr>
          <p:cNvPr id="317" name="Google Shape;317;p5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62500" lnSpcReduction="20000"/>
          </a:bodyPr>
          <a:lstStyle/>
          <a:p>
            <a:pPr marL="0" lvl="0" indent="0" algn="l" rtl="0">
              <a:spcBef>
                <a:spcPts val="0"/>
              </a:spcBef>
              <a:spcAft>
                <a:spcPts val="0"/>
              </a:spcAft>
              <a:buNone/>
            </a:pPr>
            <a:r>
              <a:rPr lang="en" dirty="0"/>
              <a:t>We have already discussed the fact that </a:t>
            </a:r>
            <a:r>
              <a:rPr lang="en" dirty="0">
                <a:solidFill>
                  <a:srgbClr val="FF0000"/>
                </a:solidFill>
              </a:rPr>
              <a:t>the private members of a class cannot be accessible from the outside of the class. </a:t>
            </a:r>
            <a:endParaRPr dirty="0">
              <a:solidFill>
                <a:srgbClr val="FF0000"/>
              </a:solidFill>
            </a:endParaRPr>
          </a:p>
          <a:p>
            <a:pPr marL="0" lvl="0" indent="0" algn="l" rtl="0">
              <a:spcBef>
                <a:spcPts val="1200"/>
              </a:spcBef>
              <a:spcAft>
                <a:spcPts val="0"/>
              </a:spcAft>
              <a:buNone/>
            </a:pPr>
            <a:r>
              <a:rPr lang="en" dirty="0"/>
              <a:t>Only the member functions of that class have permission for accessing the private members.</a:t>
            </a:r>
            <a:endParaRPr dirty="0"/>
          </a:p>
          <a:p>
            <a:pPr marL="0" lvl="0" indent="0" algn="l" rtl="0">
              <a:spcBef>
                <a:spcPts val="1200"/>
              </a:spcBef>
              <a:spcAft>
                <a:spcPts val="0"/>
              </a:spcAft>
              <a:buNone/>
            </a:pPr>
            <a:r>
              <a:rPr lang="en" dirty="0"/>
              <a:t>This policy enforces the encapsulation and data hiding techniques.</a:t>
            </a:r>
            <a:endParaRPr dirty="0"/>
          </a:p>
          <a:p>
            <a:pPr marL="0" lvl="0" indent="0" algn="l" rtl="0">
              <a:spcBef>
                <a:spcPts val="1200"/>
              </a:spcBef>
              <a:spcAft>
                <a:spcPts val="0"/>
              </a:spcAft>
              <a:buNone/>
            </a:pPr>
            <a:r>
              <a:rPr lang="en" dirty="0"/>
              <a:t> Let us think of a situation where a user need a function to operate on objects of two different classes.</a:t>
            </a:r>
            <a:endParaRPr dirty="0"/>
          </a:p>
          <a:p>
            <a:pPr marL="0" lvl="0" indent="0" algn="l" rtl="0">
              <a:spcBef>
                <a:spcPts val="1200"/>
              </a:spcBef>
              <a:spcAft>
                <a:spcPts val="0"/>
              </a:spcAft>
              <a:buNone/>
            </a:pPr>
            <a:r>
              <a:rPr lang="en" dirty="0"/>
              <a:t> It means that the function will be allowed to access the private data of both the classes.</a:t>
            </a:r>
            <a:endParaRPr dirty="0"/>
          </a:p>
          <a:p>
            <a:pPr marL="0" lvl="0" indent="0" algn="l" rtl="0">
              <a:spcBef>
                <a:spcPts val="1200"/>
              </a:spcBef>
              <a:spcAft>
                <a:spcPts val="0"/>
              </a:spcAft>
              <a:buNone/>
            </a:pPr>
            <a:r>
              <a:rPr lang="en" dirty="0"/>
              <a:t> In C++, this situation is overcome by using the concept of friend function. </a:t>
            </a:r>
            <a:endParaRPr dirty="0"/>
          </a:p>
          <a:p>
            <a:pPr marL="0" lvl="0" indent="0" algn="l" rtl="0">
              <a:spcBef>
                <a:spcPts val="1200"/>
              </a:spcBef>
              <a:spcAft>
                <a:spcPts val="0"/>
              </a:spcAft>
              <a:buNone/>
            </a:pPr>
            <a:r>
              <a:rPr lang="en" dirty="0">
                <a:solidFill>
                  <a:srgbClr val="FF0000"/>
                </a:solidFill>
              </a:rPr>
              <a:t>C++ permits a friend function to access the private members of different classes.</a:t>
            </a:r>
            <a:endParaRPr dirty="0">
              <a:solidFill>
                <a:srgbClr val="FF0000"/>
              </a:solidFill>
            </a:endParaRPr>
          </a:p>
          <a:p>
            <a:pPr marL="0" lvl="0" indent="0" algn="l" rtl="0">
              <a:spcBef>
                <a:spcPts val="1200"/>
              </a:spcBef>
              <a:spcAft>
                <a:spcPts val="0"/>
              </a:spcAft>
              <a:buNone/>
            </a:pPr>
            <a:r>
              <a:rPr lang="en" dirty="0"/>
              <a:t>The declaration of a friend function must be prefixed by the keyword “friend”. </a:t>
            </a:r>
            <a:endParaRPr dirty="0"/>
          </a:p>
          <a:p>
            <a:pPr marL="0" lvl="0" indent="0" algn="l" rtl="0">
              <a:spcBef>
                <a:spcPts val="1200"/>
              </a:spcBef>
              <a:spcAft>
                <a:spcPts val="1200"/>
              </a:spcAft>
              <a:buNone/>
            </a:pPr>
            <a:r>
              <a:rPr lang="en" dirty="0"/>
              <a:t>In the following class is shown a declaration of a friend function. </a:t>
            </a:r>
            <a:endParaRP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5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23" name="Google Shape;323;p5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24" name="Google Shape;324;p56"/>
          <p:cNvPicPr preferRelativeResize="0"/>
          <p:nvPr/>
        </p:nvPicPr>
        <p:blipFill>
          <a:blip r:embed="rId3">
            <a:alphaModFix/>
          </a:blip>
          <a:stretch>
            <a:fillRect/>
          </a:stretch>
        </p:blipFill>
        <p:spPr>
          <a:xfrm>
            <a:off x="2452700" y="1265750"/>
            <a:ext cx="4238625" cy="29347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5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30" name="Google Shape;330;p5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en" dirty="0"/>
              <a:t>The function can be defined anywhere in the program similar to any normal C++ function. </a:t>
            </a:r>
            <a:endParaRPr dirty="0"/>
          </a:p>
          <a:p>
            <a:pPr marL="0" lvl="0" indent="0" algn="l" rtl="0">
              <a:spcBef>
                <a:spcPts val="1200"/>
              </a:spcBef>
              <a:spcAft>
                <a:spcPts val="0"/>
              </a:spcAft>
              <a:buNone/>
            </a:pPr>
            <a:r>
              <a:rPr lang="en" dirty="0"/>
              <a:t>The function definition does not use either the keyword friend or the scope operator ‘: :’.</a:t>
            </a:r>
          </a:p>
          <a:p>
            <a:pPr marL="0" lvl="0" indent="0" algn="l" rtl="0">
              <a:spcBef>
                <a:spcPts val="1200"/>
              </a:spcBef>
              <a:spcAft>
                <a:spcPts val="0"/>
              </a:spcAft>
              <a:buNone/>
            </a:pPr>
            <a:r>
              <a:rPr lang="en" dirty="0"/>
              <a:t> The functions that are declared with the keyword ‘friend’ are called friend functions. </a:t>
            </a:r>
            <a:endParaRPr dirty="0"/>
          </a:p>
          <a:p>
            <a:pPr marL="0" lvl="0" indent="0" algn="l" rtl="0">
              <a:spcBef>
                <a:spcPts val="1200"/>
              </a:spcBef>
              <a:spcAft>
                <a:spcPts val="0"/>
              </a:spcAft>
              <a:buNone/>
            </a:pPr>
            <a:r>
              <a:rPr lang="en" dirty="0">
                <a:solidFill>
                  <a:srgbClr val="FF0000"/>
                </a:solidFill>
              </a:rPr>
              <a:t>A friend function can be a friend to a multiple classes. </a:t>
            </a:r>
            <a:endParaRPr dirty="0">
              <a:solidFill>
                <a:srgbClr val="FF0000"/>
              </a:solidFill>
            </a:endParaRPr>
          </a:p>
          <a:p>
            <a:pPr marL="0" lvl="0" indent="0" algn="l" rtl="0">
              <a:spcBef>
                <a:spcPts val="1200"/>
              </a:spcBef>
              <a:spcAft>
                <a:spcPts val="0"/>
              </a:spcAft>
              <a:buNone/>
            </a:pPr>
            <a:r>
              <a:rPr lang="en" dirty="0"/>
              <a:t>The friend function have the following properties :  </a:t>
            </a:r>
            <a:endParaRPr dirty="0"/>
          </a:p>
          <a:p>
            <a:pPr marL="0" lvl="0" indent="457200" algn="l" rtl="0">
              <a:spcBef>
                <a:spcPts val="1200"/>
              </a:spcBef>
              <a:spcAft>
                <a:spcPts val="0"/>
              </a:spcAft>
              <a:buNone/>
            </a:pPr>
            <a:r>
              <a:rPr lang="en" dirty="0">
                <a:solidFill>
                  <a:srgbClr val="FF0000"/>
                </a:solidFill>
              </a:rPr>
              <a:t>There is no scope restriction for the friend function; hence they can be called directly without using objects.  </a:t>
            </a:r>
            <a:endParaRPr dirty="0">
              <a:solidFill>
                <a:srgbClr val="FF0000"/>
              </a:solidFill>
            </a:endParaRPr>
          </a:p>
          <a:p>
            <a:pPr marL="0" lvl="0" indent="457200" algn="l" rtl="0">
              <a:spcBef>
                <a:spcPts val="1200"/>
              </a:spcBef>
              <a:spcAft>
                <a:spcPts val="0"/>
              </a:spcAft>
              <a:buNone/>
            </a:pPr>
            <a:r>
              <a:rPr lang="en" dirty="0">
                <a:solidFill>
                  <a:srgbClr val="FF0000"/>
                </a:solidFill>
              </a:rPr>
              <a:t>Unlike member functions of class, friend function cannot access the members directly. On the other hand, it uses object and dot operator to access the private and public member variables of the class. </a:t>
            </a:r>
            <a:endParaRPr dirty="0">
              <a:solidFill>
                <a:srgbClr val="FF0000"/>
              </a:solidFill>
            </a:endParaRPr>
          </a:p>
          <a:p>
            <a:pPr marL="0" lvl="0" indent="457200" algn="l" rtl="0">
              <a:spcBef>
                <a:spcPts val="1200"/>
              </a:spcBef>
              <a:spcAft>
                <a:spcPts val="1200"/>
              </a:spcAft>
              <a:buNone/>
            </a:pPr>
            <a:r>
              <a:rPr lang="en" dirty="0">
                <a:solidFill>
                  <a:srgbClr val="FF0000"/>
                </a:solidFill>
              </a:rPr>
              <a:t> Use of friend function is rarely done, because it violates the rule of encapsulation and data hiding.  The function can be declared in public or private sections without changing its meaning</a:t>
            </a:r>
            <a:r>
              <a:rPr lang="en" dirty="0"/>
              <a:t>.</a:t>
            </a:r>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5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42" name="Google Shape;342;p5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62500" lnSpcReduction="20000"/>
          </a:bodyPr>
          <a:lstStyle/>
          <a:p>
            <a:pPr marL="0" lvl="0" indent="0" algn="l" rtl="0">
              <a:spcBef>
                <a:spcPts val="0"/>
              </a:spcBef>
              <a:spcAft>
                <a:spcPts val="0"/>
              </a:spcAft>
              <a:buNone/>
            </a:pPr>
            <a:r>
              <a:rPr lang="en" dirty="0"/>
              <a:t>In the above program each of the two classes ‘first’ and ‘second’ has a member function named getvalue () and one private data member.</a:t>
            </a:r>
            <a:endParaRPr dirty="0"/>
          </a:p>
          <a:p>
            <a:pPr marL="0" lvl="0" indent="0" algn="l" rtl="0">
              <a:spcBef>
                <a:spcPts val="1200"/>
              </a:spcBef>
              <a:spcAft>
                <a:spcPts val="0"/>
              </a:spcAft>
              <a:buNone/>
            </a:pPr>
            <a:r>
              <a:rPr lang="en" dirty="0"/>
              <a:t>Notice that, the function sum ( ) is declared as friend function in both the class. </a:t>
            </a:r>
            <a:endParaRPr dirty="0"/>
          </a:p>
          <a:p>
            <a:pPr marL="0" lvl="0" indent="0" algn="l" rtl="0">
              <a:spcBef>
                <a:spcPts val="1200"/>
              </a:spcBef>
              <a:spcAft>
                <a:spcPts val="0"/>
              </a:spcAft>
              <a:buNone/>
            </a:pPr>
            <a:r>
              <a:rPr lang="en" dirty="0"/>
              <a:t>Hence, this function has the ability to access the members of both the classes. </a:t>
            </a:r>
            <a:endParaRPr dirty="0"/>
          </a:p>
          <a:p>
            <a:pPr marL="0" lvl="0" indent="0" algn="l" rtl="0">
              <a:spcBef>
                <a:spcPts val="1200"/>
              </a:spcBef>
              <a:spcAft>
                <a:spcPts val="0"/>
              </a:spcAft>
              <a:buNone/>
            </a:pPr>
            <a:r>
              <a:rPr lang="en" dirty="0"/>
              <a:t>Using sum ( ) function, addition of integers is calculated and displayed. </a:t>
            </a:r>
            <a:endParaRPr dirty="0"/>
          </a:p>
          <a:p>
            <a:pPr marL="0" lvl="0" indent="0" algn="l" rtl="0">
              <a:spcBef>
                <a:spcPts val="1200"/>
              </a:spcBef>
              <a:spcAft>
                <a:spcPts val="0"/>
              </a:spcAft>
              <a:buNone/>
            </a:pPr>
            <a:r>
              <a:rPr lang="en" dirty="0"/>
              <a:t>It is possible to declare all the member functions of a class as the friend functions of another class. </a:t>
            </a:r>
            <a:endParaRPr dirty="0"/>
          </a:p>
          <a:p>
            <a:pPr marL="0" lvl="0" indent="0" algn="l" rtl="0">
              <a:spcBef>
                <a:spcPts val="1200"/>
              </a:spcBef>
              <a:spcAft>
                <a:spcPts val="0"/>
              </a:spcAft>
              <a:buNone/>
            </a:pPr>
            <a:r>
              <a:rPr lang="en" dirty="0">
                <a:solidFill>
                  <a:srgbClr val="FF0000"/>
                </a:solidFill>
              </a:rPr>
              <a:t>When all the functions need to access another class in such a situation we can declare an entire class as friend class</a:t>
            </a:r>
            <a:r>
              <a:rPr lang="en" dirty="0"/>
              <a:t>.</a:t>
            </a:r>
            <a:endParaRPr dirty="0"/>
          </a:p>
          <a:p>
            <a:pPr marL="0" lvl="0" indent="0" algn="l" rtl="0">
              <a:spcBef>
                <a:spcPts val="1200"/>
              </a:spcBef>
              <a:spcAft>
                <a:spcPts val="1200"/>
              </a:spcAft>
              <a:buNone/>
            </a:pPr>
            <a:r>
              <a:rPr lang="en" dirty="0"/>
              <a:t> Always remember that friendship is not exchangeable. </a:t>
            </a:r>
          </a:p>
          <a:p>
            <a:pPr marL="0" lvl="0" indent="0" algn="l" rtl="0">
              <a:spcBef>
                <a:spcPts val="1200"/>
              </a:spcBef>
              <a:spcAft>
                <a:spcPts val="1200"/>
              </a:spcAft>
              <a:buNone/>
            </a:pPr>
            <a:r>
              <a:rPr lang="en" dirty="0"/>
              <a:t>Its meaning is that  - declaring class A to be a friend of class B does not mean that class B is also a friend of class A</a:t>
            </a: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6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48" name="Google Shape;348;p6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49" name="Google Shape;349;p60"/>
          <p:cNvPicPr preferRelativeResize="0"/>
          <p:nvPr/>
        </p:nvPicPr>
        <p:blipFill>
          <a:blip r:embed="rId3">
            <a:alphaModFix/>
          </a:blip>
          <a:stretch>
            <a:fillRect/>
          </a:stretch>
        </p:blipFill>
        <p:spPr>
          <a:xfrm>
            <a:off x="1643063" y="1514475"/>
            <a:ext cx="5857875" cy="21145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6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CONSTRUCTORS AND DESTRUCTORS</a:t>
            </a:r>
            <a:endParaRPr/>
          </a:p>
        </p:txBody>
      </p:sp>
      <p:sp>
        <p:nvSpPr>
          <p:cNvPr id="355" name="Google Shape;355;p6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C++ provides a pair of special member functions called constructor and destructor. </a:t>
            </a:r>
          </a:p>
          <a:p>
            <a:pPr marL="0" lvl="0" indent="0" algn="l" rtl="0">
              <a:spcBef>
                <a:spcPts val="0"/>
              </a:spcBef>
              <a:spcAft>
                <a:spcPts val="0"/>
              </a:spcAft>
              <a:buNone/>
            </a:pPr>
            <a:r>
              <a:rPr lang="en" dirty="0"/>
              <a:t>Constructor enables an object to initialize itself when it is created and destructor destroys the object when it is no longer required. </a:t>
            </a:r>
            <a:endParaRPr dirty="0"/>
          </a:p>
          <a:p>
            <a:pPr marL="0" lvl="0" indent="0" algn="l" rtl="0">
              <a:spcBef>
                <a:spcPts val="1200"/>
              </a:spcBef>
              <a:spcAft>
                <a:spcPts val="1200"/>
              </a:spcAft>
              <a:buNone/>
            </a:pP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6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CONSTRUCTORS </a:t>
            </a:r>
            <a:endParaRPr/>
          </a:p>
        </p:txBody>
      </p:sp>
      <p:sp>
        <p:nvSpPr>
          <p:cNvPr id="361" name="Google Shape;361;p6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solidFill>
                  <a:srgbClr val="FF0000"/>
                </a:solidFill>
              </a:rPr>
              <a:t>A constructor is a special member function in a class that is called when a new object of the class is created. </a:t>
            </a:r>
            <a:endParaRPr dirty="0">
              <a:solidFill>
                <a:srgbClr val="FF0000"/>
              </a:solidFill>
            </a:endParaRPr>
          </a:p>
          <a:p>
            <a:pPr marL="0" lvl="0" indent="0" algn="l" rtl="0">
              <a:spcBef>
                <a:spcPts val="1200"/>
              </a:spcBef>
              <a:spcAft>
                <a:spcPts val="0"/>
              </a:spcAft>
              <a:buNone/>
            </a:pPr>
            <a:r>
              <a:rPr lang="en" dirty="0"/>
              <a:t>It, therefore, provides the opportunity to initialize objects as they are created and to ensure that data members only contain valid values. </a:t>
            </a:r>
            <a:endParaRPr dirty="0"/>
          </a:p>
          <a:p>
            <a:pPr marL="0" lvl="0" indent="0" algn="l" rtl="0">
              <a:spcBef>
                <a:spcPts val="1200"/>
              </a:spcBef>
              <a:spcAft>
                <a:spcPts val="0"/>
              </a:spcAft>
              <a:buNone/>
            </a:pPr>
            <a:r>
              <a:rPr lang="en" dirty="0"/>
              <a:t>It is a member function whose task is to initialize the object of its class and allocate the required resources such as memory. </a:t>
            </a:r>
            <a:endParaRPr dirty="0"/>
          </a:p>
          <a:p>
            <a:pPr marL="0" lvl="0" indent="0" algn="l" rtl="0">
              <a:spcBef>
                <a:spcPts val="1200"/>
              </a:spcBef>
              <a:spcAft>
                <a:spcPts val="1200"/>
              </a:spcAft>
              <a:buNone/>
            </a:pPr>
            <a:r>
              <a:rPr lang="en" dirty="0"/>
              <a:t>It is distinct from other members of the class because it has the same name as its class. </a:t>
            </a:r>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6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67" name="Google Shape;367;p6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68" name="Google Shape;368;p63"/>
          <p:cNvPicPr preferRelativeResize="0"/>
          <p:nvPr/>
        </p:nvPicPr>
        <p:blipFill>
          <a:blip r:embed="rId3">
            <a:alphaModFix/>
          </a:blip>
          <a:stretch>
            <a:fillRect/>
          </a:stretch>
        </p:blipFill>
        <p:spPr>
          <a:xfrm>
            <a:off x="1443050" y="1363623"/>
            <a:ext cx="6257925" cy="30226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6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74" name="Google Shape;374;p6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0"/>
              </a:spcAft>
              <a:buNone/>
            </a:pPr>
            <a:r>
              <a:rPr lang="en" dirty="0"/>
              <a:t>Constructor is executed automatically whenever the class is instantiated i.e., object of the class is created. </a:t>
            </a:r>
            <a:endParaRPr dirty="0"/>
          </a:p>
          <a:p>
            <a:pPr marL="0" lvl="0" indent="0" algn="l" rtl="0">
              <a:spcBef>
                <a:spcPts val="1200"/>
              </a:spcBef>
              <a:spcAft>
                <a:spcPts val="0"/>
              </a:spcAft>
              <a:buNone/>
            </a:pPr>
            <a:r>
              <a:rPr lang="en" dirty="0"/>
              <a:t> It always has the same name as the class in which it is defined</a:t>
            </a:r>
            <a:endParaRPr dirty="0"/>
          </a:p>
          <a:p>
            <a:pPr marL="0" lvl="0" indent="0" algn="l" rtl="0">
              <a:spcBef>
                <a:spcPts val="1200"/>
              </a:spcBef>
              <a:spcAft>
                <a:spcPts val="0"/>
              </a:spcAft>
              <a:buNone/>
            </a:pPr>
            <a:r>
              <a:rPr lang="en" dirty="0"/>
              <a:t> It cannot have any return type, not even void. </a:t>
            </a:r>
            <a:endParaRPr dirty="0"/>
          </a:p>
          <a:p>
            <a:pPr marL="0" lvl="0" indent="0" algn="l" rtl="0">
              <a:spcBef>
                <a:spcPts val="1200"/>
              </a:spcBef>
              <a:spcAft>
                <a:spcPts val="0"/>
              </a:spcAft>
              <a:buNone/>
            </a:pPr>
            <a:r>
              <a:rPr lang="en" dirty="0"/>
              <a:t> It is normally used to initialize the data members of a class.  </a:t>
            </a:r>
            <a:endParaRPr dirty="0"/>
          </a:p>
          <a:p>
            <a:pPr marL="0" lvl="0" indent="0" algn="l" rtl="0">
              <a:spcBef>
                <a:spcPts val="1200"/>
              </a:spcBef>
              <a:spcAft>
                <a:spcPts val="0"/>
              </a:spcAft>
              <a:buNone/>
            </a:pPr>
            <a:r>
              <a:rPr lang="en" dirty="0"/>
              <a:t>It is also used to allocate resources like memory to the dynamic data members of a class. </a:t>
            </a:r>
            <a:endParaRPr dirty="0"/>
          </a:p>
          <a:p>
            <a:pPr marL="0" lvl="0" indent="0" algn="l" rtl="0">
              <a:spcBef>
                <a:spcPts val="1200"/>
              </a:spcBef>
              <a:spcAft>
                <a:spcPts val="0"/>
              </a:spcAft>
              <a:buNone/>
            </a:pPr>
            <a:endParaRPr dirty="0"/>
          </a:p>
          <a:p>
            <a:pPr marL="0" lvl="0" indent="0" algn="l" rtl="0">
              <a:spcBef>
                <a:spcPts val="1200"/>
              </a:spcBef>
              <a:spcAft>
                <a:spcPts val="1200"/>
              </a:spcAft>
              <a:buNone/>
            </a:pPr>
            <a:r>
              <a:rPr lang="en" dirty="0"/>
              <a:t> It is normally declared in the public access within the class. For example, let us declare a class with class name ‘circle’. If we use constructor, then the constructor name must also be ‘circle’. T</a:t>
            </a:r>
            <a:endParaRPr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6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86" name="Google Shape;386;p6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In the above program, the constructor circle( ) takes the value of radius from the keyboard.</a:t>
            </a:r>
            <a:endParaRPr dirty="0"/>
          </a:p>
          <a:p>
            <a:pPr marL="0" lvl="0" indent="0" algn="l" rtl="0">
              <a:spcBef>
                <a:spcPts val="1200"/>
              </a:spcBef>
              <a:spcAft>
                <a:spcPts val="0"/>
              </a:spcAft>
              <a:buNone/>
            </a:pPr>
            <a:r>
              <a:rPr lang="en" dirty="0"/>
              <a:t>Although the data member is private, the constructor could initialize them. </a:t>
            </a:r>
            <a:endParaRPr dirty="0"/>
          </a:p>
          <a:p>
            <a:pPr marL="0" lvl="0" indent="0" algn="l" rtl="0">
              <a:spcBef>
                <a:spcPts val="1200"/>
              </a:spcBef>
              <a:spcAft>
                <a:spcPts val="1200"/>
              </a:spcAft>
              <a:buNone/>
            </a:pPr>
            <a:r>
              <a:rPr lang="en" dirty="0"/>
              <a:t>The statement circle c declares a variable c as object of (type) class circle. </a:t>
            </a:r>
          </a:p>
          <a:p>
            <a:pPr marL="0" lvl="0" indent="0" algn="l" rtl="0">
              <a:spcBef>
                <a:spcPts val="1200"/>
              </a:spcBef>
              <a:spcAft>
                <a:spcPts val="1200"/>
              </a:spcAft>
              <a:buNone/>
            </a:pPr>
            <a:r>
              <a:rPr lang="en" dirty="0"/>
              <a:t>It also calls the constructor implicitly.</a:t>
            </a:r>
            <a:endParaRPr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6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 Default Constructors </a:t>
            </a:r>
            <a:endParaRPr/>
          </a:p>
        </p:txBody>
      </p:sp>
      <p:sp>
        <p:nvSpPr>
          <p:cNvPr id="392" name="Google Shape;392;p6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The constructor which takes no arguments is called the default constructor. </a:t>
            </a:r>
            <a:endParaRPr/>
          </a:p>
          <a:p>
            <a:pPr marL="0" lvl="0" indent="0" algn="l" rtl="0">
              <a:spcBef>
                <a:spcPts val="1200"/>
              </a:spcBef>
              <a:spcAft>
                <a:spcPts val="1200"/>
              </a:spcAft>
              <a:buNone/>
            </a:pPr>
            <a:r>
              <a:rPr lang="en"/>
              <a:t>The following code fragment shows the syntax of a default constructor</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6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404" name="Google Shape;404;p6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405" name="Google Shape;405;p69"/>
          <p:cNvPicPr preferRelativeResize="0"/>
          <p:nvPr/>
        </p:nvPicPr>
        <p:blipFill>
          <a:blip r:embed="rId3">
            <a:alphaModFix/>
          </a:blip>
          <a:stretch>
            <a:fillRect/>
          </a:stretch>
        </p:blipFill>
        <p:spPr>
          <a:xfrm>
            <a:off x="1252550" y="1526825"/>
            <a:ext cx="6638925" cy="28832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7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411" name="Google Shape;411;p7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If no constructor is defined for a class, then the compiler supplies the default constructor.</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7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1 Parameterized Constructors</a:t>
            </a:r>
            <a:endParaRPr/>
          </a:p>
        </p:txBody>
      </p:sp>
      <p:sp>
        <p:nvSpPr>
          <p:cNvPr id="417" name="Google Shape;417;p7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en" dirty="0">
                <a:solidFill>
                  <a:srgbClr val="FF0000"/>
                </a:solidFill>
              </a:rPr>
              <a:t>The constructor that can take arguments are called parameterized constructor. </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The arguments can be separated by commas and they can be specified within braces similar to the argument list in function. </a:t>
            </a:r>
            <a:endParaRPr dirty="0"/>
          </a:p>
          <a:p>
            <a:pPr marL="0" lvl="0" indent="0" algn="l" rtl="0">
              <a:spcBef>
                <a:spcPts val="1200"/>
              </a:spcBef>
              <a:spcAft>
                <a:spcPts val="0"/>
              </a:spcAft>
              <a:buNone/>
            </a:pPr>
            <a:r>
              <a:rPr lang="en" dirty="0"/>
              <a:t>When a constructor has been parameterized, the object declaration without parameter may not work.</a:t>
            </a:r>
            <a:endParaRPr dirty="0"/>
          </a:p>
          <a:p>
            <a:pPr marL="0" lvl="0" indent="0" algn="l" rtl="0">
              <a:spcBef>
                <a:spcPts val="1200"/>
              </a:spcBef>
              <a:spcAft>
                <a:spcPts val="0"/>
              </a:spcAft>
              <a:buNone/>
            </a:pPr>
            <a:r>
              <a:rPr lang="en" dirty="0"/>
              <a:t> In case of parameterized constructor, we must provide the appropriate arguments to the constructor when an object is declared. </a:t>
            </a:r>
            <a:endParaRPr dirty="0"/>
          </a:p>
          <a:p>
            <a:pPr marL="0" lvl="0" indent="0" algn="l" rtl="0">
              <a:spcBef>
                <a:spcPts val="1200"/>
              </a:spcBef>
              <a:spcAft>
                <a:spcPts val="0"/>
              </a:spcAft>
              <a:buNone/>
            </a:pPr>
            <a:r>
              <a:rPr lang="en" dirty="0"/>
              <a:t>This can be done in two ways:  </a:t>
            </a:r>
          </a:p>
          <a:p>
            <a:pPr lvl="0" indent="-457200" algn="l" rtl="0">
              <a:spcBef>
                <a:spcPts val="1200"/>
              </a:spcBef>
              <a:spcAft>
                <a:spcPts val="0"/>
              </a:spcAft>
              <a:buAutoNum type="arabicParenR"/>
            </a:pPr>
            <a:r>
              <a:rPr lang="en" sz="1900" dirty="0">
                <a:latin typeface="Arial" panose="020B0604020202020204" pitchFamily="34" charset="0"/>
                <a:cs typeface="Arial" panose="020B0604020202020204" pitchFamily="34" charset="0"/>
              </a:rPr>
              <a:t>By calling the constructor explicitly. </a:t>
            </a:r>
          </a:p>
          <a:p>
            <a:pPr lvl="0" indent="-457200" algn="l" rtl="0">
              <a:spcBef>
                <a:spcPts val="1200"/>
              </a:spcBef>
              <a:spcAft>
                <a:spcPts val="0"/>
              </a:spcAft>
              <a:buAutoNum type="arabicParenR"/>
            </a:pPr>
            <a:r>
              <a:rPr lang="en" sz="1900" dirty="0">
                <a:latin typeface="Arial" panose="020B0604020202020204" pitchFamily="34" charset="0"/>
                <a:cs typeface="Arial" panose="020B0604020202020204" pitchFamily="34" charset="0"/>
              </a:rPr>
              <a:t>By calling the constructor implicitly</a:t>
            </a:r>
            <a:r>
              <a:rPr lang="en" dirty="0"/>
              <a:t>. </a:t>
            </a:r>
          </a:p>
          <a:p>
            <a:pPr marL="0" lvl="0" indent="0" algn="l" rtl="0">
              <a:spcBef>
                <a:spcPts val="1200"/>
              </a:spcBef>
              <a:spcAft>
                <a:spcPts val="1200"/>
              </a:spcAft>
              <a:buNone/>
            </a:pPr>
            <a:r>
              <a:rPr lang="en" dirty="0"/>
              <a:t>The implicit call method is sometimes known as shorthand method as it is shorter and is easy to implement.</a:t>
            </a:r>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7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429" name="Google Shape;429;p7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0"/>
              </a:spcAft>
              <a:buNone/>
            </a:pPr>
            <a:r>
              <a:rPr lang="en" dirty="0"/>
              <a:t>In the above program, the statement </a:t>
            </a:r>
            <a:endParaRPr dirty="0"/>
          </a:p>
          <a:p>
            <a:pPr marL="0" lvl="0" indent="0" algn="l" rtl="0">
              <a:spcBef>
                <a:spcPts val="1200"/>
              </a:spcBef>
              <a:spcAft>
                <a:spcPts val="0"/>
              </a:spcAft>
              <a:buNone/>
            </a:pPr>
            <a:r>
              <a:rPr lang="en" dirty="0"/>
              <a:t>student(int r, int m, int a, ); </a:t>
            </a:r>
            <a:endParaRPr dirty="0"/>
          </a:p>
          <a:p>
            <a:pPr marL="0" lvl="0" indent="0" algn="l" rtl="0">
              <a:spcBef>
                <a:spcPts val="1200"/>
              </a:spcBef>
              <a:spcAft>
                <a:spcPts val="0"/>
              </a:spcAft>
              <a:buNone/>
            </a:pPr>
            <a:r>
              <a:rPr lang="en" dirty="0"/>
              <a:t>is a parameterized constructor with two arguments. </a:t>
            </a:r>
            <a:endParaRPr dirty="0"/>
          </a:p>
          <a:p>
            <a:pPr marL="0" lvl="0" indent="0" algn="l" rtl="0">
              <a:spcBef>
                <a:spcPts val="1200"/>
              </a:spcBef>
              <a:spcAft>
                <a:spcPts val="0"/>
              </a:spcAft>
              <a:buNone/>
            </a:pPr>
            <a:r>
              <a:rPr lang="en" dirty="0"/>
              <a:t>In the main( ) function, we see that there are two objects, manoj and rahul of class type student. </a:t>
            </a:r>
            <a:endParaRPr dirty="0"/>
          </a:p>
          <a:p>
            <a:pPr marL="0" lvl="0" indent="0" algn="l" rtl="0">
              <a:spcBef>
                <a:spcPts val="1200"/>
              </a:spcBef>
              <a:spcAft>
                <a:spcPts val="0"/>
              </a:spcAft>
              <a:buNone/>
            </a:pPr>
            <a:r>
              <a:rPr lang="en" dirty="0"/>
              <a:t>The object manoj is initialized with the values 5,430 and16 with the implicit call statement student manoj(5, 430,16);.</a:t>
            </a:r>
            <a:endParaRPr dirty="0"/>
          </a:p>
          <a:p>
            <a:pPr marL="0" lvl="0" indent="0" algn="l" rtl="0">
              <a:spcBef>
                <a:spcPts val="1200"/>
              </a:spcBef>
              <a:spcAft>
                <a:spcPts val="0"/>
              </a:spcAft>
              <a:buNone/>
            </a:pPr>
            <a:r>
              <a:rPr lang="en" dirty="0"/>
              <a:t> The object rahul is initialized with the values 6,380 and 15 with the explicit call statement student    rahul = student(6, 380,15);</a:t>
            </a:r>
            <a:endParaRPr dirty="0"/>
          </a:p>
          <a:p>
            <a:pPr marL="0" lvl="0" indent="0" algn="l" rtl="0">
              <a:spcBef>
                <a:spcPts val="1200"/>
              </a:spcBef>
              <a:spcAft>
                <a:spcPts val="1200"/>
              </a:spcAft>
              <a:buNone/>
            </a:pPr>
            <a:r>
              <a:rPr lang="en" dirty="0"/>
              <a:t> This statement creates a student object rahul and passes the values 6, 380 and 15 to it.  </a:t>
            </a:r>
            <a:endParaRP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7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Constructors with Default Arguments </a:t>
            </a:r>
            <a:endParaRPr/>
          </a:p>
        </p:txBody>
      </p:sp>
      <p:sp>
        <p:nvSpPr>
          <p:cNvPr id="435" name="Google Shape;435;p7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0000" lnSpcReduction="10000"/>
          </a:bodyPr>
          <a:lstStyle/>
          <a:p>
            <a:pPr marL="0" lvl="0" indent="0" algn="l" rtl="0">
              <a:spcBef>
                <a:spcPts val="0"/>
              </a:spcBef>
              <a:spcAft>
                <a:spcPts val="0"/>
              </a:spcAft>
              <a:buNone/>
            </a:pPr>
            <a:r>
              <a:rPr lang="en"/>
              <a:t>It is possible to have a constructor with arguments having default values. </a:t>
            </a:r>
            <a:endParaRPr/>
          </a:p>
          <a:p>
            <a:pPr marL="0" lvl="0" indent="0" algn="l" rtl="0">
              <a:spcBef>
                <a:spcPts val="1200"/>
              </a:spcBef>
              <a:spcAft>
                <a:spcPts val="0"/>
              </a:spcAft>
              <a:buNone/>
            </a:pPr>
            <a:r>
              <a:rPr lang="en"/>
              <a:t>It means that if we have a parameterized constructor with n parameters, then we can invoke it with less than n parameters specified in the call. </a:t>
            </a:r>
            <a:endParaRPr/>
          </a:p>
          <a:p>
            <a:pPr marL="0" lvl="0" indent="0" algn="l" rtl="0">
              <a:spcBef>
                <a:spcPts val="1200"/>
              </a:spcBef>
              <a:spcAft>
                <a:spcPts val="0"/>
              </a:spcAft>
              <a:buNone/>
            </a:pPr>
            <a:r>
              <a:rPr lang="en"/>
              <a:t>It is useful when most of the objects to be created are likely to have the same value for some data members. </a:t>
            </a:r>
            <a:endParaRPr/>
          </a:p>
          <a:p>
            <a:pPr marL="0" lvl="0" indent="0" algn="l" rtl="0">
              <a:spcBef>
                <a:spcPts val="1200"/>
              </a:spcBef>
              <a:spcAft>
                <a:spcPts val="0"/>
              </a:spcAft>
              <a:buNone/>
            </a:pPr>
            <a:r>
              <a:rPr lang="en"/>
              <a:t>We need not specify that in every invocation.</a:t>
            </a:r>
            <a:endParaRPr/>
          </a:p>
          <a:p>
            <a:pPr marL="0" lvl="0" indent="0" algn="l" rtl="0">
              <a:spcBef>
                <a:spcPts val="1200"/>
              </a:spcBef>
              <a:spcAft>
                <a:spcPts val="0"/>
              </a:spcAft>
              <a:buNone/>
            </a:pPr>
            <a:r>
              <a:rPr lang="en"/>
              <a:t> For example, suppose we want to record the data of class x (ten) students. </a:t>
            </a:r>
            <a:endParaRPr/>
          </a:p>
          <a:p>
            <a:pPr marL="0" lvl="0" indent="0" algn="l" rtl="0">
              <a:spcBef>
                <a:spcPts val="1200"/>
              </a:spcBef>
              <a:spcAft>
                <a:spcPts val="1200"/>
              </a:spcAft>
              <a:buNone/>
            </a:pPr>
            <a:r>
              <a:rPr lang="en"/>
              <a:t>For this, we can consider the same class student as shown in Program 8.2. Most of the students are of age 16. Hence, their birth year is likely to be the same. Only a few of them may have a different year of birth. For this we can use the statement student(int r, int m, int a=16); where the third parameter is given the default value. When we write the following statement student s(1,360); it assigns the values 1 and 360 to the argument r and m respectively and 16 to the argument a by default. Again, if we write student t(2,400,15); it assigns 2, 400 and 15 to r, m and a respectively. Thus, the actual arguments, when specified, overrides the default values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7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Copy Constructors </a:t>
            </a:r>
            <a:endParaRPr/>
          </a:p>
        </p:txBody>
      </p:sp>
      <p:sp>
        <p:nvSpPr>
          <p:cNvPr id="441" name="Google Shape;441;p7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Object of the same class cannot be passed as argument to constructor to that class by value method.</a:t>
            </a: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pic>
        <p:nvPicPr>
          <p:cNvPr id="442" name="Google Shape;442;p75"/>
          <p:cNvPicPr preferRelativeResize="0"/>
          <p:nvPr/>
        </p:nvPicPr>
        <p:blipFill>
          <a:blip r:embed="rId3">
            <a:alphaModFix/>
          </a:blip>
          <a:stretch>
            <a:fillRect/>
          </a:stretch>
        </p:blipFill>
        <p:spPr>
          <a:xfrm>
            <a:off x="1966913" y="1614488"/>
            <a:ext cx="5210175" cy="191452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7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448" name="Google Shape;448;p7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Such type of constructor, i.e., a constructor having parameter which is a reference to object of the same class is called a copy constructor. Thus, the following declaration is a valid declaration.</a:t>
            </a:r>
            <a:endParaRPr/>
          </a:p>
          <a:p>
            <a:pPr marL="0" lvl="0" indent="0" algn="l" rtl="0">
              <a:spcBef>
                <a:spcPts val="1200"/>
              </a:spcBef>
              <a:spcAft>
                <a:spcPts val="1200"/>
              </a:spcAft>
              <a:buNone/>
            </a:pPr>
            <a:endParaRPr/>
          </a:p>
        </p:txBody>
      </p:sp>
      <p:pic>
        <p:nvPicPr>
          <p:cNvPr id="449" name="Google Shape;449;p76"/>
          <p:cNvPicPr preferRelativeResize="0"/>
          <p:nvPr/>
        </p:nvPicPr>
        <p:blipFill>
          <a:blip r:embed="rId3">
            <a:alphaModFix/>
          </a:blip>
          <a:stretch>
            <a:fillRect/>
          </a:stretch>
        </p:blipFill>
        <p:spPr>
          <a:xfrm>
            <a:off x="1809750" y="2571744"/>
            <a:ext cx="5524500" cy="15002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7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455" name="Google Shape;455;p7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Copy constructor is also called one argument constructor as it takes only one argument. </a:t>
            </a:r>
            <a:endParaRPr/>
          </a:p>
          <a:p>
            <a:pPr marL="0" lvl="0" indent="0" algn="l" rtl="0">
              <a:spcBef>
                <a:spcPts val="1200"/>
              </a:spcBef>
              <a:spcAft>
                <a:spcPts val="0"/>
              </a:spcAft>
              <a:buNone/>
            </a:pPr>
            <a:r>
              <a:rPr lang="en"/>
              <a:t>The main use of copy constructor is to initialize the objects while in creation, also used to copy an object. </a:t>
            </a:r>
            <a:endParaRPr/>
          </a:p>
          <a:p>
            <a:pPr marL="0" lvl="0" indent="0" algn="l" rtl="0">
              <a:spcBef>
                <a:spcPts val="1200"/>
              </a:spcBef>
              <a:spcAft>
                <a:spcPts val="1200"/>
              </a:spcAft>
              <a:buNone/>
            </a:pPr>
            <a:r>
              <a:rPr lang="en"/>
              <a:t>This constructor allows the programmer to create a new object from an existing one by initialization</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7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461" name="Google Shape;461;p7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7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DESTRUCTORS </a:t>
            </a:r>
            <a:endParaRPr/>
          </a:p>
        </p:txBody>
      </p:sp>
      <p:sp>
        <p:nvSpPr>
          <p:cNvPr id="467" name="Google Shape;467;p7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Like constructors, destructors are also special member functions used in C++ programming language.</a:t>
            </a:r>
            <a:endParaRPr/>
          </a:p>
          <a:p>
            <a:pPr marL="0" lvl="0" indent="0" algn="l" rtl="0">
              <a:spcBef>
                <a:spcPts val="1200"/>
              </a:spcBef>
              <a:spcAft>
                <a:spcPts val="0"/>
              </a:spcAft>
              <a:buNone/>
            </a:pPr>
            <a:r>
              <a:rPr lang="en"/>
              <a:t> Destructors have the opposite function of a constructor. </a:t>
            </a:r>
            <a:endParaRPr/>
          </a:p>
          <a:p>
            <a:pPr marL="0" lvl="0" indent="0" algn="l" rtl="0">
              <a:spcBef>
                <a:spcPts val="1200"/>
              </a:spcBef>
              <a:spcAft>
                <a:spcPts val="0"/>
              </a:spcAft>
              <a:buNone/>
            </a:pPr>
            <a:r>
              <a:rPr lang="en"/>
              <a:t>The main function of destructors is to free memory and to release resources. </a:t>
            </a:r>
            <a:endParaRPr/>
          </a:p>
          <a:p>
            <a:pPr marL="0" lvl="0" indent="0" algn="l" rtl="0">
              <a:spcBef>
                <a:spcPts val="1200"/>
              </a:spcBef>
              <a:spcAft>
                <a:spcPts val="0"/>
              </a:spcAft>
              <a:buNone/>
            </a:pPr>
            <a:r>
              <a:rPr lang="en"/>
              <a:t>Destructors take the same name as that of the class name preceded by a tilde ~. </a:t>
            </a:r>
            <a:endParaRPr/>
          </a:p>
          <a:p>
            <a:pPr marL="0" lvl="0" indent="0" algn="l" rtl="0">
              <a:spcBef>
                <a:spcPts val="1200"/>
              </a:spcBef>
              <a:spcAft>
                <a:spcPts val="0"/>
              </a:spcAft>
              <a:buNone/>
            </a:pPr>
            <a:r>
              <a:rPr lang="en"/>
              <a:t>A destructor takes no arguments and has no return type.</a:t>
            </a:r>
            <a:endParaRPr/>
          </a:p>
          <a:p>
            <a:pPr marL="0" lvl="0" indent="0" algn="l" rtl="0">
              <a:spcBef>
                <a:spcPts val="1200"/>
              </a:spcBef>
              <a:spcAft>
                <a:spcPts val="1200"/>
              </a:spcAft>
              <a:buNone/>
            </a:pPr>
            <a:r>
              <a:rPr lang="en"/>
              <a:t>The general syntax of a destructor is as follows: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8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473" name="Google Shape;473;p8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474" name="Google Shape;474;p80"/>
          <p:cNvPicPr preferRelativeResize="0"/>
          <p:nvPr/>
        </p:nvPicPr>
        <p:blipFill>
          <a:blip r:embed="rId3">
            <a:alphaModFix/>
          </a:blip>
          <a:stretch>
            <a:fillRect/>
          </a:stretch>
        </p:blipFill>
        <p:spPr>
          <a:xfrm>
            <a:off x="1681163" y="690563"/>
            <a:ext cx="5781675" cy="37623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8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480" name="Google Shape;480;p8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In the above, the symbol tilde ~ represents a destructor which precedes the name of the class. </a:t>
            </a:r>
            <a:endParaRPr/>
          </a:p>
          <a:p>
            <a:pPr marL="0" lvl="0" indent="0" algn="l" rtl="0">
              <a:spcBef>
                <a:spcPts val="1200"/>
              </a:spcBef>
              <a:spcAft>
                <a:spcPts val="0"/>
              </a:spcAft>
              <a:buNone/>
            </a:pPr>
            <a:r>
              <a:rPr lang="en"/>
              <a:t>Like the default constructor, the compiler always creates a default destructor if we donot create one. </a:t>
            </a:r>
            <a:endParaRPr/>
          </a:p>
          <a:p>
            <a:pPr marL="0" lvl="0" indent="0" algn="l" rtl="0">
              <a:spcBef>
                <a:spcPts val="1200"/>
              </a:spcBef>
              <a:spcAft>
                <a:spcPts val="0"/>
              </a:spcAft>
              <a:buNone/>
            </a:pPr>
            <a:r>
              <a:rPr lang="en"/>
              <a:t>Similar to  constructors, a destructor must be declared in the public section of a class. </a:t>
            </a:r>
            <a:endParaRPr/>
          </a:p>
          <a:p>
            <a:pPr marL="0" lvl="0" indent="0" algn="l" rtl="0">
              <a:spcBef>
                <a:spcPts val="1200"/>
              </a:spcBef>
              <a:spcAft>
                <a:spcPts val="1200"/>
              </a:spcAft>
              <a:buNone/>
            </a:pPr>
            <a:r>
              <a:rPr lang="en"/>
              <a:t>Destructor cannot be overloaded i.e., a class cannot have more than one destructor</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8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486" name="Google Shape;486;p8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The following points should be kept in mind while defining and writing the syntax for the destructor </a:t>
            </a:r>
            <a:endParaRPr/>
          </a:p>
          <a:p>
            <a:pPr marL="0" lvl="0" indent="457200" algn="l" rtl="0">
              <a:spcBef>
                <a:spcPts val="1200"/>
              </a:spcBef>
              <a:spcAft>
                <a:spcPts val="0"/>
              </a:spcAft>
              <a:buNone/>
            </a:pPr>
            <a:r>
              <a:rPr lang="en"/>
              <a:t> A destructor must be declared with the same name as that of the class to which it belongs. </a:t>
            </a:r>
            <a:endParaRPr/>
          </a:p>
          <a:p>
            <a:pPr marL="457200" lvl="0" indent="0" algn="l" rtl="0">
              <a:spcBef>
                <a:spcPts val="1200"/>
              </a:spcBef>
              <a:spcAft>
                <a:spcPts val="0"/>
              </a:spcAft>
              <a:buNone/>
            </a:pPr>
            <a:r>
              <a:rPr lang="en"/>
              <a:t>But destructor name should be preceeded by a tilde (~).  </a:t>
            </a:r>
            <a:endParaRPr/>
          </a:p>
          <a:p>
            <a:pPr marL="457200" lvl="0" indent="0" algn="l" rtl="0">
              <a:spcBef>
                <a:spcPts val="1200"/>
              </a:spcBef>
              <a:spcAft>
                <a:spcPts val="0"/>
              </a:spcAft>
              <a:buNone/>
            </a:pPr>
            <a:r>
              <a:rPr lang="en"/>
              <a:t>A destructor should be declared with no return type.  </a:t>
            </a:r>
            <a:endParaRPr/>
          </a:p>
          <a:p>
            <a:pPr marL="457200" lvl="0" indent="0" algn="l" rtl="0">
              <a:spcBef>
                <a:spcPts val="1200"/>
              </a:spcBef>
              <a:spcAft>
                <a:spcPts val="1200"/>
              </a:spcAft>
              <a:buNone/>
            </a:pPr>
            <a:r>
              <a:rPr lang="en"/>
              <a:t>A destructor must have public access in the class declaration.</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TotalTime>
  <Words>3820</Words>
  <Application>Microsoft Office PowerPoint</Application>
  <PresentationFormat>On-screen Show (16:9)</PresentationFormat>
  <Paragraphs>221</Paragraphs>
  <Slides>60</Slides>
  <Notes>60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60</vt:i4>
      </vt:variant>
    </vt:vector>
  </HeadingPairs>
  <TitlesOfParts>
    <vt:vector size="62" baseType="lpstr">
      <vt:lpstr>Arial</vt:lpstr>
      <vt:lpstr>Simple Light</vt:lpstr>
      <vt:lpstr>Object Oriented Programming</vt:lpstr>
      <vt:lpstr>Object</vt:lpstr>
      <vt:lpstr>PowerPoint Presentation</vt:lpstr>
      <vt:lpstr>PowerPoint Presentation</vt:lpstr>
      <vt:lpstr>Class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Access Control in a Class </vt:lpstr>
      <vt:lpstr>PowerPoint Presentation</vt:lpstr>
      <vt:lpstr>PowerPoint Presentation</vt:lpstr>
      <vt:lpstr>DECLARING OBJECTS</vt:lpstr>
      <vt:lpstr>PowerPoint Presentation</vt:lpstr>
      <vt:lpstr>PowerPoint Presentation</vt:lpstr>
      <vt:lpstr>PowerPoint Presentation</vt:lpstr>
      <vt:lpstr>8.5.1 Accessing Class Members </vt:lpstr>
      <vt:lpstr>DEFINING MEMBER FUNCTIONS</vt:lpstr>
      <vt:lpstr> Member Function Inside a Class </vt:lpstr>
      <vt:lpstr>Member Function outside a Class</vt:lpstr>
      <vt:lpstr>PowerPoint Presentation</vt:lpstr>
      <vt:lpstr>PowerPoint Presentation</vt:lpstr>
      <vt:lpstr>PowerPoint Presentation</vt:lpstr>
      <vt:lpstr>ARRAY OF OBJECTS </vt:lpstr>
      <vt:lpstr>PowerPoint Presentation</vt:lpstr>
      <vt:lpstr>PowerPoint Presentation</vt:lpstr>
      <vt:lpstr>PowerPoint Presentation</vt:lpstr>
      <vt:lpstr>PowerPoint Presentation</vt:lpstr>
      <vt:lpstr>PowerPoint Presentation</vt:lpstr>
      <vt:lpstr>OBJECTS AS FUNCTION ARGUMENTS</vt:lpstr>
      <vt:lpstr>Pass-by-value </vt:lpstr>
      <vt:lpstr> Pass-by-Reference</vt:lpstr>
      <vt:lpstr>Pass-by-Pointer</vt:lpstr>
      <vt:lpstr>FRIEND FUNCITON AND FRIEND CLASS</vt:lpstr>
      <vt:lpstr>PowerPoint Presentation</vt:lpstr>
      <vt:lpstr>PowerPoint Presentation</vt:lpstr>
      <vt:lpstr>PowerPoint Presentation</vt:lpstr>
      <vt:lpstr>PowerPoint Presentation</vt:lpstr>
      <vt:lpstr>CONSTRUCTORS AND DESTRUCTORS</vt:lpstr>
      <vt:lpstr>CONSTRUCTORS </vt:lpstr>
      <vt:lpstr>PowerPoint Presentation</vt:lpstr>
      <vt:lpstr>PowerPoint Presentation</vt:lpstr>
      <vt:lpstr>PowerPoint Presentation</vt:lpstr>
      <vt:lpstr>The Default Constructors </vt:lpstr>
      <vt:lpstr>PowerPoint Presentation</vt:lpstr>
      <vt:lpstr>PowerPoint Presentation</vt:lpstr>
      <vt:lpstr>1 Parameterized Constructors</vt:lpstr>
      <vt:lpstr>PowerPoint Presentation</vt:lpstr>
      <vt:lpstr>Constructors with Default Arguments </vt:lpstr>
      <vt:lpstr>Copy Constructors </vt:lpstr>
      <vt:lpstr>PowerPoint Presentation</vt:lpstr>
      <vt:lpstr>PowerPoint Presentation</vt:lpstr>
      <vt:lpstr>PowerPoint Presentation</vt:lpstr>
      <vt:lpstr>DESTRUCTORS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NIMISHA ANN JOSE</cp:lastModifiedBy>
  <cp:revision>3</cp:revision>
  <dcterms:modified xsi:type="dcterms:W3CDTF">2025-03-12T08:20:19Z</dcterms:modified>
</cp:coreProperties>
</file>