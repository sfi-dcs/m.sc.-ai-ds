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8" r:id="rId5"/>
    <p:sldId id="269" r:id="rId6"/>
    <p:sldId id="270" r:id="rId7"/>
    <p:sldId id="271" r:id="rId8"/>
    <p:sldId id="259" r:id="rId9"/>
    <p:sldId id="260" r:id="rId10"/>
    <p:sldId id="261" r:id="rId11"/>
    <p:sldId id="262"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8" d="100"/>
          <a:sy n="98" d="100"/>
        </p:scale>
        <p:origin x="11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31891-7391-A046-6899-F84C2DEC0A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8BA2CC-C0F1-E8F8-45A6-C1A9D263EF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ECAB31-2D9C-E507-CA45-E5A72CC9E2C0}"/>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5" name="Footer Placeholder 4">
            <a:extLst>
              <a:ext uri="{FF2B5EF4-FFF2-40B4-BE49-F238E27FC236}">
                <a16:creationId xmlns:a16="http://schemas.microsoft.com/office/drawing/2014/main" id="{A999C0A0-2B20-561E-4147-8E746374B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7F8F01-37E3-7297-E827-D3772405089E}"/>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2604645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C1D13-298A-D5E8-D0BF-F3E8D0A132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AC6A67-06E8-2BE8-B68C-6BED75D39F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4A6B31-72C9-584F-AA86-CDD57D922550}"/>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5" name="Footer Placeholder 4">
            <a:extLst>
              <a:ext uri="{FF2B5EF4-FFF2-40B4-BE49-F238E27FC236}">
                <a16:creationId xmlns:a16="http://schemas.microsoft.com/office/drawing/2014/main" id="{C2A7E887-D980-1702-B006-B0E09B7111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C68481-7555-1FF5-898E-3289A664D8D0}"/>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1464143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D15CC-D5E8-AC8D-2145-4A5C80007E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219DF1B-19F3-DED5-3C79-03211A582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67ED26-3C3D-3BE1-A739-5137C6C01382}"/>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5" name="Footer Placeholder 4">
            <a:extLst>
              <a:ext uri="{FF2B5EF4-FFF2-40B4-BE49-F238E27FC236}">
                <a16:creationId xmlns:a16="http://schemas.microsoft.com/office/drawing/2014/main" id="{2902E832-54D7-4BD3-F35F-3F3AD79261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39ADCF-E699-36AB-D3C2-A96D8099B051}"/>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2363345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6E2DF-12F2-3342-9225-3481B8C587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D59090-186F-E034-A8ED-2BFA9CE1E0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5096B7-E487-5722-8D78-AE90A65B64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E3B760-5FC3-CCBD-FFA7-5EDEDEE752F1}"/>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6" name="Footer Placeholder 5">
            <a:extLst>
              <a:ext uri="{FF2B5EF4-FFF2-40B4-BE49-F238E27FC236}">
                <a16:creationId xmlns:a16="http://schemas.microsoft.com/office/drawing/2014/main" id="{965DE7F2-5D23-4FC9-C027-EE1D0F8F14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506F60-D9A0-76A6-03FD-D5B90CFE1279}"/>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2912280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9128-F449-5B3A-31D2-059DFC0FD2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EA6092-375F-2D31-B7DB-58B0C73800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9D5248-95AA-1969-C4E7-E6FF246E6B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892A15-C5DA-A2FA-C765-7F085A96B0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93C820-7C84-2DCF-5EEF-07FC14531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29DAB0C-B5EC-8098-03E3-F1E61C4144C3}"/>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8" name="Footer Placeholder 7">
            <a:extLst>
              <a:ext uri="{FF2B5EF4-FFF2-40B4-BE49-F238E27FC236}">
                <a16:creationId xmlns:a16="http://schemas.microsoft.com/office/drawing/2014/main" id="{C22EBBD8-A7C3-D9F8-8805-9402990A7B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9C02B4-3001-BE24-940E-81F270B2B9F1}"/>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3359552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93312-5DBD-A43A-B52E-BB0D1C4EA1C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08CC8D-71EC-CC9B-7418-95937CA58533}"/>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4" name="Footer Placeholder 3">
            <a:extLst>
              <a:ext uri="{FF2B5EF4-FFF2-40B4-BE49-F238E27FC236}">
                <a16:creationId xmlns:a16="http://schemas.microsoft.com/office/drawing/2014/main" id="{11D9D5C0-1B50-1950-5C15-F8D66B9A6F6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DD7AFFA-5951-D1E9-439F-B867C25BA6AE}"/>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1091886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7E24CA-27D5-BA81-ADB9-B989DC93D5AE}"/>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3" name="Footer Placeholder 2">
            <a:extLst>
              <a:ext uri="{FF2B5EF4-FFF2-40B4-BE49-F238E27FC236}">
                <a16:creationId xmlns:a16="http://schemas.microsoft.com/office/drawing/2014/main" id="{6CB2CC89-DE65-B16E-EDD5-369E5D10B2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AF1E5A4-D2EB-D3D6-9667-B092ADC350BF}"/>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1274602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43C7D-B36E-F1D0-3E48-6954567651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3227F5-C5C3-0D2C-3798-B83C3FE245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EEDD82-130D-692F-AF58-BCF96956D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52BDE-A913-E45E-8F89-E8ABBCE8BD5C}"/>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6" name="Footer Placeholder 5">
            <a:extLst>
              <a:ext uri="{FF2B5EF4-FFF2-40B4-BE49-F238E27FC236}">
                <a16:creationId xmlns:a16="http://schemas.microsoft.com/office/drawing/2014/main" id="{C5D60017-47E7-F154-DE6F-64A3470D60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F8CA06-D407-00A0-FD3D-6E1876ACF0E2}"/>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2050737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7BAE-EBDD-A9CF-40E7-D2922AD184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5F31B6-B90C-7BF0-D499-078CB8FE47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4BE839-B97F-9E8C-3463-DE03E6370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A07CBB-CC41-E05A-861B-F980025ABD9B}"/>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6" name="Footer Placeholder 5">
            <a:extLst>
              <a:ext uri="{FF2B5EF4-FFF2-40B4-BE49-F238E27FC236}">
                <a16:creationId xmlns:a16="http://schemas.microsoft.com/office/drawing/2014/main" id="{1541F67F-2CB2-644F-5DFC-972ADF5233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CF96A0-75FE-797F-501C-AD01668272AA}"/>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1531584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5E602-D039-2649-5474-A2F3C5E658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19C716-3894-F84E-A7CF-A062187D25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E7BB04-FE6F-7DB0-E13F-D34494EB39B5}"/>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5" name="Footer Placeholder 4">
            <a:extLst>
              <a:ext uri="{FF2B5EF4-FFF2-40B4-BE49-F238E27FC236}">
                <a16:creationId xmlns:a16="http://schemas.microsoft.com/office/drawing/2014/main" id="{D06D531E-7380-BFEF-C7DC-10671A2510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A251DD-1FB3-CEA8-25AC-618A1DEC1ACE}"/>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2068037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F10979-4512-65D4-AD53-7CB828FBE6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63D150-5CC3-1431-BD17-04713EF8E2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E65FFF-EC71-2633-30AC-D99D55F134AC}"/>
              </a:ext>
            </a:extLst>
          </p:cNvPr>
          <p:cNvSpPr>
            <a:spLocks noGrp="1"/>
          </p:cNvSpPr>
          <p:nvPr>
            <p:ph type="dt" sz="half" idx="10"/>
          </p:nvPr>
        </p:nvSpPr>
        <p:spPr/>
        <p:txBody>
          <a:bodyPr/>
          <a:lstStyle/>
          <a:p>
            <a:fld id="{54A826C8-E36E-4C16-AD09-94E407F644D3}" type="datetimeFigureOut">
              <a:rPr lang="en-IN" smtClean="0"/>
              <a:t>08-01-2025</a:t>
            </a:fld>
            <a:endParaRPr lang="en-IN"/>
          </a:p>
        </p:txBody>
      </p:sp>
      <p:sp>
        <p:nvSpPr>
          <p:cNvPr id="5" name="Footer Placeholder 4">
            <a:extLst>
              <a:ext uri="{FF2B5EF4-FFF2-40B4-BE49-F238E27FC236}">
                <a16:creationId xmlns:a16="http://schemas.microsoft.com/office/drawing/2014/main" id="{2417212D-B266-8A6A-2C84-E80C38161B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4B887C-2627-5C0E-EE27-C42EEDB38194}"/>
              </a:ext>
            </a:extLst>
          </p:cNvPr>
          <p:cNvSpPr>
            <a:spLocks noGrp="1"/>
          </p:cNvSpPr>
          <p:nvPr>
            <p:ph type="sldNum" sz="quarter" idx="12"/>
          </p:nvPr>
        </p:nvSpPr>
        <p:spPr/>
        <p:txBody>
          <a:bodyPr/>
          <a:lstStyle/>
          <a:p>
            <a:fld id="{EDC4AB90-4145-4C0B-836C-E5060CAE5527}" type="slidenum">
              <a:rPr lang="en-IN" smtClean="0"/>
              <a:t>‹#›</a:t>
            </a:fld>
            <a:endParaRPr lang="en-IN"/>
          </a:p>
        </p:txBody>
      </p:sp>
    </p:spTree>
    <p:extLst>
      <p:ext uri="{BB962C8B-B14F-4D97-AF65-F5344CB8AC3E}">
        <p14:creationId xmlns:p14="http://schemas.microsoft.com/office/powerpoint/2010/main" val="3882514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AC195B-1641-7F98-63F4-6BA88E550B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0B6B5EB-3AB5-7DBB-1DF8-4DCB440D63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8C1850-94FC-5A7E-33BB-4BA037E38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A826C8-E36E-4C16-AD09-94E407F644D3}" type="datetimeFigureOut">
              <a:rPr lang="en-IN" smtClean="0"/>
              <a:t>08-01-2025</a:t>
            </a:fld>
            <a:endParaRPr lang="en-IN"/>
          </a:p>
        </p:txBody>
      </p:sp>
      <p:sp>
        <p:nvSpPr>
          <p:cNvPr id="5" name="Footer Placeholder 4">
            <a:extLst>
              <a:ext uri="{FF2B5EF4-FFF2-40B4-BE49-F238E27FC236}">
                <a16:creationId xmlns:a16="http://schemas.microsoft.com/office/drawing/2014/main" id="{C6310591-0710-5339-D17E-F8841122EE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A4521A4-6377-33FE-1958-EA5D5437A4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C4AB90-4145-4C0B-836C-E5060CAE5527}" type="slidenum">
              <a:rPr lang="en-IN" smtClean="0"/>
              <a:t>‹#›</a:t>
            </a:fld>
            <a:endParaRPr lang="en-IN"/>
          </a:p>
        </p:txBody>
      </p:sp>
    </p:spTree>
    <p:extLst>
      <p:ext uri="{BB962C8B-B14F-4D97-AF65-F5344CB8AC3E}">
        <p14:creationId xmlns:p14="http://schemas.microsoft.com/office/powerpoint/2010/main" val="7863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7CCB4-A0B9-AF5F-3691-D37FD840BE08}"/>
              </a:ext>
            </a:extLst>
          </p:cNvPr>
          <p:cNvSpPr>
            <a:spLocks noGrp="1"/>
          </p:cNvSpPr>
          <p:nvPr>
            <p:ph type="ctrTitle"/>
          </p:nvPr>
        </p:nvSpPr>
        <p:spPr>
          <a:xfrm>
            <a:off x="1488141" y="1945341"/>
            <a:ext cx="8964706" cy="3241022"/>
          </a:xfrm>
        </p:spPr>
        <p:txBody>
          <a:bodyPr>
            <a:normAutofit fontScale="90000"/>
          </a:bodyPr>
          <a:lstStyle/>
          <a:p>
            <a:r>
              <a:rPr lang="en-US" b="0" i="0" dirty="0">
                <a:solidFill>
                  <a:srgbClr val="0070C0"/>
                </a:solidFill>
                <a:effectLst/>
                <a:latin typeface="Open Sans" panose="020B0606030504020204" pitchFamily="34" charset="0"/>
              </a:rPr>
              <a:t>Potential Benefits, Limits and Costs of Parallel Programming</a:t>
            </a:r>
            <a:br>
              <a:rPr lang="en-US" b="0" i="0" dirty="0">
                <a:solidFill>
                  <a:srgbClr val="0070C0"/>
                </a:solidFill>
                <a:effectLst/>
                <a:latin typeface="Open Sans" panose="020B0606030504020204" pitchFamily="34" charset="0"/>
              </a:rPr>
            </a:br>
            <a:endParaRPr lang="en-IN" dirty="0">
              <a:solidFill>
                <a:srgbClr val="0070C0"/>
              </a:solidFill>
            </a:endParaRPr>
          </a:p>
        </p:txBody>
      </p:sp>
    </p:spTree>
    <p:extLst>
      <p:ext uri="{BB962C8B-B14F-4D97-AF65-F5344CB8AC3E}">
        <p14:creationId xmlns:p14="http://schemas.microsoft.com/office/powerpoint/2010/main" val="1479229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B735E-B53A-ECFC-4595-CAB25FB82714}"/>
              </a:ext>
            </a:extLst>
          </p:cNvPr>
          <p:cNvSpPr>
            <a:spLocks noGrp="1"/>
          </p:cNvSpPr>
          <p:nvPr>
            <p:ph type="title"/>
          </p:nvPr>
        </p:nvSpPr>
        <p:spPr/>
        <p:txBody>
          <a:bodyPr/>
          <a:lstStyle/>
          <a:p>
            <a:r>
              <a:rPr lang="en-IN" b="0" i="0" dirty="0">
                <a:solidFill>
                  <a:srgbClr val="212529"/>
                </a:solidFill>
                <a:effectLst/>
                <a:latin typeface="Open Sans" panose="020B0606030504020204" pitchFamily="34" charset="0"/>
              </a:rPr>
              <a:t>Amdahl's Law</a:t>
            </a:r>
            <a:br>
              <a:rPr lang="en-IN" b="0" i="0" dirty="0">
                <a:solidFill>
                  <a:srgbClr val="2125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7021189E-B22E-751A-A5A4-C37785F3D59C}"/>
              </a:ext>
            </a:extLst>
          </p:cNvPr>
          <p:cNvSpPr>
            <a:spLocks noGrp="1"/>
          </p:cNvSpPr>
          <p:nvPr>
            <p:ph idx="1"/>
          </p:nvPr>
        </p:nvSpPr>
        <p:spPr>
          <a:xfrm>
            <a:off x="654424" y="1317812"/>
            <a:ext cx="10699376" cy="4859151"/>
          </a:xfrm>
        </p:spPr>
        <p:txBody>
          <a:bodyPr>
            <a:normAutofit fontScale="40000" lnSpcReduction="20000"/>
          </a:bodyPr>
          <a:lstStyle/>
          <a:p>
            <a:r>
              <a:rPr lang="en-US" sz="8600" b="0" i="0" dirty="0">
                <a:solidFill>
                  <a:srgbClr val="212529"/>
                </a:solidFill>
                <a:effectLst/>
              </a:rPr>
              <a:t>Amdahl's Law states that potential program speedup is defined by the fraction of code (P) that can be parallelized</a:t>
            </a:r>
            <a:r>
              <a:rPr lang="en-US" sz="8600" b="1" i="0" dirty="0">
                <a:solidFill>
                  <a:srgbClr val="212529"/>
                </a:solidFill>
                <a:effectLst/>
              </a:rPr>
              <a:t>.</a:t>
            </a:r>
          </a:p>
          <a:p>
            <a:pPr marL="0" indent="0">
              <a:buNone/>
            </a:pPr>
            <a:r>
              <a:rPr lang="en-IN" sz="8600" b="1" dirty="0"/>
              <a:t>Speed Up:</a:t>
            </a:r>
          </a:p>
          <a:p>
            <a:pPr marL="0" indent="0">
              <a:buNone/>
            </a:pPr>
            <a:r>
              <a:rPr lang="en-IN" sz="8600" dirty="0"/>
              <a:t>Speed up metric is a quantitative measure of performance , which defines benefit of running a program in parallel</a:t>
            </a:r>
          </a:p>
          <a:p>
            <a:r>
              <a:rPr lang="en-IN" sz="8600" dirty="0"/>
              <a:t>Speedup metric  is a quantitative measure of performance , which defines benefit of running a program in parallel.</a:t>
            </a:r>
          </a:p>
          <a:p>
            <a:pPr marL="0" indent="0">
              <a:buNone/>
            </a:pPr>
            <a:endParaRPr lang="en-IN" sz="8600" dirty="0"/>
          </a:p>
          <a:p>
            <a:pPr marL="0" indent="0">
              <a:buNone/>
            </a:pPr>
            <a:r>
              <a:rPr lang="en-IN" sz="8600" dirty="0"/>
              <a:t>          S(n) = </a:t>
            </a:r>
          </a:p>
          <a:p>
            <a:pPr marL="0" indent="0">
              <a:buNone/>
            </a:pPr>
            <a:endParaRPr lang="en-IN" sz="8600" dirty="0"/>
          </a:p>
          <a:p>
            <a:pPr marL="0" indent="0">
              <a:buNone/>
            </a:pPr>
            <a:endParaRPr lang="en-IN" sz="8600" dirty="0"/>
          </a:p>
          <a:p>
            <a:pPr marL="0" indent="0">
              <a:buNone/>
            </a:pPr>
            <a:endParaRPr lang="en-IN" dirty="0"/>
          </a:p>
        </p:txBody>
      </p:sp>
      <p:pic>
        <p:nvPicPr>
          <p:cNvPr id="5" name="Picture 4">
            <a:extLst>
              <a:ext uri="{FF2B5EF4-FFF2-40B4-BE49-F238E27FC236}">
                <a16:creationId xmlns:a16="http://schemas.microsoft.com/office/drawing/2014/main" id="{6F8F9FD0-F80E-A270-AEB9-4251BE6E0708}"/>
              </a:ext>
            </a:extLst>
          </p:cNvPr>
          <p:cNvPicPr>
            <a:picLocks noChangeAspect="1"/>
          </p:cNvPicPr>
          <p:nvPr/>
        </p:nvPicPr>
        <p:blipFill>
          <a:blip r:embed="rId2"/>
          <a:stretch>
            <a:fillRect/>
          </a:stretch>
        </p:blipFill>
        <p:spPr>
          <a:xfrm>
            <a:off x="3321424" y="4561822"/>
            <a:ext cx="6252882" cy="1100744"/>
          </a:xfrm>
          <a:prstGeom prst="rect">
            <a:avLst/>
          </a:prstGeom>
        </p:spPr>
      </p:pic>
      <p:pic>
        <p:nvPicPr>
          <p:cNvPr id="8" name="Picture 7">
            <a:extLst>
              <a:ext uri="{FF2B5EF4-FFF2-40B4-BE49-F238E27FC236}">
                <a16:creationId xmlns:a16="http://schemas.microsoft.com/office/drawing/2014/main" id="{8AEC02DF-86EE-987A-0062-89FD156CC421}"/>
              </a:ext>
            </a:extLst>
          </p:cNvPr>
          <p:cNvPicPr>
            <a:picLocks noChangeAspect="1"/>
          </p:cNvPicPr>
          <p:nvPr/>
        </p:nvPicPr>
        <p:blipFill>
          <a:blip r:embed="rId3"/>
          <a:stretch>
            <a:fillRect/>
          </a:stretch>
        </p:blipFill>
        <p:spPr>
          <a:xfrm>
            <a:off x="726141" y="5904632"/>
            <a:ext cx="10919012" cy="861836"/>
          </a:xfrm>
          <a:prstGeom prst="rect">
            <a:avLst/>
          </a:prstGeom>
        </p:spPr>
      </p:pic>
    </p:spTree>
    <p:extLst>
      <p:ext uri="{BB962C8B-B14F-4D97-AF65-F5344CB8AC3E}">
        <p14:creationId xmlns:p14="http://schemas.microsoft.com/office/powerpoint/2010/main" val="99094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13851-855E-D2CD-E603-F91D33B7B97A}"/>
              </a:ext>
            </a:extLst>
          </p:cNvPr>
          <p:cNvSpPr>
            <a:spLocks noGrp="1"/>
          </p:cNvSpPr>
          <p:nvPr>
            <p:ph idx="1"/>
          </p:nvPr>
        </p:nvSpPr>
        <p:spPr>
          <a:xfrm>
            <a:off x="371475" y="242888"/>
            <a:ext cx="11530013" cy="6300787"/>
          </a:xfrm>
        </p:spPr>
        <p:txBody>
          <a:bodyPr/>
          <a:lstStyle/>
          <a:p>
            <a:r>
              <a:rPr lang="en-IN" dirty="0"/>
              <a:t>Amdahl’s Law tells that for a given problem size, the speedup doesn’t increase linearly as the number of processors increases.</a:t>
            </a:r>
          </a:p>
          <a:p>
            <a:r>
              <a:rPr lang="en-IN" dirty="0"/>
              <a:t>In fact speed-up tends to become saturated.</a:t>
            </a:r>
          </a:p>
          <a:p>
            <a:r>
              <a:rPr lang="en-IN" dirty="0"/>
              <a:t>Amdahl’s law states that a small portion of the program which cannot be parallelized ( serial part ), will limit the overall speed-up available from parallelization</a:t>
            </a:r>
          </a:p>
          <a:p>
            <a:r>
              <a:rPr lang="en-IN" dirty="0"/>
              <a:t>Typically any large mathematical or engineering problem consist of several parallelizable parts and several (non- parallelizable) parts.</a:t>
            </a:r>
          </a:p>
          <a:p>
            <a:pPr marL="0" indent="0">
              <a:buNone/>
            </a:pPr>
            <a:endParaRPr lang="en-IN" dirty="0"/>
          </a:p>
          <a:p>
            <a:pPr marL="0" indent="0">
              <a:buNone/>
            </a:pPr>
            <a:r>
              <a:rPr lang="en-IN" dirty="0"/>
              <a:t>    </a:t>
            </a:r>
            <a:r>
              <a:rPr lang="en-IN" b="1" dirty="0">
                <a:solidFill>
                  <a:schemeClr val="accent1">
                    <a:lumMod val="75000"/>
                  </a:schemeClr>
                </a:solidFill>
              </a:rPr>
              <a:t>Computation Problem = Serial Part + Parallel Part</a:t>
            </a:r>
          </a:p>
          <a:p>
            <a:r>
              <a:rPr lang="en-IN" dirty="0"/>
              <a:t> The speed up of a program of using multiple processors in parallel computing is limited by the time needed for the sequential fraction (n0n- parallelizable part ) of the program.</a:t>
            </a:r>
          </a:p>
        </p:txBody>
      </p:sp>
    </p:spTree>
    <p:extLst>
      <p:ext uri="{BB962C8B-B14F-4D97-AF65-F5344CB8AC3E}">
        <p14:creationId xmlns:p14="http://schemas.microsoft.com/office/powerpoint/2010/main" val="323529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56D7AA-0512-0A9E-1178-5CC33376581F}"/>
              </a:ext>
            </a:extLst>
          </p:cNvPr>
          <p:cNvSpPr>
            <a:spLocks noGrp="1"/>
          </p:cNvSpPr>
          <p:nvPr>
            <p:ph idx="1"/>
          </p:nvPr>
        </p:nvSpPr>
        <p:spPr>
          <a:xfrm>
            <a:off x="466165" y="251012"/>
            <a:ext cx="11438964" cy="6436659"/>
          </a:xfrm>
        </p:spPr>
        <p:txBody>
          <a:bodyPr/>
          <a:lstStyle/>
          <a:p>
            <a:pPr marL="0" indent="0">
              <a:buNone/>
            </a:pPr>
            <a:r>
              <a:rPr lang="en-IN" dirty="0"/>
              <a:t>Let f be the fraction of operations in a computation that must be performed sequentially , where 0&lt;= f &lt;= 1. The maximum speedup achievable with n processors is </a:t>
            </a:r>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9616A529-9D16-DAB9-92F6-984AA0411205}"/>
              </a:ext>
            </a:extLst>
          </p:cNvPr>
          <p:cNvPicPr>
            <a:picLocks noChangeAspect="1"/>
          </p:cNvPicPr>
          <p:nvPr/>
        </p:nvPicPr>
        <p:blipFill>
          <a:blip r:embed="rId2"/>
          <a:stretch>
            <a:fillRect/>
          </a:stretch>
        </p:blipFill>
        <p:spPr>
          <a:xfrm>
            <a:off x="654848" y="1725782"/>
            <a:ext cx="10882303" cy="3406435"/>
          </a:xfrm>
          <a:prstGeom prst="rect">
            <a:avLst/>
          </a:prstGeom>
        </p:spPr>
      </p:pic>
    </p:spTree>
    <p:extLst>
      <p:ext uri="{BB962C8B-B14F-4D97-AF65-F5344CB8AC3E}">
        <p14:creationId xmlns:p14="http://schemas.microsoft.com/office/powerpoint/2010/main" val="1637424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50131-85B5-7A54-854C-ECEF94B9885B}"/>
              </a:ext>
            </a:extLst>
          </p:cNvPr>
          <p:cNvSpPr>
            <a:spLocks noGrp="1"/>
          </p:cNvSpPr>
          <p:nvPr>
            <p:ph type="title"/>
          </p:nvPr>
        </p:nvSpPr>
        <p:spPr/>
        <p:txBody>
          <a:bodyPr/>
          <a:lstStyle/>
          <a:p>
            <a:pPr algn="ctr"/>
            <a:r>
              <a:rPr lang="en-IN" b="1" dirty="0"/>
              <a:t>PROOF OF AMDAHL’S LAW</a:t>
            </a:r>
          </a:p>
        </p:txBody>
      </p:sp>
      <p:sp>
        <p:nvSpPr>
          <p:cNvPr id="7" name="Content Placeholder 6">
            <a:extLst>
              <a:ext uri="{FF2B5EF4-FFF2-40B4-BE49-F238E27FC236}">
                <a16:creationId xmlns:a16="http://schemas.microsoft.com/office/drawing/2014/main" id="{B4B558F4-777A-8270-121F-31A26F5BB0C8}"/>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A4A0BBE9-1D45-DD18-CFE2-4AC7AFBA92E0}"/>
              </a:ext>
            </a:extLst>
          </p:cNvPr>
          <p:cNvPicPr>
            <a:picLocks noChangeAspect="1"/>
          </p:cNvPicPr>
          <p:nvPr/>
        </p:nvPicPr>
        <p:blipFill>
          <a:blip r:embed="rId2"/>
          <a:stretch>
            <a:fillRect/>
          </a:stretch>
        </p:blipFill>
        <p:spPr>
          <a:xfrm>
            <a:off x="0" y="495866"/>
            <a:ext cx="12192000" cy="5824703"/>
          </a:xfrm>
          <a:prstGeom prst="rect">
            <a:avLst/>
          </a:prstGeom>
        </p:spPr>
      </p:pic>
    </p:spTree>
    <p:extLst>
      <p:ext uri="{BB962C8B-B14F-4D97-AF65-F5344CB8AC3E}">
        <p14:creationId xmlns:p14="http://schemas.microsoft.com/office/powerpoint/2010/main" val="3670308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51DC-4D1B-0E44-52B8-F80F4CA08D08}"/>
              </a:ext>
            </a:extLst>
          </p:cNvPr>
          <p:cNvSpPr>
            <a:spLocks noGrp="1"/>
          </p:cNvSpPr>
          <p:nvPr>
            <p:ph type="title"/>
          </p:nvPr>
        </p:nvSpPr>
        <p:spPr/>
        <p:txBody>
          <a:bodyPr/>
          <a:lstStyle/>
          <a:p>
            <a:r>
              <a:rPr lang="en-IN" dirty="0"/>
              <a:t>REVIEW AND LIMITATION OF AMDHAL’S LAW</a:t>
            </a:r>
          </a:p>
        </p:txBody>
      </p:sp>
      <p:sp>
        <p:nvSpPr>
          <p:cNvPr id="3" name="Content Placeholder 2">
            <a:extLst>
              <a:ext uri="{FF2B5EF4-FFF2-40B4-BE49-F238E27FC236}">
                <a16:creationId xmlns:a16="http://schemas.microsoft.com/office/drawing/2014/main" id="{540919D3-BA95-A3F6-967E-63A074A25455}"/>
              </a:ext>
            </a:extLst>
          </p:cNvPr>
          <p:cNvSpPr>
            <a:spLocks noGrp="1"/>
          </p:cNvSpPr>
          <p:nvPr>
            <p:ph idx="1"/>
          </p:nvPr>
        </p:nvSpPr>
        <p:spPr>
          <a:xfrm>
            <a:off x="838199" y="1825625"/>
            <a:ext cx="11111753" cy="4745504"/>
          </a:xfrm>
        </p:spPr>
        <p:txBody>
          <a:bodyPr/>
          <a:lstStyle/>
          <a:p>
            <a:r>
              <a:rPr lang="en-IN" dirty="0"/>
              <a:t>Treats problem size as a constant.</a:t>
            </a:r>
          </a:p>
          <a:p>
            <a:r>
              <a:rPr lang="en-IN" dirty="0"/>
              <a:t>It shows how execution time decreases as number of processors increases.</a:t>
            </a:r>
          </a:p>
          <a:p>
            <a:r>
              <a:rPr lang="en-IN" dirty="0"/>
              <a:t>Amdahl’s Law assumes that minimizing execution time is the focus of parallel computing.</a:t>
            </a:r>
          </a:p>
          <a:p>
            <a:r>
              <a:rPr lang="en-IN" dirty="0"/>
              <a:t>It treats the problem size as constant and demonstrates that increasing processors can reduce time.</a:t>
            </a:r>
          </a:p>
          <a:p>
            <a:r>
              <a:rPr lang="en-IN" dirty="0"/>
              <a:t>Currently it is generally accepted by parallel computing professionals that Amdahl’s law is not a serious limit to the benefit and future of parallel computing.</a:t>
            </a:r>
          </a:p>
        </p:txBody>
      </p:sp>
    </p:spTree>
    <p:extLst>
      <p:ext uri="{BB962C8B-B14F-4D97-AF65-F5344CB8AC3E}">
        <p14:creationId xmlns:p14="http://schemas.microsoft.com/office/powerpoint/2010/main" val="159093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EB692-E690-2C54-D454-51178446BBEF}"/>
              </a:ext>
            </a:extLst>
          </p:cNvPr>
          <p:cNvSpPr>
            <a:spLocks noGrp="1"/>
          </p:cNvSpPr>
          <p:nvPr>
            <p:ph type="title"/>
          </p:nvPr>
        </p:nvSpPr>
        <p:spPr/>
        <p:txBody>
          <a:bodyPr/>
          <a:lstStyle/>
          <a:p>
            <a:pPr algn="ctr"/>
            <a:r>
              <a:rPr lang="en-US" b="1" i="0" dirty="0">
                <a:solidFill>
                  <a:srgbClr val="212529"/>
                </a:solidFill>
                <a:effectLst/>
                <a:latin typeface="Open Sans" panose="020B0606030504020204" pitchFamily="34" charset="0"/>
              </a:rPr>
              <a:t>Gustafson Law</a:t>
            </a:r>
            <a:endParaRPr lang="en-IN" dirty="0"/>
          </a:p>
        </p:txBody>
      </p:sp>
      <p:sp>
        <p:nvSpPr>
          <p:cNvPr id="3" name="Content Placeholder 2">
            <a:extLst>
              <a:ext uri="{FF2B5EF4-FFF2-40B4-BE49-F238E27FC236}">
                <a16:creationId xmlns:a16="http://schemas.microsoft.com/office/drawing/2014/main" id="{E39EE849-3D1D-AD33-D9B4-C268839C6762}"/>
              </a:ext>
            </a:extLst>
          </p:cNvPr>
          <p:cNvSpPr>
            <a:spLocks noGrp="1"/>
          </p:cNvSpPr>
          <p:nvPr>
            <p:ph idx="1"/>
          </p:nvPr>
        </p:nvSpPr>
        <p:spPr/>
        <p:txBody>
          <a:bodyPr/>
          <a:lstStyle/>
          <a:p>
            <a:r>
              <a:rPr lang="en-US" dirty="0"/>
              <a:t>This law says that increase of problem size for large machines can retain scalability with respect to the number of processors.</a:t>
            </a:r>
          </a:p>
          <a:p>
            <a:pPr marL="285750" indent="-285750"/>
            <a:r>
              <a:rPr lang="en-US" dirty="0">
                <a:solidFill>
                  <a:srgbClr val="212529"/>
                </a:solidFill>
              </a:rPr>
              <a:t>The problem size increases at the same rate as the number of processors</a:t>
            </a:r>
          </a:p>
          <a:p>
            <a:pPr marL="285750" indent="-285750"/>
            <a:r>
              <a:rPr lang="en-US" b="0" i="0" dirty="0">
                <a:solidFill>
                  <a:srgbClr val="212529"/>
                </a:solidFill>
                <a:effectLst/>
              </a:rPr>
              <a:t>The problem size </a:t>
            </a:r>
            <a:r>
              <a:rPr lang="en-US" b="0" i="1" dirty="0">
                <a:solidFill>
                  <a:srgbClr val="212529"/>
                </a:solidFill>
                <a:effectLst/>
              </a:rPr>
              <a:t>per processor</a:t>
            </a:r>
            <a:r>
              <a:rPr lang="en-US" b="0" i="0" dirty="0">
                <a:solidFill>
                  <a:srgbClr val="212529"/>
                </a:solidFill>
                <a:effectLst/>
              </a:rPr>
              <a:t> stays fixed as more processors are added. The total problem size is proportional to the number of processors used.</a:t>
            </a:r>
          </a:p>
          <a:p>
            <a:pPr marL="285750" indent="-285750"/>
            <a:r>
              <a:rPr lang="en-US" b="0" i="0" dirty="0">
                <a:solidFill>
                  <a:srgbClr val="212529"/>
                </a:solidFill>
                <a:effectLst/>
              </a:rPr>
              <a:t>Goal is to run larger problem in same amount of time</a:t>
            </a:r>
          </a:p>
          <a:p>
            <a:pPr marL="0" indent="0">
              <a:buNone/>
            </a:pPr>
            <a:endParaRPr lang="en-IN" dirty="0"/>
          </a:p>
        </p:txBody>
      </p:sp>
    </p:spTree>
    <p:extLst>
      <p:ext uri="{BB962C8B-B14F-4D97-AF65-F5344CB8AC3E}">
        <p14:creationId xmlns:p14="http://schemas.microsoft.com/office/powerpoint/2010/main" val="2128583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1D99CE-34AD-4D6B-158B-0CDBED2AA142}"/>
              </a:ext>
            </a:extLst>
          </p:cNvPr>
          <p:cNvSpPr>
            <a:spLocks noGrp="1"/>
          </p:cNvSpPr>
          <p:nvPr>
            <p:ph idx="1"/>
          </p:nvPr>
        </p:nvSpPr>
        <p:spPr>
          <a:xfrm>
            <a:off x="726141" y="376518"/>
            <a:ext cx="10627659" cy="5800445"/>
          </a:xfrm>
        </p:spPr>
        <p:txBody>
          <a:bodyPr>
            <a:normAutofit lnSpcReduction="10000"/>
          </a:bodyPr>
          <a:lstStyle/>
          <a:p>
            <a:pPr marL="0" indent="0" algn="l">
              <a:buNone/>
            </a:pPr>
            <a:r>
              <a:rPr lang="en-US" b="0" i="0" dirty="0">
                <a:solidFill>
                  <a:srgbClr val="212529"/>
                </a:solidFill>
                <a:effectLst/>
              </a:rPr>
              <a:t>Complexity</a:t>
            </a:r>
          </a:p>
          <a:p>
            <a:pPr algn="l">
              <a:buFont typeface="Arial" panose="020B0604020202020204" pitchFamily="34" charset="0"/>
              <a:buChar char="•"/>
            </a:pPr>
            <a:r>
              <a:rPr lang="en-US" b="0" i="0" dirty="0">
                <a:solidFill>
                  <a:srgbClr val="212529"/>
                </a:solidFill>
                <a:effectLst/>
              </a:rPr>
              <a:t>In general, parallel applications are  more complex than corresponding serial applications. Not only do you have multiple instruction streams executing at the same time, but you also have data flowing between them.</a:t>
            </a:r>
          </a:p>
          <a:p>
            <a:pPr algn="l">
              <a:buFont typeface="Arial" panose="020B0604020202020204" pitchFamily="34" charset="0"/>
              <a:buChar char="•"/>
            </a:pPr>
            <a:r>
              <a:rPr lang="en-US" b="0" i="0" dirty="0">
                <a:solidFill>
                  <a:srgbClr val="212529"/>
                </a:solidFill>
                <a:effectLst/>
              </a:rPr>
              <a:t>The costs of complexity are measured in programmer time in virtually every aspect of the software development cycle:</a:t>
            </a:r>
          </a:p>
          <a:p>
            <a:pPr marL="742950" lvl="1" indent="-285750" algn="l">
              <a:buFont typeface="Arial" panose="020B0604020202020204" pitchFamily="34" charset="0"/>
              <a:buChar char="•"/>
            </a:pPr>
            <a:r>
              <a:rPr lang="en-US" b="0" i="0" dirty="0">
                <a:solidFill>
                  <a:srgbClr val="212529"/>
                </a:solidFill>
                <a:effectLst/>
              </a:rPr>
              <a:t>Design</a:t>
            </a:r>
          </a:p>
          <a:p>
            <a:pPr marL="742950" lvl="1" indent="-285750" algn="l">
              <a:buFont typeface="Arial" panose="020B0604020202020204" pitchFamily="34" charset="0"/>
              <a:buChar char="•"/>
            </a:pPr>
            <a:r>
              <a:rPr lang="en-US" b="0" i="0" dirty="0">
                <a:solidFill>
                  <a:srgbClr val="212529"/>
                </a:solidFill>
                <a:effectLst/>
              </a:rPr>
              <a:t>Coding</a:t>
            </a:r>
          </a:p>
          <a:p>
            <a:pPr marL="742950" lvl="1" indent="-285750" algn="l">
              <a:buFont typeface="Arial" panose="020B0604020202020204" pitchFamily="34" charset="0"/>
              <a:buChar char="•"/>
            </a:pPr>
            <a:r>
              <a:rPr lang="en-US" b="0" i="0" dirty="0">
                <a:solidFill>
                  <a:srgbClr val="212529"/>
                </a:solidFill>
                <a:effectLst/>
              </a:rPr>
              <a:t>Debugging</a:t>
            </a:r>
          </a:p>
          <a:p>
            <a:pPr marL="742950" lvl="1" indent="-285750" algn="l">
              <a:buFont typeface="Arial" panose="020B0604020202020204" pitchFamily="34" charset="0"/>
              <a:buChar char="•"/>
            </a:pPr>
            <a:r>
              <a:rPr lang="en-US" b="0" i="0" dirty="0">
                <a:solidFill>
                  <a:srgbClr val="212529"/>
                </a:solidFill>
                <a:effectLst/>
              </a:rPr>
              <a:t>Tuning</a:t>
            </a:r>
          </a:p>
          <a:p>
            <a:pPr marL="742950" lvl="1" indent="-285750" algn="l">
              <a:buFont typeface="Arial" panose="020B0604020202020204" pitchFamily="34" charset="0"/>
              <a:buChar char="•"/>
            </a:pPr>
            <a:r>
              <a:rPr lang="en-US" b="0" i="0" dirty="0">
                <a:solidFill>
                  <a:srgbClr val="212529"/>
                </a:solidFill>
                <a:effectLst/>
              </a:rPr>
              <a:t>Maintenance</a:t>
            </a:r>
          </a:p>
          <a:p>
            <a:pPr algn="l">
              <a:buFont typeface="Arial" panose="020B0604020202020204" pitchFamily="34" charset="0"/>
              <a:buChar char="•"/>
            </a:pPr>
            <a:r>
              <a:rPr lang="en-US" b="0" i="0" dirty="0">
                <a:solidFill>
                  <a:srgbClr val="212529"/>
                </a:solidFill>
                <a:effectLst/>
              </a:rPr>
              <a:t>Adhering to "good" software development practices is essential when developing  parallel applications.</a:t>
            </a:r>
          </a:p>
          <a:p>
            <a:endParaRPr lang="en-IN" dirty="0"/>
          </a:p>
        </p:txBody>
      </p:sp>
    </p:spTree>
    <p:extLst>
      <p:ext uri="{BB962C8B-B14F-4D97-AF65-F5344CB8AC3E}">
        <p14:creationId xmlns:p14="http://schemas.microsoft.com/office/powerpoint/2010/main" val="3249364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94ED69-D93B-9F9B-6267-924DB3D00948}"/>
              </a:ext>
            </a:extLst>
          </p:cNvPr>
          <p:cNvSpPr>
            <a:spLocks noGrp="1"/>
          </p:cNvSpPr>
          <p:nvPr>
            <p:ph idx="1"/>
          </p:nvPr>
        </p:nvSpPr>
        <p:spPr>
          <a:xfrm>
            <a:off x="528918" y="331694"/>
            <a:ext cx="10824882" cy="6033247"/>
          </a:xfrm>
        </p:spPr>
        <p:txBody>
          <a:bodyPr>
            <a:normAutofit/>
          </a:bodyPr>
          <a:lstStyle/>
          <a:p>
            <a:pPr marL="0" indent="0" algn="l">
              <a:buNone/>
            </a:pPr>
            <a:r>
              <a:rPr lang="en-US" sz="3600" b="0" i="0" dirty="0">
                <a:solidFill>
                  <a:srgbClr val="212529"/>
                </a:solidFill>
                <a:effectLst/>
              </a:rPr>
              <a:t>Portability</a:t>
            </a:r>
          </a:p>
          <a:p>
            <a:pPr algn="l">
              <a:buFont typeface="Arial" panose="020B0604020202020204" pitchFamily="34" charset="0"/>
              <a:buChar char="•"/>
            </a:pPr>
            <a:r>
              <a:rPr lang="en-US" dirty="0">
                <a:solidFill>
                  <a:srgbClr val="212529"/>
                </a:solidFill>
              </a:rPr>
              <a:t>P</a:t>
            </a:r>
            <a:r>
              <a:rPr lang="en-US" b="0" i="0" dirty="0">
                <a:solidFill>
                  <a:srgbClr val="212529"/>
                </a:solidFill>
                <a:effectLst/>
              </a:rPr>
              <a:t>ortability issues with parallel programs are not as serious as in years past. However...</a:t>
            </a:r>
          </a:p>
          <a:p>
            <a:pPr algn="l">
              <a:buFont typeface="Arial" panose="020B0604020202020204" pitchFamily="34" charset="0"/>
              <a:buChar char="•"/>
            </a:pPr>
            <a:r>
              <a:rPr lang="en-US" b="0" i="0" dirty="0">
                <a:solidFill>
                  <a:srgbClr val="212529"/>
                </a:solidFill>
                <a:effectLst/>
              </a:rPr>
              <a:t>All of the usual portability issues associated with serial programs apply to parallel programs. For example, if you use vendor "enhancements" to Fortran, C or C++, portability will be a problem.</a:t>
            </a:r>
          </a:p>
          <a:p>
            <a:pPr algn="l">
              <a:buFont typeface="Arial" panose="020B0604020202020204" pitchFamily="34" charset="0"/>
              <a:buChar char="•"/>
            </a:pPr>
            <a:r>
              <a:rPr lang="en-US" b="0" i="0" dirty="0">
                <a:solidFill>
                  <a:srgbClr val="212529"/>
                </a:solidFill>
                <a:effectLst/>
              </a:rPr>
              <a:t>Even though standards exist for several APIs, implementations will differ in a number of details, sometimes to the point of requiring code modifications in order to effect portability.</a:t>
            </a:r>
          </a:p>
          <a:p>
            <a:pPr algn="l">
              <a:buFont typeface="Arial" panose="020B0604020202020204" pitchFamily="34" charset="0"/>
              <a:buChar char="•"/>
            </a:pPr>
            <a:r>
              <a:rPr lang="en-US" b="0" i="0" dirty="0">
                <a:solidFill>
                  <a:srgbClr val="212529"/>
                </a:solidFill>
                <a:effectLst/>
              </a:rPr>
              <a:t>Operating systems can play a key role in code portability issues.</a:t>
            </a:r>
          </a:p>
          <a:p>
            <a:pPr algn="l">
              <a:buFont typeface="Arial" panose="020B0604020202020204" pitchFamily="34" charset="0"/>
              <a:buChar char="•"/>
            </a:pPr>
            <a:r>
              <a:rPr lang="en-US" b="0" i="0" dirty="0">
                <a:solidFill>
                  <a:srgbClr val="212529"/>
                </a:solidFill>
                <a:effectLst/>
              </a:rPr>
              <a:t>Hardware architectures are characteristically highly variable and can affect portability.</a:t>
            </a:r>
          </a:p>
          <a:p>
            <a:endParaRPr lang="en-IN" dirty="0"/>
          </a:p>
        </p:txBody>
      </p:sp>
    </p:spTree>
    <p:extLst>
      <p:ext uri="{BB962C8B-B14F-4D97-AF65-F5344CB8AC3E}">
        <p14:creationId xmlns:p14="http://schemas.microsoft.com/office/powerpoint/2010/main" val="1813808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A60CA1-4B05-6660-0332-6403C239C472}"/>
              </a:ext>
            </a:extLst>
          </p:cNvPr>
          <p:cNvSpPr>
            <a:spLocks noGrp="1"/>
          </p:cNvSpPr>
          <p:nvPr>
            <p:ph idx="1"/>
          </p:nvPr>
        </p:nvSpPr>
        <p:spPr>
          <a:xfrm>
            <a:off x="403412" y="286871"/>
            <a:ext cx="10950388" cy="5890092"/>
          </a:xfrm>
        </p:spPr>
        <p:txBody>
          <a:bodyPr>
            <a:normAutofit/>
          </a:bodyPr>
          <a:lstStyle/>
          <a:p>
            <a:pPr marL="0" indent="0" algn="l">
              <a:buNone/>
            </a:pPr>
            <a:r>
              <a:rPr lang="en-US" sz="3200" b="0" i="0" dirty="0">
                <a:solidFill>
                  <a:srgbClr val="212529"/>
                </a:solidFill>
                <a:effectLst/>
              </a:rPr>
              <a:t>Resource Requirements</a:t>
            </a:r>
          </a:p>
          <a:p>
            <a:pPr algn="l">
              <a:buFont typeface="Arial" panose="020B0604020202020204" pitchFamily="34" charset="0"/>
              <a:buChar char="•"/>
            </a:pPr>
            <a:r>
              <a:rPr lang="en-US" sz="2400" b="0" i="0" dirty="0">
                <a:solidFill>
                  <a:srgbClr val="212529"/>
                </a:solidFill>
                <a:effectLst/>
              </a:rPr>
              <a:t>The primary intent of parallel programming is to decrease execution wall clock time, however in order to accomplish this, more CPU  is required. </a:t>
            </a:r>
          </a:p>
          <a:p>
            <a:pPr algn="l">
              <a:buFont typeface="Arial" panose="020B0604020202020204" pitchFamily="34" charset="0"/>
              <a:buChar char="•"/>
            </a:pPr>
            <a:r>
              <a:rPr lang="en-US" sz="2400" b="0" i="0" dirty="0">
                <a:solidFill>
                  <a:srgbClr val="212529"/>
                </a:solidFill>
                <a:effectLst/>
              </a:rPr>
              <a:t>The amount of memory required can be greater for parallel codes than serial codes, due to the need to replicate data and for overheads associated with parallel support libraries and subsystems.</a:t>
            </a:r>
          </a:p>
          <a:p>
            <a:pPr algn="l">
              <a:buFont typeface="Arial" panose="020B0604020202020204" pitchFamily="34" charset="0"/>
              <a:buChar char="•"/>
            </a:pPr>
            <a:r>
              <a:rPr lang="en-US" sz="2400" b="0" i="0" dirty="0">
                <a:solidFill>
                  <a:srgbClr val="212529"/>
                </a:solidFill>
                <a:effectLst/>
              </a:rPr>
              <a:t>For short running parallel programs, there can actually be a decrease in performance compared to a similar serial implementation. </a:t>
            </a:r>
          </a:p>
          <a:p>
            <a:pPr algn="l">
              <a:buFont typeface="Arial" panose="020B0604020202020204" pitchFamily="34" charset="0"/>
              <a:buChar char="•"/>
            </a:pPr>
            <a:r>
              <a:rPr lang="en-US" sz="2400" b="0" i="0" dirty="0">
                <a:solidFill>
                  <a:srgbClr val="212529"/>
                </a:solidFill>
                <a:effectLst/>
              </a:rPr>
              <a:t>The overhead costs associated with setting up the parallel environment, task creation, communications and task termination can comprise a significant portion of the total execution time for short runs.</a:t>
            </a:r>
          </a:p>
          <a:p>
            <a:endParaRPr lang="en-IN" dirty="0"/>
          </a:p>
        </p:txBody>
      </p:sp>
    </p:spTree>
    <p:extLst>
      <p:ext uri="{BB962C8B-B14F-4D97-AF65-F5344CB8AC3E}">
        <p14:creationId xmlns:p14="http://schemas.microsoft.com/office/powerpoint/2010/main" val="2747861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BFE3C-C6ED-2E3B-ED49-DB24D2B98D8A}"/>
              </a:ext>
            </a:extLst>
          </p:cNvPr>
          <p:cNvSpPr>
            <a:spLocks noGrp="1"/>
          </p:cNvSpPr>
          <p:nvPr>
            <p:ph type="title"/>
          </p:nvPr>
        </p:nvSpPr>
        <p:spPr/>
        <p:txBody>
          <a:bodyPr/>
          <a:lstStyle/>
          <a:p>
            <a:r>
              <a:rPr lang="en-IN" b="0" i="0" dirty="0">
                <a:solidFill>
                  <a:srgbClr val="212529"/>
                </a:solidFill>
                <a:effectLst/>
                <a:latin typeface="Open Sans" panose="020B0606030504020204" pitchFamily="34" charset="0"/>
              </a:rPr>
              <a:t>Scalability</a:t>
            </a:r>
            <a:br>
              <a:rPr lang="en-IN" b="0" i="0" dirty="0">
                <a:solidFill>
                  <a:srgbClr val="212529"/>
                </a:solidFill>
                <a:effectLst/>
                <a:latin typeface="Open Sans" panose="020B0606030504020204" pitchFamily="34" charset="0"/>
              </a:rPr>
            </a:br>
            <a:endParaRPr lang="en-IN" dirty="0"/>
          </a:p>
        </p:txBody>
      </p:sp>
      <p:sp>
        <p:nvSpPr>
          <p:cNvPr id="3" name="Content Placeholder 2">
            <a:extLst>
              <a:ext uri="{FF2B5EF4-FFF2-40B4-BE49-F238E27FC236}">
                <a16:creationId xmlns:a16="http://schemas.microsoft.com/office/drawing/2014/main" id="{510E8A34-7CD0-F74F-0D64-01C955A5E398}"/>
              </a:ext>
            </a:extLst>
          </p:cNvPr>
          <p:cNvSpPr>
            <a:spLocks noGrp="1"/>
          </p:cNvSpPr>
          <p:nvPr>
            <p:ph idx="1"/>
          </p:nvPr>
        </p:nvSpPr>
        <p:spPr>
          <a:xfrm>
            <a:off x="779929" y="1454430"/>
            <a:ext cx="10896600" cy="5038445"/>
          </a:xfrm>
        </p:spPr>
        <p:txBody>
          <a:bodyPr>
            <a:normAutofit lnSpcReduction="10000"/>
          </a:bodyPr>
          <a:lstStyle/>
          <a:p>
            <a:pPr algn="l">
              <a:buFont typeface="Arial" panose="020B0604020202020204" pitchFamily="34" charset="0"/>
              <a:buChar char="•"/>
            </a:pPr>
            <a:r>
              <a:rPr lang="en-US" b="0" i="0" dirty="0">
                <a:solidFill>
                  <a:srgbClr val="212529"/>
                </a:solidFill>
                <a:effectLst/>
                <a:latin typeface="Open Sans" panose="020B0606030504020204" pitchFamily="34" charset="0"/>
              </a:rPr>
              <a:t>Two types of scaling based on time to solution: strong scaling and weak scaling.</a:t>
            </a:r>
          </a:p>
          <a:p>
            <a:pPr marL="0" indent="0" algn="l">
              <a:buNone/>
            </a:pPr>
            <a:r>
              <a:rPr lang="en-US" b="1" i="0" dirty="0">
                <a:solidFill>
                  <a:srgbClr val="212529"/>
                </a:solidFill>
                <a:effectLst/>
                <a:latin typeface="Open Sans" panose="020B0606030504020204" pitchFamily="34" charset="0"/>
              </a:rPr>
              <a:t>Strong scaling (Amdahl):</a:t>
            </a:r>
            <a:endParaRPr lang="en-US" b="0" i="0" dirty="0">
              <a:solidFill>
                <a:srgbClr val="212529"/>
              </a:solidFill>
              <a:effectLst/>
              <a:latin typeface="Open Sans" panose="020B0606030504020204" pitchFamily="34" charset="0"/>
            </a:endParaRPr>
          </a:p>
          <a:p>
            <a:pPr marL="742950" lvl="1" indent="-285750" algn="l">
              <a:buFont typeface="Arial" panose="020B0604020202020204" pitchFamily="34" charset="0"/>
              <a:buChar char="•"/>
            </a:pPr>
            <a:r>
              <a:rPr lang="en-US" b="0" i="0" dirty="0">
                <a:solidFill>
                  <a:srgbClr val="212529"/>
                </a:solidFill>
                <a:effectLst/>
                <a:latin typeface="Open Sans" panose="020B0606030504020204" pitchFamily="34" charset="0"/>
              </a:rPr>
              <a:t>The total problem size stays fixed as more processors are added.</a:t>
            </a:r>
          </a:p>
          <a:p>
            <a:pPr marL="742950" lvl="1" indent="-285750" algn="l">
              <a:buFont typeface="Arial" panose="020B0604020202020204" pitchFamily="34" charset="0"/>
              <a:buChar char="•"/>
            </a:pPr>
            <a:r>
              <a:rPr lang="en-US" b="0" i="0" dirty="0">
                <a:solidFill>
                  <a:srgbClr val="212529"/>
                </a:solidFill>
                <a:effectLst/>
                <a:latin typeface="Open Sans" panose="020B0606030504020204" pitchFamily="34" charset="0"/>
              </a:rPr>
              <a:t>Goal is to run the same problem size faster</a:t>
            </a:r>
          </a:p>
          <a:p>
            <a:pPr marL="742950" lvl="1" indent="-285750" algn="l">
              <a:buFont typeface="Arial" panose="020B0604020202020204" pitchFamily="34" charset="0"/>
              <a:buChar char="•"/>
            </a:pPr>
            <a:r>
              <a:rPr lang="en-US" b="0" i="0" dirty="0">
                <a:solidFill>
                  <a:srgbClr val="212529"/>
                </a:solidFill>
                <a:effectLst/>
                <a:latin typeface="Open Sans" panose="020B0606030504020204" pitchFamily="34" charset="0"/>
              </a:rPr>
              <a:t>Perfect scaling means problem is solved in 1/P time (compared to serial)</a:t>
            </a:r>
          </a:p>
          <a:p>
            <a:pPr marL="0" indent="0" algn="l">
              <a:buNone/>
            </a:pPr>
            <a:r>
              <a:rPr lang="en-US" b="1" i="0" dirty="0">
                <a:solidFill>
                  <a:srgbClr val="212529"/>
                </a:solidFill>
                <a:effectLst/>
                <a:latin typeface="Open Sans" panose="020B0606030504020204" pitchFamily="34" charset="0"/>
              </a:rPr>
              <a:t>Weak scaling (Gustafson):</a:t>
            </a:r>
            <a:endParaRPr lang="en-US" b="0" i="0" dirty="0">
              <a:solidFill>
                <a:srgbClr val="212529"/>
              </a:solidFill>
              <a:effectLst/>
              <a:latin typeface="Open Sans" panose="020B0606030504020204" pitchFamily="34" charset="0"/>
            </a:endParaRPr>
          </a:p>
          <a:p>
            <a:pPr marL="742950" lvl="1" indent="-285750" algn="l">
              <a:buFont typeface="Arial" panose="020B0604020202020204" pitchFamily="34" charset="0"/>
              <a:buChar char="•"/>
            </a:pPr>
            <a:r>
              <a:rPr lang="en-US" dirty="0">
                <a:solidFill>
                  <a:srgbClr val="212529"/>
                </a:solidFill>
                <a:latin typeface="Open Sans" panose="020B0606030504020204" pitchFamily="34" charset="0"/>
              </a:rPr>
              <a:t>The problem size increases at the same rate as the number of processors</a:t>
            </a:r>
          </a:p>
          <a:p>
            <a:pPr marL="742950" lvl="1" indent="-285750"/>
            <a:r>
              <a:rPr lang="en-US" b="0" i="0" dirty="0">
                <a:solidFill>
                  <a:srgbClr val="212529"/>
                </a:solidFill>
                <a:effectLst/>
                <a:latin typeface="Open Sans" panose="020B0606030504020204" pitchFamily="34" charset="0"/>
              </a:rPr>
              <a:t>The problem size </a:t>
            </a:r>
            <a:r>
              <a:rPr lang="en-US" b="0" i="1" dirty="0">
                <a:solidFill>
                  <a:srgbClr val="212529"/>
                </a:solidFill>
                <a:effectLst/>
                <a:latin typeface="Open Sans" panose="020B0606030504020204" pitchFamily="34" charset="0"/>
              </a:rPr>
              <a:t>per processor</a:t>
            </a:r>
            <a:r>
              <a:rPr lang="en-US" b="0" i="0" dirty="0">
                <a:solidFill>
                  <a:srgbClr val="212529"/>
                </a:solidFill>
                <a:effectLst/>
                <a:latin typeface="Open Sans" panose="020B0606030504020204" pitchFamily="34" charset="0"/>
              </a:rPr>
              <a:t> stays fixed as more processors are added. The total problem size is proportional to the number of processors used.</a:t>
            </a:r>
          </a:p>
          <a:p>
            <a:pPr marL="742950" lvl="1" indent="-285750" algn="l">
              <a:buFont typeface="Arial" panose="020B0604020202020204" pitchFamily="34" charset="0"/>
              <a:buChar char="•"/>
            </a:pPr>
            <a:r>
              <a:rPr lang="en-US" b="0" i="0" dirty="0">
                <a:solidFill>
                  <a:srgbClr val="212529"/>
                </a:solidFill>
                <a:effectLst/>
                <a:latin typeface="Open Sans" panose="020B0606030504020204" pitchFamily="34" charset="0"/>
              </a:rPr>
              <a:t>Goal is to run larger problem in same amount of time</a:t>
            </a:r>
          </a:p>
          <a:p>
            <a:endParaRPr lang="en-IN" dirty="0"/>
          </a:p>
        </p:txBody>
      </p:sp>
    </p:spTree>
    <p:extLst>
      <p:ext uri="{BB962C8B-B14F-4D97-AF65-F5344CB8AC3E}">
        <p14:creationId xmlns:p14="http://schemas.microsoft.com/office/powerpoint/2010/main" val="4175084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E16EEF-0334-47C5-FFA0-C268505F1923}"/>
              </a:ext>
            </a:extLst>
          </p:cNvPr>
          <p:cNvSpPr>
            <a:spLocks noGrp="1"/>
          </p:cNvSpPr>
          <p:nvPr>
            <p:ph idx="1"/>
          </p:nvPr>
        </p:nvSpPr>
        <p:spPr>
          <a:xfrm>
            <a:off x="421341" y="322728"/>
            <a:ext cx="10932459" cy="6131859"/>
          </a:xfrm>
        </p:spPr>
        <p:txBody>
          <a:bodyPr/>
          <a:lstStyle/>
          <a:p>
            <a:pPr algn="l">
              <a:buFont typeface="Arial" panose="020B0604020202020204" pitchFamily="34" charset="0"/>
              <a:buChar char="•"/>
            </a:pPr>
            <a:r>
              <a:rPr lang="en-US" b="0" i="0" dirty="0">
                <a:solidFill>
                  <a:srgbClr val="212529"/>
                </a:solidFill>
                <a:effectLst/>
              </a:rPr>
              <a:t>The ability of a parallel program's performance to scale is a result of a number of interrelated factors. Simply adding more processors is rarely the answer.</a:t>
            </a:r>
          </a:p>
          <a:p>
            <a:pPr algn="l">
              <a:buFont typeface="Arial" panose="020B0604020202020204" pitchFamily="34" charset="0"/>
              <a:buChar char="•"/>
            </a:pPr>
            <a:r>
              <a:rPr lang="en-US" b="0" i="0" dirty="0">
                <a:solidFill>
                  <a:srgbClr val="212529"/>
                </a:solidFill>
                <a:effectLst/>
              </a:rPr>
              <a:t>The algorithm may have inherent limits to scalability. At some point, adding more resources causes performance to decrease. This is a common situation with many parallel applications.</a:t>
            </a:r>
          </a:p>
          <a:p>
            <a:pPr algn="l">
              <a:buFont typeface="Arial" panose="020B0604020202020204" pitchFamily="34" charset="0"/>
              <a:buChar char="•"/>
            </a:pPr>
            <a:r>
              <a:rPr lang="en-US" b="0" i="0" dirty="0">
                <a:solidFill>
                  <a:srgbClr val="212529"/>
                </a:solidFill>
                <a:effectLst/>
              </a:rPr>
              <a:t>Hardware factors play a significant role in scalability. Examples:</a:t>
            </a:r>
          </a:p>
          <a:p>
            <a:pPr marL="742950" lvl="1" indent="-285750" algn="l">
              <a:buFont typeface="Arial" panose="020B0604020202020204" pitchFamily="34" charset="0"/>
              <a:buChar char="•"/>
            </a:pPr>
            <a:r>
              <a:rPr lang="en-US" b="0" i="0" dirty="0">
                <a:solidFill>
                  <a:srgbClr val="212529"/>
                </a:solidFill>
                <a:effectLst/>
              </a:rPr>
              <a:t>Memory-CPU bus bandwidth on an SMP machine</a:t>
            </a:r>
          </a:p>
          <a:p>
            <a:pPr marL="742950" lvl="1" indent="-285750" algn="l">
              <a:buFont typeface="Arial" panose="020B0604020202020204" pitchFamily="34" charset="0"/>
              <a:buChar char="•"/>
            </a:pPr>
            <a:r>
              <a:rPr lang="en-US" b="0" i="0" dirty="0">
                <a:solidFill>
                  <a:srgbClr val="212529"/>
                </a:solidFill>
                <a:effectLst/>
              </a:rPr>
              <a:t>Communications network bandwidth</a:t>
            </a:r>
          </a:p>
          <a:p>
            <a:pPr marL="742950" lvl="1" indent="-285750" algn="l">
              <a:buFont typeface="Arial" panose="020B0604020202020204" pitchFamily="34" charset="0"/>
              <a:buChar char="•"/>
            </a:pPr>
            <a:r>
              <a:rPr lang="en-US" b="0" i="0" dirty="0">
                <a:solidFill>
                  <a:srgbClr val="212529"/>
                </a:solidFill>
                <a:effectLst/>
              </a:rPr>
              <a:t>Amount of memory available on any given machine or set of machines</a:t>
            </a:r>
          </a:p>
          <a:p>
            <a:pPr marL="742950" lvl="1" indent="-285750" algn="l">
              <a:buFont typeface="Arial" panose="020B0604020202020204" pitchFamily="34" charset="0"/>
              <a:buChar char="•"/>
            </a:pPr>
            <a:r>
              <a:rPr lang="en-US" b="0" i="0" dirty="0">
                <a:solidFill>
                  <a:srgbClr val="212529"/>
                </a:solidFill>
                <a:effectLst/>
              </a:rPr>
              <a:t>Processor clock speed</a:t>
            </a:r>
          </a:p>
          <a:p>
            <a:r>
              <a:rPr lang="en-US" b="0" i="0" dirty="0">
                <a:solidFill>
                  <a:srgbClr val="212529"/>
                </a:solidFill>
                <a:effectLst/>
              </a:rPr>
              <a:t>Parallel support libraries and subsystems software can limit scalability independent of your application.</a:t>
            </a:r>
          </a:p>
          <a:p>
            <a:endParaRPr lang="en-IN" dirty="0"/>
          </a:p>
        </p:txBody>
      </p:sp>
    </p:spTree>
    <p:extLst>
      <p:ext uri="{BB962C8B-B14F-4D97-AF65-F5344CB8AC3E}">
        <p14:creationId xmlns:p14="http://schemas.microsoft.com/office/powerpoint/2010/main" val="196128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8BE494-599F-50C3-CE02-27ABDA2493CA}"/>
              </a:ext>
            </a:extLst>
          </p:cNvPr>
          <p:cNvSpPr>
            <a:spLocks noGrp="1"/>
          </p:cNvSpPr>
          <p:nvPr>
            <p:ph idx="1"/>
          </p:nvPr>
        </p:nvSpPr>
        <p:spPr>
          <a:xfrm>
            <a:off x="484093" y="331694"/>
            <a:ext cx="11035553" cy="6060141"/>
          </a:xfrm>
        </p:spPr>
        <p:txBody>
          <a:bodyPr/>
          <a:lstStyle/>
          <a:p>
            <a:endParaRPr lang="en-IN" dirty="0"/>
          </a:p>
        </p:txBody>
      </p:sp>
    </p:spTree>
    <p:extLst>
      <p:ext uri="{BB962C8B-B14F-4D97-AF65-F5344CB8AC3E}">
        <p14:creationId xmlns:p14="http://schemas.microsoft.com/office/powerpoint/2010/main" val="1823152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515</TotalTime>
  <Words>913</Words>
  <Application>Microsoft Office PowerPoint</Application>
  <PresentationFormat>Widescreen</PresentationFormat>
  <Paragraphs>67</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Open Sans</vt:lpstr>
      <vt:lpstr>Office Theme</vt:lpstr>
      <vt:lpstr>Potential Benefits, Limits and Costs of Parallel Programming </vt:lpstr>
      <vt:lpstr>Amdahl's Law </vt:lpstr>
      <vt:lpstr>PowerPoint Presentation</vt:lpstr>
      <vt:lpstr>PowerPoint Presentation</vt:lpstr>
      <vt:lpstr>PROOF OF AMDAHL’S LAW</vt:lpstr>
      <vt:lpstr>REVIEW AND LIMITATION OF AMDHAL’S LAW</vt:lpstr>
      <vt:lpstr>Gustafson Law</vt:lpstr>
      <vt:lpstr>PowerPoint Presentation</vt:lpstr>
      <vt:lpstr>PowerPoint Presentation</vt:lpstr>
      <vt:lpstr>PowerPoint Presentation</vt:lpstr>
      <vt:lpstr>Scalability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Potential Benefits, Limits and Costs of Parallel Programming </dc:title>
  <dc:creator>Anjaly Aneesh</dc:creator>
  <cp:lastModifiedBy>Anjaly Aneesh</cp:lastModifiedBy>
  <cp:revision>10</cp:revision>
  <dcterms:created xsi:type="dcterms:W3CDTF">2024-01-15T09:24:10Z</dcterms:created>
  <dcterms:modified xsi:type="dcterms:W3CDTF">2025-01-08T05:31:02Z</dcterms:modified>
</cp:coreProperties>
</file>