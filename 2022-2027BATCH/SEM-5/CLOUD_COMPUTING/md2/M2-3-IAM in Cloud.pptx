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2" r:id="rId6"/>
    <p:sldId id="261" r:id="rId7"/>
    <p:sldId id="263" r:id="rId8"/>
    <p:sldId id="264" r:id="rId9"/>
    <p:sldId id="265" r:id="rId10"/>
    <p:sldId id="269" r:id="rId11"/>
    <p:sldId id="260" r:id="rId12"/>
    <p:sldId id="268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7"/>
    <p:restoredTop sz="94745"/>
  </p:normalViewPr>
  <p:slideViewPr>
    <p:cSldViewPr snapToGrid="0" snapToObjects="1">
      <p:cViewPr varScale="1">
        <p:scale>
          <a:sx n="109" d="100"/>
          <a:sy n="109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E1A73-1DAE-BD44-B27E-1A883D0C80C0}" type="datetimeFigureOut">
              <a:rPr lang="en-US" smtClean="0"/>
              <a:t>8/23/24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2EE55-8852-A348-BC1E-4963B8DC4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about sending nonce and nonce+1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2EE55-8852-A348-BC1E-4963B8DC41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0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B2E4-3DEE-5549-8785-D4CE70E0C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71CA9-7C8C-8949-BEF1-32C68C6FC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20612-F1FE-2646-9263-0654519A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2644A-0411-D147-9E6A-5223D87A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E8157-A1B7-354C-BA41-8D142D4B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5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A61F-1F34-C745-B571-2AEF578E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958D-122C-7F4D-B1D3-BF41D926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46AB4-EFEF-C74E-926F-CF09AEFF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75CD-C63E-6E46-82A8-83567CBE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C932-180C-2046-AF81-0A654D5A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0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6948-3150-A94E-886A-54F68D2B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654DC-0ABD-3E49-BBA6-8A5C2A73F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CE8F3-1A3E-8E44-9D72-684D14EBA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57E4F-8384-AD47-A5A0-1184898F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09CFE-60F8-854D-9324-CC551D10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D1F9-2EC1-5B43-9D30-CFE82359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7AEE-C1B8-4844-90FB-CFE5863D1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D5EF8-220D-8C40-B56C-567B66AF2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183F3-E63A-124D-BAAB-42E5F69B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AA7FE-5E38-F34F-A5DA-E5B4C41A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6CFA6-E3DB-A545-BBDD-B4C7A2C2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1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B657-3A27-DB42-BE71-C1AA466A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6A81-49A0-BF49-B553-302A699C0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8857C-918C-B049-8132-30798D6F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C0DC3-ECC0-DC4E-8A34-88EB19824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58D0F-D00B-7442-9F62-ADB5E7DB0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699C3-0D71-7C47-9AEB-0D560672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D742E7-66EF-4F49-BAB1-08EAF1E9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9FD90-FFF3-3747-B2A0-A2A1D0C6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2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102C-4EAD-4C47-B636-4AB1DC33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B9289-26D1-4245-97D7-0745C04E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79222-2F18-7347-BB2C-084EF37B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0B302-F04D-424C-8F72-CC8D2937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2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6413C-DC46-AA45-97E0-14806068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0A827-9CE3-E74F-81FE-F762FA86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B710F-E646-CE41-B55B-0FB29485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9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24A5-D3F2-C845-9E91-21574586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CC30-DC4D-5143-AF22-616D30245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EFF8A-3A62-6642-B5F2-84CD49E7E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7B5A9-E9D8-734C-BC23-22C3C3A8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E5FA4-13ED-2744-B8EE-63A9A9A4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06652-8927-3841-960B-4EABD256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1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616-891A-5E4D-A207-3F3842A7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C2A4CA-BF18-C940-8083-ACD9C6A72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3FCA0-55BC-4248-9ED5-5372F5A49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BF8DB-AEBF-984A-B9A6-117AC3CF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7D450-3035-EF4D-A5AF-F74764636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A2594-070A-474A-9531-139CF637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6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219B-3148-B24C-A1F3-644EE15C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FE429-1AE0-A942-B033-E2D61290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AE30B-D3C0-4944-BE67-86239B10E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70804-1BDF-3847-AB01-7414D141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D401F-5B9F-4541-B22E-52A22D34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8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9DEB0-B94D-3F4F-BAC1-485AB6C7E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1E7A8-0820-F546-B46D-25BA0D2F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9A0BC-5FF5-6740-9F56-45C34D52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777AE-FA5F-8741-8805-22015A34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2BCDF-1C59-6E42-8022-05D4F95B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0ED07-1376-0240-947F-01CEED32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0B19F-1ABA-9847-AA51-223C326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5E448-9CE4-A246-8EDA-32F3E49AC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0578-BCBB-2D4C-83C1-FC77AFC5FFA2}" type="datetimeFigureOut">
              <a:rPr lang="en-US" smtClean="0"/>
              <a:t>8/23/24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0ABB-F291-4B41-9B76-F985AFF77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A429E-0B7B-244B-A644-D5699BE30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03F8A-74BD-3347-B49D-09601E2D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9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94F4-06BE-FE41-AAE2-ED82FB2AA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Identity and Access Management in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A7AC5-137D-CB4A-BF5D-966E288A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2 – Security</a:t>
            </a:r>
          </a:p>
          <a:p>
            <a:endParaRPr lang="en-US" dirty="0"/>
          </a:p>
          <a:p>
            <a:r>
              <a:rPr lang="en-US" dirty="0"/>
              <a:t>Dr Bijoy A Jose</a:t>
            </a:r>
          </a:p>
        </p:txBody>
      </p:sp>
    </p:spTree>
    <p:extLst>
      <p:ext uri="{BB962C8B-B14F-4D97-AF65-F5344CB8AC3E}">
        <p14:creationId xmlns:p14="http://schemas.microsoft.com/office/powerpoint/2010/main" val="252762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38D2-4909-E847-9920-4E3643FD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between edge and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B2C8-D349-FF41-A2A3-1B0ED0818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2214" cy="4351338"/>
          </a:xfrm>
        </p:spPr>
        <p:txBody>
          <a:bodyPr/>
          <a:lstStyle/>
          <a:p>
            <a:r>
              <a:rPr lang="en-US" dirty="0"/>
              <a:t>The Kerberos model</a:t>
            </a:r>
          </a:p>
          <a:p>
            <a:r>
              <a:rPr lang="en-US" dirty="0"/>
              <a:t>Clients initially communicate with Access Control Management Unit (ACMU)</a:t>
            </a:r>
          </a:p>
          <a:p>
            <a:pPr lvl="1"/>
            <a:r>
              <a:rPr lang="en-US" dirty="0"/>
              <a:t>Access Control Enforcement unit (ACEU)</a:t>
            </a:r>
          </a:p>
          <a:p>
            <a:pPr lvl="2"/>
            <a:r>
              <a:rPr lang="en-US" dirty="0"/>
              <a:t>Authentication Server (AS)</a:t>
            </a:r>
          </a:p>
          <a:p>
            <a:pPr lvl="2"/>
            <a:r>
              <a:rPr lang="en-US" dirty="0"/>
              <a:t>Ticket Granting Server (TGS)</a:t>
            </a:r>
          </a:p>
          <a:p>
            <a:pPr lvl="2"/>
            <a:r>
              <a:rPr lang="en-US" dirty="0"/>
              <a:t>Service Server (SS)</a:t>
            </a:r>
          </a:p>
          <a:p>
            <a:pPr lvl="1"/>
            <a:r>
              <a:rPr lang="en-US" dirty="0"/>
              <a:t>Access Control Decision unit (ACDU)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55E5C-DCD5-DD40-BA84-815312A00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414" y="1493696"/>
            <a:ext cx="4750704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1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317B-A414-F34E-B4B0-541BA2BB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 into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74FB-EF27-8147-8B53-AFE0C85C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First request from User, Common secret key K is generated</a:t>
            </a:r>
          </a:p>
          <a:p>
            <a:r>
              <a:rPr lang="en-US" sz="2400" dirty="0"/>
              <a:t>User sends </a:t>
            </a:r>
            <a:r>
              <a:rPr lang="en-US" sz="2400" dirty="0" err="1"/>
              <a:t>uname</a:t>
            </a:r>
            <a:r>
              <a:rPr lang="en-US" sz="2400" dirty="0"/>
              <a:t>/</a:t>
            </a:r>
            <a:r>
              <a:rPr lang="en-US" sz="2400" dirty="0" err="1"/>
              <a:t>pwd</a:t>
            </a:r>
            <a:r>
              <a:rPr lang="en-US" sz="2400" dirty="0"/>
              <a:t> </a:t>
            </a:r>
            <a:r>
              <a:rPr lang="en-US" sz="2400" dirty="0" err="1"/>
              <a:t>encryipted</a:t>
            </a:r>
            <a:r>
              <a:rPr lang="en-US" sz="2400" dirty="0"/>
              <a:t> using K</a:t>
            </a:r>
          </a:p>
          <a:p>
            <a:r>
              <a:rPr lang="en-US" sz="2400" dirty="0"/>
              <a:t>Login info stored in AS of ACEU and acknowledgement is sent to User</a:t>
            </a:r>
          </a:p>
          <a:p>
            <a:r>
              <a:rPr lang="en-US" sz="2400" dirty="0"/>
              <a:t>A public-private key pair is generated and public key + timestamp is encrypted using private key is sent by the User</a:t>
            </a:r>
          </a:p>
          <a:p>
            <a:r>
              <a:rPr lang="en-US" sz="2400" dirty="0"/>
              <a:t>ACEU decrypts and stores public key in AS against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B7534-0A74-4A4B-B0A7-14D7DCDC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41" y="365125"/>
            <a:ext cx="4914462" cy="453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6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317B-A414-F34E-B4B0-541BA2BB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into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74FB-EF27-8147-8B53-AFE0C85C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5738" cy="4351338"/>
          </a:xfrm>
        </p:spPr>
        <p:txBody>
          <a:bodyPr>
            <a:noAutofit/>
          </a:bodyPr>
          <a:lstStyle/>
          <a:p>
            <a:r>
              <a:rPr lang="en-US" sz="2400" dirty="0"/>
              <a:t>First request from User, Common secret key K is generated</a:t>
            </a:r>
          </a:p>
          <a:p>
            <a:r>
              <a:rPr lang="en-US" sz="2400" dirty="0"/>
              <a:t>User sends </a:t>
            </a:r>
            <a:r>
              <a:rPr lang="en-US" sz="2400" dirty="0" err="1"/>
              <a:t>uname</a:t>
            </a:r>
            <a:r>
              <a:rPr lang="en-US" sz="2400" dirty="0"/>
              <a:t>/</a:t>
            </a:r>
            <a:r>
              <a:rPr lang="en-US" sz="2400" dirty="0" err="1"/>
              <a:t>pwd</a:t>
            </a:r>
            <a:r>
              <a:rPr lang="en-US" sz="2400" dirty="0"/>
              <a:t> encrypted using K. AS will match user information and find public key stored earlier</a:t>
            </a:r>
          </a:p>
          <a:p>
            <a:r>
              <a:rPr lang="en-US" sz="2400" dirty="0"/>
              <a:t>Cloud sends </a:t>
            </a:r>
            <a:r>
              <a:rPr lang="en-US" sz="2400" dirty="0" err="1"/>
              <a:t>uname</a:t>
            </a:r>
            <a:r>
              <a:rPr lang="en-US" sz="2400" dirty="0"/>
              <a:t> with nonce t encrypted with User’s public key</a:t>
            </a:r>
          </a:p>
          <a:p>
            <a:r>
              <a:rPr lang="en-US" sz="2400" dirty="0"/>
              <a:t>User sends back a nonce t+1 to Cloud encrypted by User’s public key and Cloud returns the </a:t>
            </a:r>
            <a:r>
              <a:rPr lang="en-US" sz="2400" dirty="0" err="1"/>
              <a:t>uname</a:t>
            </a:r>
            <a:r>
              <a:rPr lang="en-US" sz="2400" dirty="0"/>
              <a:t> with t+2.</a:t>
            </a:r>
          </a:p>
          <a:p>
            <a:r>
              <a:rPr lang="en-US" sz="2400" dirty="0"/>
              <a:t>Now a resource is requested by User similar to Kerberos model using AS, TGS and 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1690E-645B-7D40-A7D5-2085261C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658" y="1333500"/>
            <a:ext cx="4981137" cy="499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9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E7F1-298E-9444-A16F-694B9273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IAM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8BC7F-6E86-E74D-93A1-E2760395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Hash Functions</a:t>
            </a:r>
          </a:p>
          <a:p>
            <a:r>
              <a:rPr lang="en-IN" dirty="0"/>
              <a:t>Digital signatures</a:t>
            </a:r>
          </a:p>
          <a:p>
            <a:r>
              <a:rPr lang="en-IN" dirty="0"/>
              <a:t>VPN</a:t>
            </a:r>
          </a:p>
          <a:p>
            <a:r>
              <a:rPr lang="en-IN" dirty="0"/>
              <a:t>Digital certificates</a:t>
            </a:r>
          </a:p>
          <a:p>
            <a:r>
              <a:rPr lang="en-IN" dirty="0"/>
              <a:t>SSL</a:t>
            </a:r>
            <a:br>
              <a:rPr lang="en-IN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8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66F7-836B-AB44-864A-EB300105D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62E1D-9EF9-B741-97AE-F3F22D46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21676" cy="4351338"/>
          </a:xfrm>
        </p:spPr>
        <p:txBody>
          <a:bodyPr/>
          <a:lstStyle/>
          <a:p>
            <a:r>
              <a:rPr lang="en-IN" dirty="0"/>
              <a:t>One-way encryption – can’t decrypt </a:t>
            </a:r>
          </a:p>
          <a:p>
            <a:pPr marL="457200" lvl="1" indent="0">
              <a:buNone/>
            </a:pPr>
            <a:r>
              <a:rPr lang="en-IN" dirty="0"/>
              <a:t>– Has no key </a:t>
            </a:r>
          </a:p>
          <a:p>
            <a:pPr marL="457200" lvl="1" indent="0">
              <a:buNone/>
            </a:pPr>
            <a:r>
              <a:rPr lang="en-IN" dirty="0"/>
              <a:t>– Hashing creates a fixed length message digest </a:t>
            </a:r>
          </a:p>
          <a:p>
            <a:endParaRPr lang="en-IN" dirty="0"/>
          </a:p>
          <a:p>
            <a:r>
              <a:rPr lang="en-IN" dirty="0"/>
              <a:t>Primary use is for message integrity </a:t>
            </a:r>
          </a:p>
          <a:p>
            <a:r>
              <a:rPr lang="en-IN" dirty="0"/>
              <a:t>By comparing hash values, you can see if message sent = message received </a:t>
            </a:r>
          </a:p>
          <a:p>
            <a:endParaRPr lang="en-IN" dirty="0"/>
          </a:p>
          <a:p>
            <a:r>
              <a:rPr lang="en-IN" dirty="0"/>
              <a:t>Diffusion or substitution?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3C470-B096-9A40-A14E-2DC435E9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76" y="3027363"/>
            <a:ext cx="43180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9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A517-EC9A-2540-B6DC-16BAFAB3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8077-4F87-8644-B49E-7EBA71095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60761"/>
            <a:ext cx="8514144" cy="2616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A message can be </a:t>
            </a:r>
          </a:p>
          <a:p>
            <a:pPr lvl="1"/>
            <a:r>
              <a:rPr lang="en-IN" sz="2000" dirty="0"/>
              <a:t>Encrypted, which provides confidentiality </a:t>
            </a:r>
          </a:p>
          <a:p>
            <a:pPr lvl="1"/>
            <a:r>
              <a:rPr lang="en-IN" sz="2000" dirty="0"/>
              <a:t>Hashed, which provides integrity </a:t>
            </a:r>
          </a:p>
          <a:p>
            <a:pPr lvl="1"/>
            <a:r>
              <a:rPr lang="en-IN" sz="2000" dirty="0"/>
              <a:t>Digitally signed, which provides authentication, non- repudiation, and integrity </a:t>
            </a:r>
          </a:p>
          <a:p>
            <a:pPr lvl="1"/>
            <a:r>
              <a:rPr lang="en-IN" sz="2000" dirty="0"/>
              <a:t>Encrypted and digitally signed, which provides confidentiality, authentication, non-repudiation, and integrity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236AD-568F-234D-81EA-E35D42F1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44561"/>
            <a:ext cx="5930900" cy="2616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EA0A67-9CD5-C54A-8C84-EB5D3EB73C74}"/>
              </a:ext>
            </a:extLst>
          </p:cNvPr>
          <p:cNvSpPr/>
          <p:nvPr/>
        </p:nvSpPr>
        <p:spPr>
          <a:xfrm>
            <a:off x="838200" y="1970541"/>
            <a:ext cx="41273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A digital signature is a hash value that has been encrypted with the sender’s private key </a:t>
            </a:r>
          </a:p>
        </p:txBody>
      </p:sp>
    </p:spTree>
    <p:extLst>
      <p:ext uri="{BB962C8B-B14F-4D97-AF65-F5344CB8AC3E}">
        <p14:creationId xmlns:p14="http://schemas.microsoft.com/office/powerpoint/2010/main" val="17383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9E5F70-541C-424A-8254-89E82F06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59" y="960699"/>
            <a:ext cx="8822193" cy="538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9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A081-076B-F043-8C4E-E19A97ED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private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711F-D1A7-5D42-86AF-D514302B5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“tunnel” through the internet </a:t>
            </a:r>
          </a:p>
          <a:p>
            <a:pPr marL="0" indent="0">
              <a:buNone/>
            </a:pPr>
            <a:r>
              <a:rPr lang="en-IN" dirty="0"/>
              <a:t>	– </a:t>
            </a:r>
            <a:r>
              <a:rPr lang="en-IN" dirty="0" err="1"/>
              <a:t>IPSec</a:t>
            </a:r>
            <a:r>
              <a:rPr lang="en-IN" dirty="0"/>
              <a:t> = IP Security protocol </a:t>
            </a:r>
          </a:p>
          <a:p>
            <a:r>
              <a:rPr lang="en-IN" dirty="0"/>
              <a:t>A suite of protocols providing a mechanism to provide data integrity, authentication, privacy, and nonrepudiation for the classic Internet Protocol (IP) </a:t>
            </a:r>
          </a:p>
          <a:p>
            <a:r>
              <a:rPr lang="en-IN" dirty="0"/>
              <a:t>Puts a “wrapper” around your message to keep it secure</a:t>
            </a:r>
          </a:p>
          <a:p>
            <a:r>
              <a:rPr lang="en-IN" dirty="0"/>
              <a:t>Hides IP, connects you to a secure network, etc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4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A081-076B-F043-8C4E-E19A97ED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private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711F-D1A7-5D42-86AF-D514302B5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26124" cy="4351338"/>
          </a:xfrm>
        </p:spPr>
        <p:txBody>
          <a:bodyPr/>
          <a:lstStyle/>
          <a:p>
            <a:r>
              <a:rPr lang="en-IN" dirty="0"/>
              <a:t>Tunnelling </a:t>
            </a:r>
          </a:p>
          <a:p>
            <a:pPr lvl="1"/>
            <a:r>
              <a:rPr lang="en-IN" dirty="0"/>
              <a:t>Force a packet to go to a specific point in the network.</a:t>
            </a:r>
          </a:p>
          <a:p>
            <a:pPr lvl="1"/>
            <a:r>
              <a:rPr lang="en-IN" dirty="0"/>
              <a:t>Achieved by adding an extra IP header to the packet with a new destination address.</a:t>
            </a:r>
          </a:p>
          <a:p>
            <a:pPr lvl="1"/>
            <a:r>
              <a:rPr lang="en-IN" dirty="0"/>
              <a:t>Similar to putting a letter in another envelope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31491-660A-9C40-8E52-2589F934A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054" y="1539433"/>
            <a:ext cx="3258573" cy="36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10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C5EB-4616-C647-9BA0-CCA99873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EA3F-8E42-5C45-B951-D69FA9F55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Digital certificate: Electronic document to verify that users and websites are who/what they claim to be </a:t>
            </a:r>
          </a:p>
          <a:p>
            <a:pPr marL="0" indent="0">
              <a:buNone/>
            </a:pPr>
            <a:r>
              <a:rPr lang="en-IN" dirty="0"/>
              <a:t>	– Often used in email to verify sender</a:t>
            </a:r>
            <a:br>
              <a:rPr lang="en-IN" dirty="0"/>
            </a:br>
            <a:r>
              <a:rPr lang="en-IN" dirty="0"/>
              <a:t>	– Used on websites to indicate they’re authentic </a:t>
            </a:r>
          </a:p>
          <a:p>
            <a:pPr marL="0" indent="0">
              <a:buNone/>
            </a:pPr>
            <a:r>
              <a:rPr lang="en-IN" dirty="0"/>
              <a:t>Certificates usually contain a public key, a name, an expiration date, the name of the authority that issued the certificate, a serial number, any pertinent policies describing how the certificate was issued and/or how the certificate may be used, the digital signature of the certificate issuer, and perhaps other information 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69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C5EB-4616-C647-9BA0-CCA99873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EA3F-8E42-5C45-B951-D69FA9F5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306"/>
            <a:ext cx="7414549" cy="45796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Used to </a:t>
            </a:r>
          </a:p>
          <a:p>
            <a:pPr lvl="1"/>
            <a:r>
              <a:rPr lang="en-IN" dirty="0"/>
              <a:t>Establish identity: Associate, or bind, a public key to an individual, organization, corporate position, or other entity </a:t>
            </a:r>
            <a:endParaRPr lang="en-IN" sz="3200" dirty="0"/>
          </a:p>
          <a:p>
            <a:pPr lvl="1"/>
            <a:r>
              <a:rPr lang="en-IN" dirty="0"/>
              <a:t>Assign authority: Establish what actions the holder may or may not take based upon this certificate </a:t>
            </a:r>
            <a:endParaRPr lang="en-IN" sz="3200" dirty="0"/>
          </a:p>
          <a:p>
            <a:pPr lvl="1"/>
            <a:r>
              <a:rPr lang="en-IN" dirty="0"/>
              <a:t>Secure confidential information (encrypting the session’s symmetric key for data confidentiality) 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Look for</a:t>
            </a:r>
          </a:p>
          <a:p>
            <a:pPr lvl="1"/>
            <a:r>
              <a:rPr lang="en-IN" dirty="0"/>
              <a:t>Issued to site matches site name </a:t>
            </a:r>
          </a:p>
          <a:p>
            <a:pPr lvl="1"/>
            <a:r>
              <a:rPr lang="en-IN" dirty="0"/>
              <a:t>Issued by is reputable </a:t>
            </a:r>
          </a:p>
          <a:p>
            <a:pPr lvl="1"/>
            <a:r>
              <a:rPr lang="en-IN" dirty="0"/>
              <a:t>Certificate is valid 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dirty="0"/>
              <a:t>3 Major types of digital certificates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B93FC-3B4E-904D-B64E-E00694931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600" y="2095500"/>
            <a:ext cx="3835400" cy="449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D33887-5EB5-7F48-B7FE-0C983ABE1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07" y="94456"/>
            <a:ext cx="48768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97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16BA-7C14-A641-A1E6-4887E495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Socket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B147-66E8-3845-8236-E7AA8A698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SSL provides endpoint authentication and communications privacy over the Internet using cryptography.</a:t>
            </a:r>
          </a:p>
          <a:p>
            <a:pPr lvl="1"/>
            <a:r>
              <a:rPr lang="en-IN" dirty="0"/>
              <a:t> Used for web browsing, email, faxing, other data transmission</a:t>
            </a:r>
          </a:p>
          <a:p>
            <a:pPr lvl="1"/>
            <a:r>
              <a:rPr lang="en-IN" dirty="0"/>
              <a:t>Can be used to create a tunnel for VPN</a:t>
            </a:r>
          </a:p>
          <a:p>
            <a:r>
              <a:rPr lang="en-IN" dirty="0"/>
              <a:t>SSL uses public key crypto and digital certificates during an initial handshake used to authenticate the server </a:t>
            </a:r>
          </a:p>
          <a:p>
            <a:pPr lvl="1"/>
            <a:r>
              <a:rPr lang="en-IN" dirty="0"/>
              <a:t>The client and server then agree upon an encryption scheme </a:t>
            </a:r>
          </a:p>
          <a:p>
            <a:pPr lvl="1"/>
            <a:r>
              <a:rPr lang="en-IN" dirty="0"/>
              <a:t>Only the server is authenticated while the client remains unauthenticated. Mutual authentication requires PKI deployment to clients. </a:t>
            </a:r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770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5F65-110F-9442-8F40-93DD6884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Digital 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96F6-C2EE-AF4A-8756-ABF32B08C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Code Signing Certificates</a:t>
            </a:r>
            <a:r>
              <a:rPr lang="en-IN" dirty="0"/>
              <a:t> are used to sign software or files that are downloaded over the internet. </a:t>
            </a:r>
          </a:p>
          <a:p>
            <a:pPr lvl="1"/>
            <a:r>
              <a:rPr lang="en-IN" dirty="0"/>
              <a:t>They are signed by the developer/publisher of the software. </a:t>
            </a:r>
          </a:p>
          <a:p>
            <a:pPr lvl="1"/>
            <a:r>
              <a:rPr lang="en-IN" dirty="0"/>
              <a:t>Purpose is to guarantee that the software or file is genuine and comes from the publisher it claims to belong. </a:t>
            </a:r>
          </a:p>
          <a:p>
            <a:pPr lvl="1"/>
            <a:endParaRPr lang="en-IN" dirty="0"/>
          </a:p>
          <a:p>
            <a:r>
              <a:rPr lang="en-IN" b="1" dirty="0"/>
              <a:t>Client Certificates</a:t>
            </a:r>
            <a:r>
              <a:rPr lang="en-IN" dirty="0"/>
              <a:t> or Digital IDs are used to identify one user to another, a user to a machine, or a machine to another machine. </a:t>
            </a:r>
          </a:p>
          <a:p>
            <a:pPr lvl="1"/>
            <a:r>
              <a:rPr lang="en-IN" dirty="0"/>
              <a:t>One common example is emails, where the sender digitally signs the communication, and the recipient verifies the signature.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63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3519</TotalTime>
  <Words>808</Words>
  <Application>Microsoft Macintosh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Identity and Access Management in Cloud</vt:lpstr>
      <vt:lpstr>Communication between edge and cloud</vt:lpstr>
      <vt:lpstr>Registering into cloud</vt:lpstr>
      <vt:lpstr>Logging into cloud</vt:lpstr>
      <vt:lpstr>Other IAM topics</vt:lpstr>
      <vt:lpstr>Hash Function</vt:lpstr>
      <vt:lpstr>Digital Signature</vt:lpstr>
      <vt:lpstr>PowerPoint Presentation</vt:lpstr>
      <vt:lpstr>Virtual private network</vt:lpstr>
      <vt:lpstr>Virtual private network</vt:lpstr>
      <vt:lpstr>Digital Certificates</vt:lpstr>
      <vt:lpstr>Digital Certificates</vt:lpstr>
      <vt:lpstr>Secure Socket Layer</vt:lpstr>
      <vt:lpstr>Other Digital Certificates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Access Management in Cloud</dc:title>
  <dc:creator>Bijoy Jose</dc:creator>
  <cp:lastModifiedBy>Bijoy Jose</cp:lastModifiedBy>
  <cp:revision>55</cp:revision>
  <dcterms:created xsi:type="dcterms:W3CDTF">2022-02-09T04:37:35Z</dcterms:created>
  <dcterms:modified xsi:type="dcterms:W3CDTF">2024-08-25T13:56:17Z</dcterms:modified>
</cp:coreProperties>
</file>