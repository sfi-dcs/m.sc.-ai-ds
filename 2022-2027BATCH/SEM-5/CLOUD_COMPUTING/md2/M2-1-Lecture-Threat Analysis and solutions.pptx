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80" r:id="rId4"/>
    <p:sldId id="281" r:id="rId5"/>
    <p:sldId id="282" r:id="rId6"/>
    <p:sldId id="257" r:id="rId7"/>
    <p:sldId id="258" r:id="rId8"/>
    <p:sldId id="259" r:id="rId9"/>
    <p:sldId id="261" r:id="rId10"/>
    <p:sldId id="266" r:id="rId11"/>
    <p:sldId id="260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20"/>
    <p:restoredTop sz="94745"/>
  </p:normalViewPr>
  <p:slideViewPr>
    <p:cSldViewPr snapToGrid="0" snapToObjects="1">
      <p:cViewPr varScale="1">
        <p:scale>
          <a:sx n="86" d="100"/>
          <a:sy n="86" d="100"/>
        </p:scale>
        <p:origin x="23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5A08-D381-4943-A984-AECC5EBE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81617-5DC2-184E-AF41-D57834DD4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7C25-D8B8-1A46-95EE-990F6FA3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481B9-5850-F74D-A237-BD0A79AA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8E6D-7E85-D047-AB82-8FC0ED84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0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C3EA-13B6-2F4B-8E72-1F196173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B942C-6AD7-ED49-A1F3-1195A080E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9A2F-D10C-4644-AED7-6A7174BC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6BF89-39D8-3343-90CA-D16AAFA2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E81B-C511-D447-85E8-8DFF3260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0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3936-5DA6-C64E-9929-E0D126B3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87B4-B7C5-AB4C-AED5-F66A725BA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EBAE5-5562-6949-81C3-E62F9CB2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95959-D483-214C-910E-F12C9C5C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51BF-731B-0948-AA90-97D7A614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B3FC-B416-8446-AE19-89E6C218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C4AB-2DB0-A543-B2D5-245348420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E7F0B-62B8-524F-912F-5A2CC3A0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76312-8C41-F444-AF94-F2BF59B7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0FFAF-473C-864C-828C-0914B7BB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F2ED0-6DE2-F040-B3C7-9C1CFB54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8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D501-3B93-3B46-88E5-3524EDD5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C66E7-2A55-BA4A-98BC-55D090905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AB4B3-385E-AC41-9540-D5C9EC08F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1C3B5-D661-0846-8321-2360A0140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ABF50-BA2D-8E40-B9E2-C27FB2D8E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D8EAB9-D5C2-D443-84BB-908B6B7F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011D2-93E2-C343-BF0E-8D0D32CF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2190C-E374-AE49-9F86-ECB0E23C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4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80DD-4598-724B-92B9-652567E3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3EC373-5C65-9546-8FE7-1AE520A8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878C7-6EB7-5B45-89C7-4F3F0EB3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5CBF6-D001-944C-8CF0-07BC97D7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3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C8A25-5B93-5741-95FB-675CEF34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96B4A5-D19C-5B4C-8951-A943C1A1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2D4D-1774-424D-8164-3FACECE5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1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B6D3-AEA0-234B-AAF1-7E1AE981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9173-1142-2942-B90A-F24DC48D3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25836-5D76-5945-83F6-B68ECB2A4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8783E-52DD-804E-B1C3-45382159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29F18-8489-EA45-BA4C-ED609660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40734-7578-604D-A5D2-A0029012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4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98B6-E28D-3D41-AA7B-E5DE91CA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95146-833B-A14E-9733-71F1B6A19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E336B-B0D6-8F4F-8A1E-4C1F0B44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A737B-13E2-114D-8160-30863BEC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96756-E159-154E-BA73-E6739CD0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69EC0-1912-9F42-B601-B7DA64F8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E44D-5AEB-C245-8303-0CF9CF07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69538-B64C-3D40-88BA-E37063281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2955-63FD-2D43-AD25-A7E16FA5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F3010-9F39-E440-804C-FD7B2947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1B192-36CF-6F46-9F71-DF3A11B8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49F7A7-D991-1E41-9532-8B8257542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4319C-FA1A-5B41-978E-8F0C5844B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31844-E5B4-1141-8411-6E6D02B9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014C-61A9-5B49-A281-0C0A1B0E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47A45-FE0C-DF4F-AA69-9D1905E4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1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C3091-9077-544F-9D9A-6BBBA7FD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76351-CFBD-1643-A137-50A2D472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426B2-FF95-B241-8AF2-64314D6E8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37DF-C8E0-DF4F-8378-F45015BF43F6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5D5E5-132A-BF4E-8B28-681FABCE7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F08E-F346-2D41-A437-7804D6AE3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3AAEF-ED77-9241-A655-C3667C025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7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C36A-B9FE-5C4A-8784-053C2B98A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Threat Analysis in cloud: Attacks and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D4477-F961-BD47-94CF-C0C1F4C3B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816" y="396545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Module 2 </a:t>
            </a:r>
          </a:p>
          <a:p>
            <a:r>
              <a:rPr lang="en-US" dirty="0"/>
              <a:t>Cloud computing</a:t>
            </a:r>
          </a:p>
          <a:p>
            <a:endParaRPr lang="en-US" dirty="0"/>
          </a:p>
          <a:p>
            <a:r>
              <a:rPr lang="en-US" dirty="0"/>
              <a:t>Dr Bijoy A Jose</a:t>
            </a:r>
          </a:p>
        </p:txBody>
      </p:sp>
    </p:spTree>
    <p:extLst>
      <p:ext uri="{BB962C8B-B14F-4D97-AF65-F5344CB8AC3E}">
        <p14:creationId xmlns:p14="http://schemas.microsoft.com/office/powerpoint/2010/main" val="347346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Verdana" pitchFamily="34" charset="0"/>
                <a:ea typeface="Verdana" pitchFamily="34" charset="0"/>
                <a:cs typeface="Verdana" pitchFamily="34" charset="0"/>
              </a:rPr>
              <a:t>Cyber Security Objectives</a:t>
            </a:r>
            <a:endParaRPr lang="en-IN" sz="3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Confidentiality: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Prevention of unauthorized access to resources</a:t>
            </a:r>
          </a:p>
          <a:p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Integrity: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Prevention of modification or corruption of resources</a:t>
            </a:r>
          </a:p>
          <a:p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Accessibility: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Prevention of attacks that would keep a resource from being accessed or used according to its intended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D1731-73C7-0913-20E9-25C132E6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571500"/>
            <a:ext cx="3962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should embedded security be  important 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t="21888" r="6321" b="3366"/>
          <a:stretch/>
        </p:blipFill>
        <p:spPr>
          <a:xfrm>
            <a:off x="2133600" y="1828800"/>
            <a:ext cx="7315200" cy="4538612"/>
          </a:xfrm>
        </p:spPr>
      </p:pic>
    </p:spTree>
    <p:extLst>
      <p:ext uri="{BB962C8B-B14F-4D97-AF65-F5344CB8AC3E}">
        <p14:creationId xmlns:p14="http://schemas.microsoft.com/office/powerpoint/2010/main" val="262439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embedded security difficult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" y="2032736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Economic/Business incentive to produce bad security products: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Oftentimes buyers are unable to observe the differences in quality between  a good security products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Increased software complexity: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Linear growth in hardware/software content creates non-linear growth in overall system complexity.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Security is an afterthought: </a:t>
            </a: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Often financially and/or technically infeasible to retrofit security capabilities to an embedded system that was not originally designed for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001000" y="4735057"/>
            <a:ext cx="2209800" cy="139110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88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F83A-B644-4847-B703-A2A39FD8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7A5BE-4FFB-C24E-A71F-CE0526812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types of attacks</a:t>
            </a:r>
          </a:p>
          <a:p>
            <a:endParaRPr lang="en-US" dirty="0"/>
          </a:p>
          <a:p>
            <a:r>
              <a:rPr lang="en-US" dirty="0"/>
              <a:t>What are the solutions?</a:t>
            </a:r>
          </a:p>
          <a:p>
            <a:endParaRPr lang="en-US" dirty="0"/>
          </a:p>
          <a:p>
            <a:r>
              <a:rPr lang="en-US" dirty="0"/>
              <a:t>How is the attack performed?</a:t>
            </a:r>
          </a:p>
        </p:txBody>
      </p:sp>
    </p:spTree>
    <p:extLst>
      <p:ext uri="{BB962C8B-B14F-4D97-AF65-F5344CB8AC3E}">
        <p14:creationId xmlns:p14="http://schemas.microsoft.com/office/powerpoint/2010/main" val="80782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120B-7369-AB49-8CD7-13A9B320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670E0-13C6-5946-AF82-ACA4C512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Simplest method to attack a device or server</a:t>
            </a:r>
          </a:p>
          <a:p>
            <a:r>
              <a:rPr lang="en-US" dirty="0"/>
              <a:t>Tamper or replace edge/server</a:t>
            </a:r>
          </a:p>
          <a:p>
            <a:r>
              <a:rPr lang="en-US" dirty="0"/>
              <a:t>Remove connectivity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-&gt; Needs access to device/server </a:t>
            </a:r>
          </a:p>
          <a:p>
            <a:pPr marL="0" indent="0">
              <a:buNone/>
            </a:pPr>
            <a:r>
              <a:rPr lang="en-US" dirty="0"/>
              <a:t>-&gt; Server need not be physically accessible if it is in cloud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</a:t>
            </a:r>
          </a:p>
          <a:p>
            <a:r>
              <a:rPr lang="en-US" dirty="0"/>
              <a:t>Lock and key</a:t>
            </a:r>
          </a:p>
          <a:p>
            <a:r>
              <a:rPr lang="en-US" dirty="0"/>
              <a:t>Limit the people who can tamper with device.</a:t>
            </a:r>
          </a:p>
        </p:txBody>
      </p:sp>
    </p:spTree>
    <p:extLst>
      <p:ext uri="{BB962C8B-B14F-4D97-AF65-F5344CB8AC3E}">
        <p14:creationId xmlns:p14="http://schemas.microsoft.com/office/powerpoint/2010/main" val="178603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831E-76A9-AC41-822B-79E88471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28535-BFC5-F142-A6F1-0A40A9E21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Getting hold of encryption key and use for later time to hack</a:t>
            </a:r>
          </a:p>
          <a:p>
            <a:pPr lvl="1"/>
            <a:r>
              <a:rPr lang="en-US" dirty="0"/>
              <a:t>When the IoT network was unencrypted</a:t>
            </a:r>
          </a:p>
          <a:p>
            <a:pPr lvl="1"/>
            <a:r>
              <a:rPr lang="en-US" dirty="0"/>
              <a:t>Zero day attack: When the vulnerability was unknown. </a:t>
            </a:r>
          </a:p>
          <a:p>
            <a:pPr lvl="1"/>
            <a:r>
              <a:rPr lang="en-US" dirty="0"/>
              <a:t>Brute force attack to crack encryption</a:t>
            </a:r>
          </a:p>
          <a:p>
            <a:pPr lvl="1"/>
            <a:r>
              <a:rPr lang="en-US" dirty="0"/>
              <a:t>Session hijacking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Solutions</a:t>
            </a:r>
          </a:p>
          <a:p>
            <a:pPr marL="0" indent="0">
              <a:buNone/>
            </a:pPr>
            <a:r>
              <a:rPr lang="en-US" dirty="0"/>
              <a:t>-&gt; system has to start with encryption in place</a:t>
            </a:r>
          </a:p>
          <a:p>
            <a:pPr marL="0" indent="0">
              <a:buNone/>
            </a:pPr>
            <a:r>
              <a:rPr lang="en-US" dirty="0"/>
              <a:t>-&gt;Encryption mechanism should not transfer key over the network.</a:t>
            </a:r>
          </a:p>
          <a:p>
            <a:pPr marL="0" indent="0">
              <a:buNone/>
            </a:pPr>
            <a:r>
              <a:rPr lang="en-US" dirty="0"/>
              <a:t>-&gt; Use the latest encryption standards to withstand brute force attack</a:t>
            </a:r>
          </a:p>
          <a:p>
            <a:pPr marL="0" indent="0">
              <a:buNone/>
            </a:pPr>
            <a:r>
              <a:rPr lang="en-US" dirty="0"/>
              <a:t>-&gt; Detect attack attempts and flag users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1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2AB4-C471-7B42-9A30-DF1F9FB7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 (DoS)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0D611-B2A1-6C46-A090-3D18FC9EC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DoS or Distributed DoS</a:t>
            </a:r>
          </a:p>
          <a:p>
            <a:r>
              <a:rPr lang="en-US" dirty="0"/>
              <a:t>It is a DoS attack, if a service has become unavailable as a result.</a:t>
            </a:r>
          </a:p>
          <a:p>
            <a:r>
              <a:rPr lang="en-US" dirty="0"/>
              <a:t>Can be caused due to large number of calls to service by Bots.</a:t>
            </a:r>
          </a:p>
          <a:p>
            <a:r>
              <a:rPr lang="en-US" dirty="0"/>
              <a:t>Impact is to bring a business down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Solutions</a:t>
            </a:r>
          </a:p>
          <a:p>
            <a:r>
              <a:rPr lang="en-US" dirty="0"/>
              <a:t>Keep changing </a:t>
            </a:r>
            <a:r>
              <a:rPr lang="en-US" dirty="0" err="1"/>
              <a:t>ip</a:t>
            </a:r>
            <a:r>
              <a:rPr lang="en-US" dirty="0"/>
              <a:t> address of servers and filter all requests coming 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Eg</a:t>
            </a:r>
            <a:r>
              <a:rPr lang="en-US" dirty="0"/>
              <a:t>; Cloudflare</a:t>
            </a:r>
          </a:p>
          <a:p>
            <a:r>
              <a:rPr lang="en-US" dirty="0"/>
              <a:t>Duplicate servers, rate limiting, etc.</a:t>
            </a:r>
          </a:p>
          <a:p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5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26AD-56FD-434E-9405-F54ED7B9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Eavesdropping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3C465-2BEE-454C-B10B-C4C636361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Hacker intercepts network traffic in order to steal sensitive information via a weakened connection between an IoT device and a server. </a:t>
            </a:r>
          </a:p>
          <a:p>
            <a:r>
              <a:rPr lang="en-IN" dirty="0"/>
              <a:t>Eavesdropping is typically done by listening to digital data transfer, or voice communication or via the interception of sniffed data.</a:t>
            </a:r>
          </a:p>
          <a:p>
            <a:r>
              <a:rPr lang="en-IN" dirty="0" err="1"/>
              <a:t>Eg</a:t>
            </a:r>
            <a:r>
              <a:rPr lang="en-IN" dirty="0"/>
              <a:t>: snooping, keylogging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Solutions</a:t>
            </a:r>
          </a:p>
          <a:p>
            <a:r>
              <a:rPr lang="en-US" dirty="0"/>
              <a:t>No physical access to edge device</a:t>
            </a:r>
          </a:p>
          <a:p>
            <a:r>
              <a:rPr lang="en-US" dirty="0"/>
              <a:t>Strong encryption in network and strong protocols in place</a:t>
            </a:r>
          </a:p>
        </p:txBody>
      </p:sp>
    </p:spTree>
    <p:extLst>
      <p:ext uri="{BB962C8B-B14F-4D97-AF65-F5344CB8AC3E}">
        <p14:creationId xmlns:p14="http://schemas.microsoft.com/office/powerpoint/2010/main" val="313935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BC85-3412-EF40-B808-58BE774C7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 in the Middle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A2C6E-CA6F-F54B-879F-726EEA034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Alice </a:t>
            </a:r>
            <a:r>
              <a:rPr lang="en-IN" i="1" dirty="0"/>
              <a:t>"Hi Bob, it's Alice. Give me your key."</a:t>
            </a:r>
            <a:r>
              <a:rPr lang="en-IN" dirty="0"/>
              <a:t> →     Mallory     Bob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Alice     Mallory </a:t>
            </a:r>
            <a:r>
              <a:rPr lang="en-IN" i="1" dirty="0"/>
              <a:t>"Hi Bob, it's Alice. Give me your key."</a:t>
            </a:r>
            <a:r>
              <a:rPr lang="en-IN" dirty="0"/>
              <a:t> →     Bob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Alice     Mallory     ← </a:t>
            </a:r>
            <a:r>
              <a:rPr lang="en-IN" i="1" dirty="0"/>
              <a:t>[Bob's key]</a:t>
            </a:r>
            <a:r>
              <a:rPr lang="en-IN" dirty="0"/>
              <a:t> Bob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Alice     ← </a:t>
            </a:r>
            <a:r>
              <a:rPr lang="en-IN" i="1" dirty="0"/>
              <a:t>[Mallory's key]</a:t>
            </a:r>
            <a:r>
              <a:rPr lang="en-IN" dirty="0"/>
              <a:t> Mallory     Bob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Alice </a:t>
            </a:r>
            <a:r>
              <a:rPr lang="en-IN" i="1" dirty="0"/>
              <a:t>"Meet me at the bus stop!" [encrypted with Mallory's key]</a:t>
            </a:r>
            <a:r>
              <a:rPr lang="en-IN" dirty="0"/>
              <a:t> →     Mallory     Bob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Alice     Mallory </a:t>
            </a:r>
            <a:r>
              <a:rPr lang="en-IN" i="1" dirty="0"/>
              <a:t>"Meet me at the van down by the river!" [encrypted with Bob's key]</a:t>
            </a:r>
            <a:r>
              <a:rPr lang="en-IN" dirty="0"/>
              <a:t> →     Bob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536DA-D4C1-BD44-A7B5-DCE9C9D4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144" y="1027906"/>
            <a:ext cx="3871563" cy="274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7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E4B9-3E1A-7F4D-B43B-4DA66E52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 in the Middle (MITM)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C336-10F8-9746-B4AE-8957AAF21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Hacked has breached communication between two entities</a:t>
            </a:r>
          </a:p>
          <a:p>
            <a:r>
              <a:rPr lang="en-US" dirty="0"/>
              <a:t>Tricking an edge/server by impersonation</a:t>
            </a:r>
          </a:p>
          <a:p>
            <a:endParaRPr lang="en-US" dirty="0"/>
          </a:p>
          <a:p>
            <a:r>
              <a:rPr lang="en-IN" dirty="0"/>
              <a:t>ARP spoofing by IP impersonation in a network. Give wrong Mac address+ IP combination to edge device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Solution</a:t>
            </a:r>
          </a:p>
          <a:p>
            <a:r>
              <a:rPr lang="en-IN" dirty="0"/>
              <a:t>Certificate authority for websites</a:t>
            </a:r>
          </a:p>
          <a:p>
            <a:r>
              <a:rPr lang="en-IN" dirty="0"/>
              <a:t>Multi-factor authentication</a:t>
            </a:r>
          </a:p>
          <a:p>
            <a:r>
              <a:rPr lang="en-IN" dirty="0"/>
              <a:t>VPN or secure networks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7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E034-C1E4-6C4E-A3D3-3DB4A173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 Escalation/jailbreaking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4F6B-2F87-404E-BDB9-EA23A5F7D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2844" cy="4351338"/>
          </a:xfrm>
        </p:spPr>
        <p:txBody>
          <a:bodyPr/>
          <a:lstStyle/>
          <a:p>
            <a:r>
              <a:rPr lang="en-US" dirty="0"/>
              <a:t>Legitimate access may be given, but higher privilege is requested to do unauthorized changes or steal data.</a:t>
            </a:r>
          </a:p>
          <a:p>
            <a:r>
              <a:rPr lang="en-US" dirty="0"/>
              <a:t>Access maybe given by mistake, due to bug or design flaw. </a:t>
            </a:r>
          </a:p>
          <a:p>
            <a:r>
              <a:rPr lang="en-US" dirty="0"/>
              <a:t>Typically memory based attack. </a:t>
            </a:r>
            <a:r>
              <a:rPr lang="en-US" dirty="0" err="1"/>
              <a:t>Eg</a:t>
            </a:r>
            <a:r>
              <a:rPr lang="en-US" dirty="0"/>
              <a:t>: buffer overflow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Solutions</a:t>
            </a:r>
          </a:p>
          <a:p>
            <a:pPr marL="0" indent="0">
              <a:buNone/>
            </a:pPr>
            <a:r>
              <a:rPr lang="en-US" dirty="0"/>
              <a:t>Memory protections techniques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29ADE-0E47-D84E-8A40-0F58615F4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522" y="593618"/>
            <a:ext cx="27940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83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C2CE-ED5C-9B4D-A0AB-7BCB6E8A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 hijacking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DFCF-6830-AF44-ABAB-5A7804C8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IoT, new firmware fixes bugs and vulnerabilities. Not updating makes you exposed</a:t>
            </a:r>
          </a:p>
          <a:p>
            <a:r>
              <a:rPr lang="en-US" dirty="0"/>
              <a:t>Updates have to come from the right source. Malicious software update can result in hijacking as privilege is high during update.</a:t>
            </a:r>
          </a:p>
          <a:p>
            <a:r>
              <a:rPr lang="en-US" dirty="0" err="1"/>
              <a:t>Eg</a:t>
            </a:r>
            <a:r>
              <a:rPr lang="en-US" dirty="0"/>
              <a:t>: Connecting bad USB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Solutions</a:t>
            </a:r>
          </a:p>
          <a:p>
            <a:pPr marL="0" indent="0">
              <a:buNone/>
            </a:pPr>
            <a:r>
              <a:rPr lang="en-US" dirty="0"/>
              <a:t>Secure boot – Only update from OEM</a:t>
            </a:r>
          </a:p>
          <a:p>
            <a:pPr marL="0" indent="0">
              <a:buNone/>
            </a:pPr>
            <a:r>
              <a:rPr lang="en-US" dirty="0"/>
              <a:t>Enhanced BIOS verification – </a:t>
            </a:r>
            <a:r>
              <a:rPr lang="en-US" dirty="0" err="1"/>
              <a:t>compage</a:t>
            </a:r>
            <a:r>
              <a:rPr lang="en-US" dirty="0"/>
              <a:t> BIOS image with official image</a:t>
            </a:r>
          </a:p>
        </p:txBody>
      </p:sp>
    </p:spTree>
    <p:extLst>
      <p:ext uri="{BB962C8B-B14F-4D97-AF65-F5344CB8AC3E}">
        <p14:creationId xmlns:p14="http://schemas.microsoft.com/office/powerpoint/2010/main" val="2268788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AD0F-5657-D347-A149-B521D715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attack? Ransomware and Botnets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1E3C-76AB-594E-A4EE-5379EE85B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Ransomware</a:t>
            </a:r>
            <a:r>
              <a:rPr lang="en-IN" dirty="0"/>
              <a:t> is a type of malware that locks down access to files by encrypting them.</a:t>
            </a:r>
          </a:p>
          <a:p>
            <a:r>
              <a:rPr lang="en-IN" dirty="0"/>
              <a:t>Disrupt day-to-day business and the encryption key often comes at a hefty price.</a:t>
            </a:r>
          </a:p>
          <a:p>
            <a:r>
              <a:rPr lang="en-IN" b="1" dirty="0"/>
              <a:t>Botnets</a:t>
            </a:r>
            <a:r>
              <a:rPr lang="en-IN" dirty="0"/>
              <a:t>: Turn networked IoT devices into remotely controlled bots to transfer private, sensitive corporate data, which may be sold on the dark web, or to disable a device.</a:t>
            </a:r>
          </a:p>
          <a:p>
            <a:pPr lvl="1"/>
            <a:r>
              <a:rPr lang="en-IN" dirty="0" err="1"/>
              <a:t>Eg</a:t>
            </a:r>
            <a:r>
              <a:rPr lang="en-IN" dirty="0"/>
              <a:t>: </a:t>
            </a:r>
            <a:r>
              <a:rPr lang="en-IN" dirty="0" err="1"/>
              <a:t>Mirai</a:t>
            </a:r>
            <a:r>
              <a:rPr lang="en-IN" dirty="0"/>
              <a:t> botnet hacked 2.5 million devices to create DoS type attack.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4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764</Words>
  <Application>Microsoft Macintosh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Verdana</vt:lpstr>
      <vt:lpstr>Office Theme</vt:lpstr>
      <vt:lpstr>Threat Analysis in cloud: Attacks and solutions</vt:lpstr>
      <vt:lpstr>Cyber Security Objectives</vt:lpstr>
      <vt:lpstr>Why should embedded security be  important ?</vt:lpstr>
      <vt:lpstr>Why embedded security difficult ?</vt:lpstr>
      <vt:lpstr>Cyber attacks</vt:lpstr>
      <vt:lpstr>Physical attacks</vt:lpstr>
      <vt:lpstr>Encryption attacks</vt:lpstr>
      <vt:lpstr>Denial of Service (DoS)</vt:lpstr>
      <vt:lpstr>Eavesdropping</vt:lpstr>
      <vt:lpstr>Man in the Middle attack</vt:lpstr>
      <vt:lpstr>Man in the Middle (MITM)</vt:lpstr>
      <vt:lpstr>Privilege Escalation/jailbreaking</vt:lpstr>
      <vt:lpstr>Firmware hijacking</vt:lpstr>
      <vt:lpstr>How to attack? Ransomware and Botnets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Analysis</dc:title>
  <dc:creator>Bijoy Jose</dc:creator>
  <cp:lastModifiedBy>Bijoy Jose</cp:lastModifiedBy>
  <cp:revision>33</cp:revision>
  <dcterms:created xsi:type="dcterms:W3CDTF">2022-01-31T05:42:00Z</dcterms:created>
  <dcterms:modified xsi:type="dcterms:W3CDTF">2024-08-16T05:43:08Z</dcterms:modified>
</cp:coreProperties>
</file>