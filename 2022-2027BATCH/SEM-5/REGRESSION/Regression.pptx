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7" r:id="rId6"/>
    <p:sldId id="258" r:id="rId7"/>
    <p:sldId id="264" r:id="rId8"/>
    <p:sldId id="278" r:id="rId9"/>
    <p:sldId id="295" r:id="rId10"/>
    <p:sldId id="266" r:id="rId11"/>
    <p:sldId id="275" r:id="rId12"/>
    <p:sldId id="270" r:id="rId13"/>
    <p:sldId id="296" r:id="rId14"/>
    <p:sldId id="297" r:id="rId15"/>
    <p:sldId id="268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6020" y="4031717"/>
            <a:ext cx="5261811" cy="1122202"/>
          </a:xfrm>
        </p:spPr>
        <p:txBody>
          <a:bodyPr/>
          <a:lstStyle/>
          <a:p>
            <a:r>
              <a:rPr lang="en-US" dirty="0"/>
              <a:t>Regression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4511" y="5272258"/>
            <a:ext cx="4941770" cy="396660"/>
          </a:xfrm>
        </p:spPr>
        <p:txBody>
          <a:bodyPr/>
          <a:lstStyle/>
          <a:p>
            <a:r>
              <a:rPr lang="en-US" dirty="0"/>
              <a:t>Done By: ASHFAQ HUSSAIN M S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50" y="410845"/>
            <a:ext cx="3171825" cy="1325563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8" y="2226085"/>
            <a:ext cx="6119353" cy="3240651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dirty="0"/>
              <a:t>MULTICOLLINEARITY:</a:t>
            </a:r>
          </a:p>
          <a:p>
            <a:r>
              <a:rPr lang="en-US" dirty="0"/>
              <a:t>	1.1 Introduction</a:t>
            </a:r>
          </a:p>
          <a:p>
            <a:r>
              <a:rPr lang="en-US" dirty="0"/>
              <a:t>	1.2 Detection</a:t>
            </a:r>
          </a:p>
          <a:p>
            <a:r>
              <a:rPr lang="en-US" dirty="0"/>
              <a:t>	1.3 Imputations And Its Remedies</a:t>
            </a:r>
          </a:p>
          <a:p>
            <a:r>
              <a:rPr lang="en-US" dirty="0"/>
              <a:t>2.   PRINCIPAL COMPONENT REGRESSION:</a:t>
            </a:r>
          </a:p>
          <a:p>
            <a:r>
              <a:rPr lang="en-US" dirty="0"/>
              <a:t>	2.1 Introduction</a:t>
            </a:r>
          </a:p>
          <a:p>
            <a:r>
              <a:rPr lang="en-US" dirty="0"/>
              <a:t>	2.2 Steps</a:t>
            </a:r>
          </a:p>
          <a:p>
            <a:r>
              <a:rPr lang="en-US" dirty="0"/>
              <a:t>	2.3 Advantages And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1974" y="2571235"/>
            <a:ext cx="4838946" cy="1715531"/>
          </a:xfrm>
        </p:spPr>
        <p:txBody>
          <a:bodyPr/>
          <a:lstStyle/>
          <a:p>
            <a:r>
              <a:rPr lang="en-US" dirty="0"/>
              <a:t>Multicollinearity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752" y="466726"/>
            <a:ext cx="5111750" cy="1204912"/>
          </a:xfrm>
        </p:spPr>
        <p:txBody>
          <a:bodyPr>
            <a:normAutofit/>
          </a:bodyPr>
          <a:lstStyle/>
          <a:p>
            <a:r>
              <a:rPr lang="en-US" sz="3600" dirty="0"/>
              <a:t>Intro..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5932" y="2195766"/>
            <a:ext cx="6877358" cy="37527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Multicollinearity in regression analysis occurs when two or more independent variables in a model are highly correlated, meaning they have a strong linear relationship.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This can cause issues because multicollinearity makes it difficult to determine the individual effect of each predictor on the dependent variable.</a:t>
            </a:r>
            <a:endParaRPr lang="en-US" sz="2000" noProof="1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88EE1A-F796-7950-002B-38D70BE3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13290" y="3377381"/>
            <a:ext cx="3694486" cy="263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260" y="443756"/>
            <a:ext cx="5431971" cy="846301"/>
          </a:xfrm>
        </p:spPr>
        <p:txBody>
          <a:bodyPr>
            <a:normAutofit/>
          </a:bodyPr>
          <a:lstStyle/>
          <a:p>
            <a:r>
              <a:rPr lang="en-US" sz="3600" dirty="0"/>
              <a:t>Detection…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0717" y="1203140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1. Variance Inflation Factor (VIF)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3234" y="1704201"/>
            <a:ext cx="9910565" cy="233131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The </a:t>
            </a:r>
            <a:r>
              <a:rPr lang="en-US" sz="1600" b="1" dirty="0">
                <a:latin typeface="Andalus" panose="02020603050405020304" pitchFamily="18" charset="-78"/>
                <a:cs typeface="Andalus" panose="02020603050405020304" pitchFamily="18" charset="-78"/>
              </a:rPr>
              <a:t>VIF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 quantifies how much the variance of a regression coefficient is inflated due to multicollinearity. For an independent variable 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i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, the VIF is calculated as:</a:t>
            </a:r>
          </a:p>
          <a:p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			 </a:t>
            </a:r>
            <a:r>
              <a:rPr lang="en-IN" sz="1600" dirty="0"/>
              <a:t>VIF(Xi​)=1/1−R</a:t>
            </a:r>
            <a:r>
              <a:rPr lang="en-IN" sz="1600" baseline="-25000" dirty="0"/>
              <a:t>i</a:t>
            </a:r>
            <a:r>
              <a:rPr lang="en-IN" sz="1600" baseline="30000" dirty="0"/>
              <a:t>2</a:t>
            </a:r>
            <a:r>
              <a:rPr lang="en-IN" sz="1600" dirty="0"/>
              <a:t>​ 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​</a:t>
            </a:r>
          </a:p>
          <a:p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where Ri2R_i^2Ri2​ is the coefficient of  determination from regressing 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i 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​ on all other predictors.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A </a:t>
            </a:r>
            <a:r>
              <a:rPr lang="en-US" sz="1600" b="1" dirty="0">
                <a:latin typeface="Andalus" panose="02020603050405020304" pitchFamily="18" charset="-78"/>
                <a:cs typeface="Andalus" panose="02020603050405020304" pitchFamily="18" charset="-78"/>
              </a:rPr>
              <a:t>high VIF value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 (typically above 5 or 10) indicates that  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i 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​ 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is highly correlated with other predictors,     meaning multicollinearity is present.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42C0974-72A6-F200-5261-93A60161F6CB}"/>
              </a:ext>
            </a:extLst>
          </p:cNvPr>
          <p:cNvSpPr txBox="1">
            <a:spLocks/>
          </p:cNvSpPr>
          <p:nvPr/>
        </p:nvSpPr>
        <p:spPr>
          <a:xfrm>
            <a:off x="965312" y="3988892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2. Correlation coefficient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6D895A0-3927-6BD1-0CBB-BDFD5D3892C0}"/>
              </a:ext>
            </a:extLst>
          </p:cNvPr>
          <p:cNvSpPr txBox="1">
            <a:spLocks/>
          </p:cNvSpPr>
          <p:nvPr/>
        </p:nvSpPr>
        <p:spPr>
          <a:xfrm>
            <a:off x="1209543" y="4443326"/>
            <a:ext cx="9910565" cy="2331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The </a:t>
            </a:r>
            <a:r>
              <a:rPr lang="en-US" sz="1600" b="1" dirty="0">
                <a:latin typeface="Andalus" panose="02020603050405020304" pitchFamily="18" charset="-78"/>
                <a:cs typeface="Andalus" panose="02020603050405020304" pitchFamily="18" charset="-78"/>
              </a:rPr>
              <a:t>pairwise correlation coefficient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en-US" sz="2000" dirty="0" err="1">
                <a:latin typeface="Andalus" panose="02020603050405020304" pitchFamily="18" charset="-78"/>
                <a:cs typeface="Andalus" panose="02020603050405020304" pitchFamily="18" charset="-78"/>
              </a:rPr>
              <a:t>ρ</a:t>
            </a:r>
            <a:r>
              <a:rPr lang="en-US" sz="2000" baseline="-12000" dirty="0" err="1">
                <a:latin typeface="Andalus" panose="02020603050405020304" pitchFamily="18" charset="-78"/>
                <a:cs typeface="Andalus" panose="02020603050405020304" pitchFamily="18" charset="-78"/>
              </a:rPr>
              <a:t>ij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​ 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between two predictors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 X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i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and </a:t>
            </a:r>
            <a:r>
              <a:rPr lang="en-US" sz="2000" dirty="0" err="1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 err="1">
                <a:latin typeface="Andalus" panose="02020603050405020304" pitchFamily="18" charset="-78"/>
                <a:cs typeface="Andalus" panose="02020603050405020304" pitchFamily="18" charset="-78"/>
              </a:rPr>
              <a:t>j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​ 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is given by:</a:t>
            </a: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	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		 </a:t>
            </a:r>
          </a:p>
          <a:p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		</a:t>
            </a:r>
            <a:r>
              <a:rPr lang="el-GR" sz="2000" dirty="0"/>
              <a:t>ρ</a:t>
            </a:r>
            <a:r>
              <a:rPr lang="en-IN" sz="2000" baseline="-25000" dirty="0" err="1"/>
              <a:t>ij</a:t>
            </a:r>
            <a:r>
              <a:rPr lang="en-IN" sz="1600" baseline="-25000" dirty="0"/>
              <a:t>​ </a:t>
            </a:r>
            <a:r>
              <a:rPr lang="en-IN" sz="1600" dirty="0"/>
              <a:t>= </a:t>
            </a:r>
            <a:r>
              <a:rPr lang="en-IN" sz="2000" dirty="0"/>
              <a:t>​​</a:t>
            </a:r>
            <a:r>
              <a:rPr lang="en-IN" sz="2000" dirty="0" err="1"/>
              <a:t>Cov</a:t>
            </a:r>
            <a:r>
              <a:rPr lang="en-IN" sz="2000" dirty="0"/>
              <a:t>(X</a:t>
            </a:r>
            <a:r>
              <a:rPr lang="en-IN" sz="2000" baseline="-25000" dirty="0"/>
              <a:t>i​ </a:t>
            </a:r>
            <a:r>
              <a:rPr lang="en-IN" sz="2000" dirty="0"/>
              <a:t>, </a:t>
            </a:r>
            <a:r>
              <a:rPr lang="en-IN" sz="2000" dirty="0" err="1"/>
              <a:t>X</a:t>
            </a:r>
            <a:r>
              <a:rPr lang="en-IN" sz="2000" baseline="-25000" dirty="0" err="1"/>
              <a:t>j</a:t>
            </a:r>
            <a:r>
              <a:rPr lang="en-IN" sz="2000" dirty="0"/>
              <a:t>​) / ​</a:t>
            </a:r>
            <a:r>
              <a:rPr lang="el-GR" sz="2000" dirty="0"/>
              <a:t>σ</a:t>
            </a:r>
            <a:r>
              <a:rPr lang="en-IN" sz="2000" baseline="-25000" dirty="0" err="1"/>
              <a:t>i</a:t>
            </a:r>
            <a:r>
              <a:rPr lang="en-IN" sz="2000" dirty="0"/>
              <a:t>​​ * </a:t>
            </a:r>
            <a:r>
              <a:rPr lang="el-GR" sz="2000" dirty="0"/>
              <a:t>σ</a:t>
            </a:r>
            <a:r>
              <a:rPr lang="en-IN" sz="2000" baseline="-25000" dirty="0"/>
              <a:t>j      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en-IN" sz="1600" dirty="0" err="1">
                <a:latin typeface="Andalus" panose="02020603050405020304" pitchFamily="18" charset="-78"/>
                <a:cs typeface="Andalus" panose="02020603050405020304" pitchFamily="18" charset="-78"/>
              </a:rPr>
              <a:t>Cov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(</a:t>
            </a:r>
            <a:r>
              <a:rPr lang="en-IN" sz="1600" dirty="0" err="1">
                <a:latin typeface="Andalus" panose="02020603050405020304" pitchFamily="18" charset="-78"/>
                <a:cs typeface="Andalus" panose="02020603050405020304" pitchFamily="18" charset="-78"/>
              </a:rPr>
              <a:t>Xi,Xj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) is the covariance between 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i</a:t>
            </a:r>
            <a:r>
              <a:rPr lang="en-IN" sz="20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and </a:t>
            </a:r>
            <a:r>
              <a:rPr lang="en-US" sz="2000" dirty="0" err="1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 err="1">
                <a:latin typeface="Andalus" panose="02020603050405020304" pitchFamily="18" charset="-78"/>
                <a:cs typeface="Andalus" panose="02020603050405020304" pitchFamily="18" charset="-78"/>
              </a:rPr>
              <a:t>j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 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cs typeface="Andalus" panose="02020603050405020304" pitchFamily="18" charset="-78"/>
              </a:rPr>
              <a:t> </a:t>
            </a:r>
            <a:r>
              <a:rPr lang="el-GR" sz="1600" dirty="0">
                <a:cs typeface="Andalus" panose="02020603050405020304" pitchFamily="18" charset="-78"/>
              </a:rPr>
              <a:t>σ</a:t>
            </a:r>
            <a:r>
              <a:rPr lang="en-IN" sz="1600" dirty="0" err="1">
                <a:latin typeface="Andalus" panose="02020603050405020304" pitchFamily="18" charset="-78"/>
                <a:cs typeface="Andalus" panose="02020603050405020304" pitchFamily="18" charset="-78"/>
              </a:rPr>
              <a:t>i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 and </a:t>
            </a:r>
            <a:r>
              <a:rPr lang="el-GR" sz="1600" dirty="0">
                <a:cs typeface="Andalus" panose="02020603050405020304" pitchFamily="18" charset="-78"/>
              </a:rPr>
              <a:t>σ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j​​ are the standard deviations of</a:t>
            </a:r>
            <a:r>
              <a:rPr lang="en-IN" sz="20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i</a:t>
            </a:r>
            <a:r>
              <a:rPr lang="en-US" sz="20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and </a:t>
            </a:r>
            <a:r>
              <a:rPr lang="en-US" sz="2000" dirty="0" err="1">
                <a:latin typeface="Andalus" panose="02020603050405020304" pitchFamily="18" charset="-78"/>
                <a:cs typeface="Andalus" panose="02020603050405020304" pitchFamily="18" charset="-78"/>
              </a:rPr>
              <a:t>X</a:t>
            </a:r>
            <a:r>
              <a:rPr lang="en-US" sz="2000" baseline="-25000" dirty="0" err="1">
                <a:latin typeface="Andalus" panose="02020603050405020304" pitchFamily="18" charset="-78"/>
                <a:cs typeface="Andalus" panose="02020603050405020304" pitchFamily="18" charset="-78"/>
              </a:rPr>
              <a:t>j</a:t>
            </a:r>
            <a:r>
              <a:rPr lang="en-US" sz="16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 </a:t>
            </a:r>
            <a:r>
              <a:rPr lang="en-IN" sz="1600" dirty="0">
                <a:latin typeface="Andalus" panose="02020603050405020304" pitchFamily="18" charset="-78"/>
                <a:cs typeface="Andalus" panose="02020603050405020304" pitchFamily="18" charset="-78"/>
              </a:rPr>
              <a:t>respectively.</a:t>
            </a:r>
            <a:endParaRPr lang="en-IN" sz="2000" baseline="-25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High values of </a:t>
            </a:r>
            <a:r>
              <a:rPr lang="en-US" sz="1600" dirty="0" err="1">
                <a:latin typeface="Andalus" panose="02020603050405020304" pitchFamily="18" charset="-78"/>
                <a:cs typeface="Andalus" panose="02020603050405020304" pitchFamily="18" charset="-78"/>
              </a:rPr>
              <a:t>ρij</a:t>
            </a:r>
            <a:r>
              <a:rPr lang="en-US" sz="1600" dirty="0">
                <a:latin typeface="Andalus" panose="02020603050405020304" pitchFamily="18" charset="-78"/>
                <a:cs typeface="Andalus" panose="02020603050405020304" pitchFamily="18" charset="-78"/>
              </a:rPr>
              <a:t>​ (usually above 0.7 or 0.8) indicate a strong correlation, signaling potential multicollinearity.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15AEE-72E1-2FFE-E371-58034C53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03B4AB-7204-93AD-911B-58CF4E4FB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9543" y="703029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3. </a:t>
            </a:r>
            <a:r>
              <a:rPr lang="en-IN" b="1" dirty="0"/>
              <a:t>Condition Number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DB844522-A1BA-2BA0-7E12-6F71483D2499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443234" y="1080385"/>
                <a:ext cx="9910565" cy="2021054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The </a:t>
                </a:r>
                <a:r>
                  <a:rPr lang="en-US" sz="1600" b="1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Condition Number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helps assess multicollinearity by examining the sensitivity of the matrix of predictor variables X to numerical errors. It’s calculated as:</a:t>
                </a:r>
              </a:p>
              <a:p>
                <a:pPr lvl="6" indent="0">
                  <a:buNone/>
                </a:pPr>
                <a:r>
                  <a:rPr lang="el-GR" sz="2000" dirty="0"/>
                  <a:t>κ(</a:t>
                </a:r>
                <a:r>
                  <a:rPr lang="en-IN" sz="2000" dirty="0"/>
                  <a:t>X)=</a:t>
                </a:r>
                <a:r>
                  <a:rPr lang="el-GR" sz="2000" dirty="0"/>
                  <a:t>σ</a:t>
                </a:r>
                <a:r>
                  <a:rPr lang="en-IN" sz="2000" dirty="0"/>
                  <a:t>_max​(X)/</a:t>
                </a:r>
                <a:r>
                  <a:rPr lang="el-GR" sz="2000" dirty="0"/>
                  <a:t>σ</a:t>
                </a:r>
                <a:r>
                  <a:rPr lang="en-IN" sz="2000" dirty="0"/>
                  <a:t>_min​(X)</a:t>
                </a:r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where </a:t>
                </a:r>
                <a:r>
                  <a:rPr lang="en-US" sz="1600" dirty="0" err="1">
                    <a:latin typeface="Andalus" panose="02020603050405020304" pitchFamily="18" charset="-78"/>
                    <a:cs typeface="Andalus" panose="02020603050405020304" pitchFamily="18" charset="-78"/>
                  </a:rPr>
                  <a:t>σ_max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​(X) and </a:t>
                </a:r>
                <a:r>
                  <a:rPr lang="en-US" sz="1600" dirty="0" err="1">
                    <a:latin typeface="Andalus" panose="02020603050405020304" pitchFamily="18" charset="-78"/>
                    <a:cs typeface="Andalus" panose="02020603050405020304" pitchFamily="18" charset="-78"/>
                  </a:rPr>
                  <a:t>σ_min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⁡(X) are the largest and smallest singular values of the matrix X. 	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A </a:t>
                </a:r>
                <a:r>
                  <a:rPr lang="en-US" sz="1600" b="1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high condition number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(typically above 30) suggests that the matrix XXX is close to singular, which implies multicollinearity.</a:t>
                </a:r>
              </a:p>
              <a:p>
                <a:pPr lvl="4" indent="0">
                  <a:buNone/>
                </a:pPr>
                <a:r>
                  <a:rPr lang="en-US" sz="2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	</a:t>
                </a:r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lvl="4" indent="0">
                  <a:buNone/>
                </a:pPr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lvl="4" indent="0">
                  <a:buNone/>
                </a:pPr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marL="2343150" lvl="4" indent="-285750"/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lvl="4" indent="0">
                  <a:buNone/>
                </a:pPr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lvl="4" indent="0">
                  <a:buNone/>
                </a:pPr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lvl="4" indent="0">
                  <a:buNone/>
                </a:pPr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lvl="4" indent="0">
                  <a:buNone/>
                </a:pPr>
                <a:endParaRPr lang="en-US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DB844522-A1BA-2BA0-7E12-6F71483D2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443234" y="1080385"/>
                <a:ext cx="9910565" cy="2021054"/>
              </a:xfrm>
              <a:blipFill>
                <a:blip r:embed="rId2"/>
                <a:stretch>
                  <a:fillRect l="-246" t="-9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A9E62-EFF9-F953-423A-DB7D6CB0574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4F1F895-0D2F-200A-675F-37F7136D6494}"/>
              </a:ext>
            </a:extLst>
          </p:cNvPr>
          <p:cNvSpPr txBox="1">
            <a:spLocks/>
          </p:cNvSpPr>
          <p:nvPr/>
        </p:nvSpPr>
        <p:spPr>
          <a:xfrm>
            <a:off x="1063635" y="3101439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4. Effect on Coefficient Variance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6">
                <a:extLst>
                  <a:ext uri="{FF2B5EF4-FFF2-40B4-BE49-F238E27FC236}">
                    <a16:creationId xmlns:a16="http://schemas.microsoft.com/office/drawing/2014/main" id="{7F20FAF5-88A9-FFA6-A5A2-54A3460249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43233" y="3466564"/>
                <a:ext cx="9910565" cy="28897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The presence of multicollinearity affects the </a:t>
                </a:r>
                <a:r>
                  <a:rPr lang="en-US" sz="1600" b="1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variance of the estimated coefficients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</a:t>
                </a:r>
                <a:r>
                  <a:rPr lang="en-US" sz="2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β</a:t>
                </a:r>
                <a:r>
                  <a:rPr lang="en-US" sz="2000" baseline="-25000" dirty="0" err="1">
                    <a:latin typeface="Andalus" panose="02020603050405020304" pitchFamily="18" charset="-78"/>
                    <a:cs typeface="Andalus" panose="02020603050405020304" pitchFamily="18" charset="-78"/>
                  </a:rPr>
                  <a:t>i</a:t>
                </a:r>
                <a:r>
                  <a:rPr lang="en-US" sz="2000" baseline="-25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​ 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in ordinary least squares (OLS) regression. The variance of ​ </a:t>
                </a:r>
                <a:r>
                  <a:rPr lang="en-US" sz="2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β</a:t>
                </a:r>
                <a:r>
                  <a:rPr lang="en-US" sz="2000" baseline="-25000" dirty="0" err="1">
                    <a:latin typeface="Andalus" panose="02020603050405020304" pitchFamily="18" charset="-78"/>
                    <a:cs typeface="Andalus" panose="02020603050405020304" pitchFamily="18" charset="-78"/>
                  </a:rPr>
                  <a:t>i</a:t>
                </a:r>
                <a:r>
                  <a:rPr lang="en-US" sz="2000" baseline="-25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</a:t>
                </a:r>
                <a:r>
                  <a:rPr lang="en-US" sz="1600" baseline="-25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can be written as</a:t>
                </a:r>
                <a:r>
                  <a:rPr lang="en-US" sz="2000" dirty="0"/>
                  <a:t>:	</a:t>
                </a:r>
              </a:p>
              <a:p>
                <a:pPr lvl="7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smtClean="0"/>
                        <m:t>Var</m:t>
                      </m:r>
                      <m:r>
                        <m:rPr>
                          <m:nor/>
                        </m:rPr>
                        <a:rPr lang="en-IN" sz="2000" smtClean="0"/>
                        <m:t>(</m:t>
                      </m:r>
                      <m:r>
                        <m:rPr>
                          <m:nor/>
                        </m:rPr>
                        <a:rPr lang="el-GR" sz="2000" smtClean="0"/>
                        <m:t>β</m:t>
                      </m:r>
                      <m:r>
                        <m:rPr>
                          <m:nor/>
                        </m:rPr>
                        <a:rPr lang="el-GR" sz="2000" baseline="-25000" smtClean="0"/>
                        <m:t>​</m:t>
                      </m:r>
                      <m:r>
                        <m:rPr>
                          <m:nor/>
                        </m:rPr>
                        <a:rPr lang="en-IN" sz="2000" baseline="-25000" smtClean="0"/>
                        <m:t>i</m:t>
                      </m:r>
                      <m:r>
                        <m:rPr>
                          <m:nor/>
                        </m:rPr>
                        <a:rPr lang="en-IN" sz="2000" smtClean="0"/>
                        <m:t>​)=</m:t>
                      </m:r>
                      <m:r>
                        <m:rPr>
                          <m:nor/>
                        </m:rPr>
                        <a:rPr lang="el-GR" sz="2000" smtClean="0"/>
                        <m:t>σ</m:t>
                      </m:r>
                      <m:r>
                        <m:rPr>
                          <m:nor/>
                        </m:rPr>
                        <a:rPr lang="el-GR" sz="2000" baseline="30000" smtClean="0"/>
                        <m:t>2</m:t>
                      </m:r>
                      <m:r>
                        <m:rPr>
                          <m:nor/>
                        </m:rPr>
                        <a:rPr lang="el-GR" sz="2000" smtClean="0"/>
                        <m:t>⋅(</m:t>
                      </m:r>
                      <m:r>
                        <m:rPr>
                          <m:nor/>
                        </m:rPr>
                        <a:rPr lang="en-IN" sz="2000" smtClean="0"/>
                        <m:t>X</m:t>
                      </m:r>
                      <m:r>
                        <m:rPr>
                          <m:nor/>
                        </m:rPr>
                        <a:rPr lang="en-IN" sz="2000" baseline="30000" smtClean="0"/>
                        <m:t>T</m:t>
                      </m:r>
                      <m:r>
                        <m:rPr>
                          <m:nor/>
                        </m:rPr>
                        <a:rPr lang="en-IN" sz="2000" smtClean="0"/>
                        <m:t>X</m:t>
                      </m:r>
                      <m:r>
                        <m:rPr>
                          <m:nor/>
                        </m:rPr>
                        <a:rPr lang="en-IN" sz="2000" smtClean="0"/>
                        <m:t>)</m:t>
                      </m:r>
                      <m:r>
                        <m:rPr>
                          <m:nor/>
                        </m:rPr>
                        <a:rPr lang="en-IN" sz="2000" baseline="-25000" smtClean="0"/>
                        <m:t>ii</m:t>
                      </m:r>
                      <m:r>
                        <m:rPr>
                          <m:nor/>
                        </m:rPr>
                        <a:rPr lang="en-IN" sz="2000" dirty="0" smtClean="0">
                          <a:cs typeface="Andalus" panose="02020603050405020304" pitchFamily="18" charset="-78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aseline="30000" smtClean="0"/>
                        <m:t>−1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600" dirty="0">
                    <a:cs typeface="Andalus" panose="02020603050405020304" pitchFamily="18" charset="-78"/>
                  </a:rPr>
                  <a:t> </a:t>
                </a:r>
                <a:r>
                  <a:rPr lang="el-GR" sz="1600" dirty="0">
                    <a:cs typeface="Andalus" panose="02020603050405020304" pitchFamily="18" charset="-78"/>
                  </a:rPr>
                  <a:t>σ</a:t>
                </a:r>
                <a:r>
                  <a:rPr lang="el-GR" sz="1600" baseline="30000" dirty="0">
                    <a:cs typeface="Andalus" panose="02020603050405020304" pitchFamily="18" charset="-78"/>
                  </a:rPr>
                  <a:t>2</a:t>
                </a:r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is the error variance,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(X</a:t>
                </a:r>
                <a:r>
                  <a:rPr lang="en-IN" sz="1600" baseline="30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T</a:t>
                </a:r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X)</a:t>
                </a:r>
                <a:r>
                  <a:rPr lang="en-IN" sz="1600" baseline="-25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ii</a:t>
                </a:r>
                <a:r>
                  <a:rPr lang="en-IN" sz="1600" baseline="30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−1</a:t>
                </a:r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​ is the </a:t>
                </a:r>
                <a:r>
                  <a:rPr lang="en-IN" sz="1600" dirty="0" err="1">
                    <a:latin typeface="Andalus" panose="02020603050405020304" pitchFamily="18" charset="-78"/>
                    <a:cs typeface="Andalus" panose="02020603050405020304" pitchFamily="18" charset="-78"/>
                  </a:rPr>
                  <a:t>i-th</a:t>
                </a:r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diagonal element of the inverse of the design matrix X</a:t>
                </a:r>
                <a:r>
                  <a:rPr lang="en-IN" sz="1600" baseline="30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T</a:t>
                </a:r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X.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When multicollinearity is present, (X</a:t>
                </a:r>
                <a:r>
                  <a:rPr lang="en-US" sz="1600" baseline="30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T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X</a:t>
                </a:r>
                <a:r>
                  <a:rPr lang="en-US" sz="1600" baseline="300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)−1 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becomes unstable and can have large values, causing inflated variances of β​</a:t>
                </a:r>
                <a:r>
                  <a:rPr lang="en-US" sz="1600" dirty="0" err="1">
                    <a:latin typeface="Andalus" panose="02020603050405020304" pitchFamily="18" charset="-78"/>
                    <a:cs typeface="Andalus" panose="02020603050405020304" pitchFamily="18" charset="-78"/>
                  </a:rPr>
                  <a:t>i</a:t>
                </a:r>
                <a:r>
                  <a:rPr lang="en-US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​.</a:t>
                </a:r>
                <a:endParaRPr lang="en-IN" sz="1600" dirty="0">
                  <a:latin typeface="Andalus" panose="02020603050405020304" pitchFamily="18" charset="-78"/>
                  <a:cs typeface="Andalus" panose="02020603050405020304" pitchFamily="18" charset="-78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lvl="4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 baseline="30000" smtClean="0"/>
                      <m:t>​</m:t>
                    </m:r>
                  </m:oMath>
                </a14:m>
                <a:r>
                  <a:rPr lang="en-IN" sz="1600" dirty="0">
                    <a:latin typeface="Andalus" panose="02020603050405020304" pitchFamily="18" charset="-78"/>
                    <a:cs typeface="Andalus" panose="02020603050405020304" pitchFamily="18" charset="-78"/>
                  </a:rPr>
                  <a:t>  </a:t>
                </a:r>
              </a:p>
            </p:txBody>
          </p:sp>
        </mc:Choice>
        <mc:Fallback xmlns="">
          <p:sp>
            <p:nvSpPr>
              <p:cNvPr id="16" name="Text Placeholder 6">
                <a:extLst>
                  <a:ext uri="{FF2B5EF4-FFF2-40B4-BE49-F238E27FC236}">
                    <a16:creationId xmlns:a16="http://schemas.microsoft.com/office/drawing/2014/main" id="{7F20FAF5-88A9-FFA6-A5A2-54A346024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233" y="3466564"/>
                <a:ext cx="9910565" cy="2889786"/>
              </a:xfrm>
              <a:prstGeom prst="rect">
                <a:avLst/>
              </a:prstGeom>
              <a:blipFill>
                <a:blip r:embed="rId3"/>
                <a:stretch>
                  <a:fillRect l="-369" t="-1688" r="-4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22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49" y="-20329"/>
            <a:ext cx="8421688" cy="1013738"/>
          </a:xfrm>
        </p:spPr>
        <p:txBody>
          <a:bodyPr>
            <a:normAutofit/>
          </a:bodyPr>
          <a:lstStyle/>
          <a:p>
            <a:r>
              <a:rPr lang="en-US" sz="3600" dirty="0" err="1"/>
              <a:t>IMplications</a:t>
            </a:r>
            <a:endParaRPr lang="en-US" sz="36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9BECF1C4-F075-958B-C329-45099084B47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49388" y="734406"/>
            <a:ext cx="1006349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Unstable Coefficient Estimates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Regression coefficients become sensitive to minor changes in the data, leading to unreliable and large standard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Reduced Predictive Power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It becomes harder to determine which variables are truly important, as highly correlated predictors may mask each other's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Inflated Standard Errors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Larger standard errors reduce the statistical significance of predictors, making it challenging to identify which variables are genuinely influential. 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1819808-15D2-7A10-3E83-FD5479B477CE}"/>
              </a:ext>
            </a:extLst>
          </p:cNvPr>
          <p:cNvSpPr txBox="1">
            <a:spLocks/>
          </p:cNvSpPr>
          <p:nvPr/>
        </p:nvSpPr>
        <p:spPr>
          <a:xfrm>
            <a:off x="1334549" y="2783975"/>
            <a:ext cx="8421688" cy="1013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remedies</a:t>
            </a: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8020E67E-BC10-39D5-DB0C-70D7B8FDC769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1290303" y="3676648"/>
            <a:ext cx="10063497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Remove Highly Correlated Predictors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Exclude one of the correlated variables, especially if it has a high VIF or doesn't add significant value to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Combine Predictors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Sometimes, creating a new variable by combining correlated predictors (e.g., taking their average) can address multicollinearity.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Regularization Techniques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Ridge regression (L2 regularization) can reduce the impact of multicollinearity by penalizing large coefficients.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Principal Component Analysis (PCA)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PCA can transform correlated predictors into uncorrelated principal components, which can then be used in regression analysis. 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533" y="2185193"/>
            <a:ext cx="5997370" cy="1757361"/>
          </a:xfrm>
        </p:spPr>
        <p:txBody>
          <a:bodyPr>
            <a:normAutofit/>
          </a:bodyPr>
          <a:lstStyle/>
          <a:p>
            <a:r>
              <a:rPr lang="en-US" sz="3600" dirty="0"/>
              <a:t>Principal component regression…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4595" y="1400892"/>
            <a:ext cx="5431971" cy="846301"/>
          </a:xfrm>
        </p:spPr>
        <p:txBody>
          <a:bodyPr>
            <a:normAutofit/>
          </a:bodyPr>
          <a:lstStyle/>
          <a:p>
            <a:r>
              <a:rPr lang="en-US" sz="3600" dirty="0" err="1"/>
              <a:t>INTRo</a:t>
            </a:r>
            <a:r>
              <a:rPr lang="en-US" sz="3600" dirty="0"/>
              <a:t>…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30762" y="2247194"/>
            <a:ext cx="6123038" cy="3652162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ndalus" panose="02020603050405020304" pitchFamily="18" charset="-78"/>
                <a:cs typeface="Andalus" panose="02020603050405020304" pitchFamily="18" charset="-78"/>
              </a:rPr>
              <a:t>Principal Component Regression (PCR)</a:t>
            </a: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 is a technique that combines </a:t>
            </a:r>
            <a:r>
              <a:rPr lang="en-US" sz="1800" b="1" dirty="0">
                <a:latin typeface="Andalus" panose="02020603050405020304" pitchFamily="18" charset="-78"/>
                <a:cs typeface="Andalus" panose="02020603050405020304" pitchFamily="18" charset="-78"/>
              </a:rPr>
              <a:t>Principal Component Analysis (PCA)</a:t>
            </a: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 and </a:t>
            </a:r>
            <a:r>
              <a:rPr lang="en-US" sz="1800" b="1" dirty="0">
                <a:latin typeface="Andalus" panose="02020603050405020304" pitchFamily="18" charset="-78"/>
                <a:cs typeface="Andalus" panose="02020603050405020304" pitchFamily="18" charset="-78"/>
              </a:rPr>
              <a:t>Multiple Linear Regression (MLR)</a:t>
            </a: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It's used to address issues of multicollinearity and dimensionality in regression analysis by transforming the predictor variables into a new set of uncorrelated components and then performing regression on these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34EC-6FB4-543D-2270-40B34225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B22AE-3889-529A-5393-39783A652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7886" y="136525"/>
            <a:ext cx="5431971" cy="846301"/>
          </a:xfrm>
        </p:spPr>
        <p:txBody>
          <a:bodyPr>
            <a:normAutofit/>
          </a:bodyPr>
          <a:lstStyle/>
          <a:p>
            <a:r>
              <a:rPr lang="en-US" sz="3600" dirty="0"/>
              <a:t>Steps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952404-DACF-A71D-D685-65D42D9091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1788" y="785780"/>
            <a:ext cx="665626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1. </a:t>
            </a:r>
            <a:r>
              <a:rPr lang="en-IN" b="1" dirty="0"/>
              <a:t>Apply Principal Component Analysis (PCA)</a:t>
            </a:r>
            <a:r>
              <a:rPr lang="en-IN" dirty="0"/>
              <a:t>: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AD7B0-E63B-96E1-102D-E935A096957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B37419-5A9B-BE8F-00D5-33C253B26243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667638" y="982826"/>
            <a:ext cx="10686161" cy="4129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Perform PCA on the predictor variables X to transform them into a set of uncorrelated components, known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principal components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Each principal component is a linear combination of the original predictor variables, and they are ordered by the amount of variance they explain in the data. </a:t>
            </a:r>
            <a:endParaRPr lang="en-US" altLang="en-US" sz="18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Mathematically, </a:t>
            </a: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if X is an </a:t>
            </a:r>
            <a:r>
              <a:rPr lang="en-US" sz="1800" dirty="0" err="1">
                <a:latin typeface="Andalus" panose="02020603050405020304" pitchFamily="18" charset="-78"/>
                <a:cs typeface="Andalus" panose="02020603050405020304" pitchFamily="18" charset="-78"/>
              </a:rPr>
              <a:t>n×p</a:t>
            </a: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 matrix of predictor variables:</a:t>
            </a:r>
          </a:p>
          <a:p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                                                           </a:t>
            </a:r>
            <a:r>
              <a:rPr lang="en-US" sz="2000" b="1" dirty="0">
                <a:latin typeface="Andalus" panose="02020603050405020304" pitchFamily="18" charset="-78"/>
                <a:cs typeface="Andalus" panose="02020603050405020304" pitchFamily="18" charset="-78"/>
              </a:rPr>
              <a:t> Z=XW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Z is the matrix of principal components,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W is the matrix of eigenvectors from the covariance matrix of 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4515AB3-7C93-86A6-7027-9EE0F33F60D4}"/>
              </a:ext>
            </a:extLst>
          </p:cNvPr>
          <p:cNvSpPr txBox="1">
            <a:spLocks/>
          </p:cNvSpPr>
          <p:nvPr/>
        </p:nvSpPr>
        <p:spPr>
          <a:xfrm>
            <a:off x="491788" y="4427837"/>
            <a:ext cx="665626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2. Select Principal Components</a:t>
            </a:r>
            <a:r>
              <a:rPr lang="en-IN" dirty="0"/>
              <a:t>:</a:t>
            </a:r>
            <a:endParaRPr lang="en-IN" b="1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19695A5-52FC-EBEA-E9BA-FA8BFDE47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637" y="4865995"/>
            <a:ext cx="1068616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Choose a subset of the top k principal components (those that explain the most variance) to use in the regression model.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ndalus" panose="02020603050405020304" pitchFamily="18" charset="-78"/>
                <a:cs typeface="Andalus" panose="02020603050405020304" pitchFamily="18" charset="-78"/>
              </a:rPr>
              <a:t>The number of components k is typically chosen to avoid overfitting and to capture a sufficient amount of variance.</a:t>
            </a:r>
            <a:endParaRPr lang="en-US" altLang="en-US" sz="18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62563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BBBA-205C-E934-0807-C2EA0CA7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8EB11C-26D6-B39E-711D-9D31B02726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637" y="544668"/>
            <a:ext cx="7365318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3.</a:t>
            </a:r>
            <a:r>
              <a:rPr lang="en-IN" b="1" dirty="0"/>
              <a:t> Perform Regression on Principal Components</a:t>
            </a:r>
            <a:r>
              <a:rPr lang="en-IN" dirty="0"/>
              <a:t>: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F88BE-3432-FE77-B614-629942DE5A4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E57E2CF-29BE-9386-E0FC-C4B0073FD676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 bwMode="auto">
          <a:xfrm>
            <a:off x="667636" y="632794"/>
            <a:ext cx="10686161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ndalus" panose="02020603050405020304" pitchFamily="18" charset="-78"/>
                <a:cs typeface="Andalus" panose="02020603050405020304" pitchFamily="18" charset="-78"/>
              </a:rPr>
              <a:t>Regress the dependent variable Y on the selected principal components Z</a:t>
            </a:r>
            <a:r>
              <a:rPr lang="en-IN" sz="18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1</a:t>
            </a:r>
            <a:r>
              <a:rPr lang="en-IN" sz="1800" dirty="0">
                <a:latin typeface="Andalus" panose="02020603050405020304" pitchFamily="18" charset="-78"/>
                <a:cs typeface="Andalus" panose="02020603050405020304" pitchFamily="18" charset="-78"/>
              </a:rPr>
              <a:t>, Z</a:t>
            </a:r>
            <a:r>
              <a:rPr lang="en-IN" sz="1800" baseline="-25000" dirty="0">
                <a:latin typeface="Andalus" panose="02020603050405020304" pitchFamily="18" charset="-78"/>
                <a:cs typeface="Andalus" panose="02020603050405020304" pitchFamily="18" charset="-78"/>
              </a:rPr>
              <a:t>2</a:t>
            </a:r>
            <a:r>
              <a:rPr lang="en-IN" sz="1800" dirty="0">
                <a:latin typeface="Andalus" panose="02020603050405020304" pitchFamily="18" charset="-78"/>
                <a:cs typeface="Andalus" panose="02020603050405020304" pitchFamily="18" charset="-78"/>
              </a:rPr>
              <a:t>,…, </a:t>
            </a:r>
            <a:r>
              <a:rPr lang="en-IN" sz="1800" dirty="0" err="1">
                <a:latin typeface="Andalus" panose="02020603050405020304" pitchFamily="18" charset="-78"/>
                <a:cs typeface="Andalus" panose="02020603050405020304" pitchFamily="18" charset="-78"/>
              </a:rPr>
              <a:t>Z</a:t>
            </a:r>
            <a:r>
              <a:rPr lang="en-IN" sz="1800" baseline="-25000" dirty="0" err="1">
                <a:latin typeface="Andalus" panose="02020603050405020304" pitchFamily="18" charset="-78"/>
                <a:cs typeface="Andalus" panose="02020603050405020304" pitchFamily="18" charset="-78"/>
              </a:rPr>
              <a:t>k</a:t>
            </a:r>
            <a:endParaRPr lang="en-IN" sz="1800" baseline="-25000" dirty="0"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ndalus" panose="02020603050405020304" pitchFamily="18" charset="-78"/>
                <a:cs typeface="Andalus" panose="02020603050405020304" pitchFamily="18" charset="-78"/>
              </a:rPr>
              <a:t>If Y is an n×1 response variable vector and Z is the matrix of the chosen principal components:</a:t>
            </a:r>
          </a:p>
          <a:p>
            <a:r>
              <a:rPr lang="en-IN" sz="2400" dirty="0"/>
              <a:t>					Y=Z</a:t>
            </a:r>
            <a:r>
              <a:rPr lang="el-GR" sz="2400" dirty="0"/>
              <a:t>β+ϵ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β is the vector of coefficients for the principal components,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ϵ is the error term.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812EE89-4BCB-C587-935C-65E91D317336}"/>
              </a:ext>
            </a:extLst>
          </p:cNvPr>
          <p:cNvSpPr txBox="1">
            <a:spLocks/>
          </p:cNvSpPr>
          <p:nvPr/>
        </p:nvSpPr>
        <p:spPr>
          <a:xfrm>
            <a:off x="667635" y="3512608"/>
            <a:ext cx="665626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4. Interpretation</a:t>
            </a:r>
            <a:r>
              <a:rPr lang="en-IN" dirty="0"/>
              <a:t>:</a:t>
            </a:r>
            <a:endParaRPr lang="en-IN" b="1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D052829-0D02-C6FF-9650-F95A7D54398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7635" y="3687830"/>
            <a:ext cx="91341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The resulting regression coefficients correspond to the principal components, not the original variables. This can make interpretation less direct because principal components are combinations of original predictors.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If necessary, the coefficients of the original variables can be recovered by transforming back to the original scale.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97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777" y="0"/>
            <a:ext cx="642661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Advantages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CAEA2298-39E0-889E-4354-A46D890F162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68005" y="1261780"/>
            <a:ext cx="1145598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Reduces Multicollinearity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Since principal components are uncorrelated, PCR removes multicollinearity issues among predictors.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Dimensionality Reduction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PCR reduces the number of predictors by focusing on the principal components that capture the most variance, which is useful when there are many predictors.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Improved Model Stability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The reduced dimensionality and removal of multicollinearity often lead to more stable coefficient estimates. 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4A084FC0-1DE7-BB75-9ED8-CC841AD93371}"/>
              </a:ext>
            </a:extLst>
          </p:cNvPr>
          <p:cNvSpPr txBox="1">
            <a:spLocks/>
          </p:cNvSpPr>
          <p:nvPr/>
        </p:nvSpPr>
        <p:spPr>
          <a:xfrm>
            <a:off x="3749777" y="3427318"/>
            <a:ext cx="64266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Limitations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80F6129-63B0-6C5F-204F-B14707FBF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05" y="4610095"/>
            <a:ext cx="112537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Interpretability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Since PCR uses principal components (combinations of original variables), the model coefficients are not directly interpretable in terms of the original variables.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 panose="02020603050405020304" pitchFamily="18" charset="-78"/>
              <a:cs typeface="Andalus" panose="02020603050405020304" pitchFamily="18" charset="-78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Assumption of Variance-Importance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 panose="02020603050405020304" pitchFamily="18" charset="-78"/>
                <a:cs typeface="Andalus" panose="02020603050405020304" pitchFamily="18" charset="-78"/>
              </a:rPr>
              <a:t>: PCR assumes that the components with the most variance are the most important for predicting the response, which may not always be true. </a:t>
            </a: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6133" y="1694394"/>
            <a:ext cx="5912769" cy="1734606"/>
          </a:xfrm>
        </p:spPr>
        <p:txBody>
          <a:bodyPr/>
          <a:lstStyle/>
          <a:p>
            <a:r>
              <a:rPr lang="en-US" sz="6000" dirty="0"/>
              <a:t>THANK YOU!!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1845F9-C5F4-4AA5-BA9E-EC2182E914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5BFCE94-6EC9-4D8E-89B6-C22DE7AD7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1157</Words>
  <Application>Microsoft Office PowerPoint</Application>
  <PresentationFormat>Widescreen</PresentationFormat>
  <Paragraphs>117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Andalus</vt:lpstr>
      <vt:lpstr>Arial</vt:lpstr>
      <vt:lpstr>Calibri</vt:lpstr>
      <vt:lpstr>Cambria Math</vt:lpstr>
      <vt:lpstr>Tenorite</vt:lpstr>
      <vt:lpstr>Wingdings</vt:lpstr>
      <vt:lpstr>Monoline</vt:lpstr>
      <vt:lpstr>Regression analysis</vt:lpstr>
      <vt:lpstr>CONTENTS</vt:lpstr>
      <vt:lpstr>Multicollinearity</vt:lpstr>
      <vt:lpstr>Intro..</vt:lpstr>
      <vt:lpstr>Detection…</vt:lpstr>
      <vt:lpstr>PowerPoint Presentation</vt:lpstr>
      <vt:lpstr>IMplications</vt:lpstr>
      <vt:lpstr>Principal component regression…</vt:lpstr>
      <vt:lpstr>INTRo…</vt:lpstr>
      <vt:lpstr>Steps</vt:lpstr>
      <vt:lpstr>PowerPoint Presentation</vt:lpstr>
      <vt:lpstr>Advantages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2023-07-24T01:11:48Z</dcterms:created>
  <dcterms:modified xsi:type="dcterms:W3CDTF">2024-10-29T05:09:17Z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