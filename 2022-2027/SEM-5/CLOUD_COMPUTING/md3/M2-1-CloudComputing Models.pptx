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9" r:id="rId3"/>
    <p:sldId id="281" r:id="rId4"/>
    <p:sldId id="282" r:id="rId5"/>
    <p:sldId id="300" r:id="rId6"/>
    <p:sldId id="278" r:id="rId7"/>
    <p:sldId id="298" r:id="rId8"/>
    <p:sldId id="286" r:id="rId9"/>
    <p:sldId id="284" r:id="rId10"/>
    <p:sldId id="293" r:id="rId11"/>
    <p:sldId id="294" r:id="rId12"/>
    <p:sldId id="267" r:id="rId13"/>
    <p:sldId id="269" r:id="rId14"/>
    <p:sldId id="280" r:id="rId15"/>
    <p:sldId id="302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2"/>
  </p:normalViewPr>
  <p:slideViewPr>
    <p:cSldViewPr snapToGrid="0" snapToObjects="1">
      <p:cViewPr varScale="1">
        <p:scale>
          <a:sx n="113" d="100"/>
          <a:sy n="113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3504-4D69-564C-8AB9-7A9734331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0320C-3AFD-0D4B-BBD3-4FAEB4C55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242DC-66AE-E348-98A1-1CE8DDA2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90819-6471-F74A-A7EA-ADA81F80C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3641-D56B-7C41-BF31-B836C056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8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50463-0472-6C43-AB1F-B3B0B7AA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A155F-243E-4D42-9529-E6D32E449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5A880-040F-444E-802A-9671AD33D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8415F-CCAE-5A49-A637-92600E62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FD7AE-D2A7-E345-9848-64B82719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7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9AE6-CEF4-E24F-86E4-66309677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CAED5-2691-5743-A609-A472D0035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988D4-555D-A449-A841-6FE8CA68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6FBDD-2847-2749-8199-987AB8524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1D3D3-2DED-E941-BAE3-7567C5C8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0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0DFB-C632-6D47-A751-603D3042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29D9A-B103-1644-BBF5-BE0FC42C0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F9E23-65FE-F646-A0A4-658F12D18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388A3-413A-A34B-8239-B82CCE4A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0466E-0BC2-FF4E-B140-D9DF88E6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C84D5-F076-0C41-9C6D-F4D0F461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9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7B820-11F9-0946-81F4-67107BA67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C375A-338D-D94C-B470-1F934731D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ED191-4212-F54C-AF10-0A8861C6B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D2BF8-8EC2-0F43-95E2-2F32DDF20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D113D-6E26-7F49-936D-F85B2BEE9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2F499-C690-CF4B-9A55-D2BF7F98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AA330-AD70-294B-AF87-F5BFF510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08C76-7BD6-5E47-8ABD-ABC54EF6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61F4-B533-014D-B499-C3F0854D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7A17F-E6CA-A14D-8EBA-90ED1B677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B4983-4899-5C47-99B2-C95A6C0F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03FE0-D590-0D49-87BF-760EDAE5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0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98DED-E97B-BA49-886B-1C6E1911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4CA8E-BC67-4A45-BEBA-95629CA6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ABE46-223A-0249-91F9-E28C16D8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6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D33F-10E2-2F46-8A2B-2A33B3F6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4543E-A908-AC4E-8896-769F1EC24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E42B3-76A2-ED4A-B8AB-2F1437256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C1762-EAD5-6B4B-8FF9-051F87C6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C940D-4FF5-764A-AB4D-92F0EAEC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88683-AC5B-384E-9AFB-902ED945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9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186C1-4756-B847-A4D3-CFB65809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D6D69-AD80-4A45-A3C6-26DEC96DE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A2862-E970-CB46-A065-50ED9425C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FD198-0B89-724D-97D6-C52EB76D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DC4CB-A02D-B849-A628-CE1DA3C2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AE157-8CFA-084E-B0CA-201EE2C8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8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37A3-FE30-3644-9E05-5B777ECD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A57BF-4479-F845-8114-1CC2281C5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02EA7-43EC-8F40-B38F-B3B8D5B2F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0E10-C8E4-5643-BAA2-0ACE091F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1B853-9432-D145-A30C-2147C79C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2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E9D930-5440-0441-AB14-77FBE9924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8B6DE-2660-7444-8678-D3BC7950C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95447-4B5C-EA4E-849E-E6D62D5E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9787B-9A5D-A343-BA61-226B2F6B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B7A5-156E-E745-8A31-F067F338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6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796F17-C483-9445-B3C4-7F72FDDB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1C604-3624-1446-BBE6-279F65048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0B914-9E1C-1947-B106-C402400FA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C5D1D-C92D-FA46-9DF1-01FC4543D60C}" type="datetimeFigureOut">
              <a:rPr lang="en-US" smtClean="0"/>
              <a:t>8/12/24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86B9-03EE-B348-BA21-CA18104AC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622FE-282E-A34D-9671-2754B6AA8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61B3A-9746-5149-85CA-3EA25E55D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9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0.jpe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hyperlink" Target="http://www.crunchbase.com/service-provider/rackspace" TargetMode="External"/><Relationship Id="rId16" Type="http://schemas.openxmlformats.org/officeDocument/2006/relationships/image" Target="../media/image37.png"/><Relationship Id="rId20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runchbase.com/product/google-app-engine" TargetMode="External"/><Relationship Id="rId11" Type="http://schemas.openxmlformats.org/officeDocument/2006/relationships/hyperlink" Target="http://www.crunchbase.com/company/salesforce" TargetMode="External"/><Relationship Id="rId5" Type="http://schemas.openxmlformats.org/officeDocument/2006/relationships/image" Target="../media/image29.jpeg"/><Relationship Id="rId15" Type="http://schemas.openxmlformats.org/officeDocument/2006/relationships/image" Target="../media/image36.png"/><Relationship Id="rId10" Type="http://schemas.openxmlformats.org/officeDocument/2006/relationships/image" Target="../media/image32.png"/><Relationship Id="rId19" Type="http://schemas.openxmlformats.org/officeDocument/2006/relationships/image" Target="../media/image40.jpeg"/><Relationship Id="rId4" Type="http://schemas.openxmlformats.org/officeDocument/2006/relationships/hyperlink" Target="http://www.crunchbase.com/company/amazon" TargetMode="External"/><Relationship Id="rId9" Type="http://schemas.openxmlformats.org/officeDocument/2006/relationships/hyperlink" Target="http://www.crunchbase.com/company/flickr" TargetMode="External"/><Relationship Id="rId1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FAA4-9A37-774A-B0D1-1AFD31469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9778"/>
            <a:ext cx="9144000" cy="902230"/>
          </a:xfrm>
        </p:spPr>
        <p:txBody>
          <a:bodyPr>
            <a:normAutofit fontScale="90000"/>
          </a:bodyPr>
          <a:lstStyle/>
          <a:p>
            <a:r>
              <a:rPr lang="en-US" dirty="0"/>
              <a:t>IaaS, </a:t>
            </a:r>
            <a:r>
              <a:rPr lang="en-US" dirty="0" err="1"/>
              <a:t>Paas</a:t>
            </a:r>
            <a:r>
              <a:rPr lang="en-US" dirty="0"/>
              <a:t>, </a:t>
            </a:r>
            <a:r>
              <a:rPr lang="en-US" dirty="0" err="1"/>
              <a:t>Saas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67EA1-6973-404E-ADE1-D37BE5C64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Cloud computing Module 3</a:t>
            </a:r>
          </a:p>
          <a:p>
            <a:r>
              <a:rPr lang="en-US" dirty="0"/>
              <a:t>Dr Bijoy A Jose</a:t>
            </a:r>
          </a:p>
        </p:txBody>
      </p:sp>
    </p:spTree>
    <p:extLst>
      <p:ext uri="{BB962C8B-B14F-4D97-AF65-F5344CB8AC3E}">
        <p14:creationId xmlns:p14="http://schemas.microsoft.com/office/powerpoint/2010/main" val="4198273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infrastructure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Management models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Public clouds</a:t>
            </a:r>
            <a:endParaRPr lang="en-US" dirty="0"/>
          </a:p>
          <a:p>
            <a:pPr lvl="2"/>
            <a:r>
              <a:rPr lang="en-US" dirty="0"/>
              <a:t>Utility model </a:t>
            </a:r>
          </a:p>
          <a:p>
            <a:pPr lvl="2"/>
            <a:r>
              <a:rPr lang="en-US" dirty="0"/>
              <a:t>Shared hardware</a:t>
            </a:r>
          </a:p>
          <a:p>
            <a:pPr lvl="2"/>
            <a:r>
              <a:rPr lang="en-US" dirty="0"/>
              <a:t>No control of hardware, </a:t>
            </a:r>
          </a:p>
          <a:p>
            <a:pPr lvl="2"/>
            <a:r>
              <a:rPr lang="en-US" dirty="0"/>
              <a:t>Self-managed (e.g., AWS, Azure, GCE)</a:t>
            </a:r>
          </a:p>
          <a:p>
            <a:pPr lvl="1"/>
            <a:r>
              <a:rPr lang="en-US" b="1" dirty="0"/>
              <a:t>Private clouds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More isolated (secure?), </a:t>
            </a:r>
          </a:p>
          <a:p>
            <a:pPr lvl="2"/>
            <a:r>
              <a:rPr lang="en-US" dirty="0"/>
              <a:t>Federal compliance friendly</a:t>
            </a:r>
          </a:p>
          <a:p>
            <a:pPr lvl="2"/>
            <a:r>
              <a:rPr lang="en-US" dirty="0"/>
              <a:t>Customizable hardware and hardware sharing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OpenStack</a:t>
            </a:r>
            <a:r>
              <a:rPr lang="en-US" dirty="0"/>
              <a:t>, an open source platform for virtualized clouds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35D-4FC9-924F-B266-DEE7D65B61E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8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Computing-What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Moving services, computation and to an internal or external, centralized facility or contractor.</a:t>
            </a:r>
          </a:p>
          <a:p>
            <a:r>
              <a:rPr lang="en-US" dirty="0"/>
              <a:t>Reason</a:t>
            </a:r>
          </a:p>
          <a:p>
            <a:pPr lvl="1"/>
            <a:r>
              <a:rPr lang="en-US" dirty="0"/>
              <a:t>easy and ubiquitous accessibility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/>
              <a:t>collaboration, integration, and analysis on a shared common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90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55814" y="61913"/>
            <a:ext cx="8061325" cy="5207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CLB Helvetica Condensed Black" charset="0"/>
                <a:ea typeface="ＭＳ Ｐゴシック" charset="0"/>
                <a:cs typeface="ＭＳ Ｐゴシック" charset="0"/>
              </a:rPr>
              <a:t>What is it?</a:t>
            </a:r>
          </a:p>
        </p:txBody>
      </p:sp>
      <p:sp>
        <p:nvSpPr>
          <p:cNvPr id="3" name="Line 23"/>
          <p:cNvSpPr>
            <a:spLocks noChangeShapeType="1"/>
          </p:cNvSpPr>
          <p:nvPr/>
        </p:nvSpPr>
        <p:spPr bwMode="auto">
          <a:xfrm>
            <a:off x="4111626" y="2527301"/>
            <a:ext cx="809625" cy="76041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Line 24"/>
          <p:cNvSpPr>
            <a:spLocks noChangeShapeType="1"/>
          </p:cNvSpPr>
          <p:nvPr/>
        </p:nvSpPr>
        <p:spPr bwMode="auto">
          <a:xfrm>
            <a:off x="5853113" y="2370139"/>
            <a:ext cx="0" cy="3397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25"/>
          <p:cNvSpPr>
            <a:spLocks noChangeShapeType="1"/>
          </p:cNvSpPr>
          <p:nvPr/>
        </p:nvSpPr>
        <p:spPr bwMode="auto">
          <a:xfrm flipH="1">
            <a:off x="6832600" y="2649538"/>
            <a:ext cx="871538" cy="6905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26"/>
          <p:cNvSpPr>
            <a:spLocks noChangeShapeType="1"/>
          </p:cNvSpPr>
          <p:nvPr/>
        </p:nvSpPr>
        <p:spPr bwMode="auto">
          <a:xfrm>
            <a:off x="5840413" y="4076700"/>
            <a:ext cx="0" cy="325438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1" descr="slide2pi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463" y="4373563"/>
            <a:ext cx="4792662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563" y="1023939"/>
            <a:ext cx="2051050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26" y="1057276"/>
            <a:ext cx="205581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3" y="1041401"/>
            <a:ext cx="243840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976" y="2727326"/>
            <a:ext cx="20240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2811464" y="2798763"/>
            <a:ext cx="92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2pPr>
            <a:lvl3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3pPr>
            <a:lvl4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4pPr>
            <a:lvl5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9pPr>
          </a:lstStyle>
          <a:p>
            <a:r>
              <a:rPr lang="en-US" dirty="0"/>
              <a:t>SLAs</a:t>
            </a:r>
          </a:p>
        </p:txBody>
      </p:sp>
      <p:sp>
        <p:nvSpPr>
          <p:cNvPr id="13" name="Line 29"/>
          <p:cNvSpPr>
            <a:spLocks noChangeShapeType="1"/>
          </p:cNvSpPr>
          <p:nvPr/>
        </p:nvSpPr>
        <p:spPr bwMode="auto">
          <a:xfrm flipV="1">
            <a:off x="3725863" y="2794001"/>
            <a:ext cx="652462" cy="180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30"/>
          <p:cNvSpPr>
            <a:spLocks noChangeShapeType="1"/>
          </p:cNvSpPr>
          <p:nvPr/>
        </p:nvSpPr>
        <p:spPr bwMode="auto">
          <a:xfrm flipV="1">
            <a:off x="3749676" y="2576513"/>
            <a:ext cx="2092325" cy="398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31"/>
          <p:cNvSpPr>
            <a:spLocks noChangeShapeType="1"/>
          </p:cNvSpPr>
          <p:nvPr/>
        </p:nvSpPr>
        <p:spPr bwMode="auto">
          <a:xfrm flipV="1">
            <a:off x="3736976" y="2817813"/>
            <a:ext cx="3749675" cy="169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7734300" y="3314701"/>
            <a:ext cx="21755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2pPr>
            <a:lvl3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3pPr>
            <a:lvl4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4pPr>
            <a:lvl5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9pPr>
          </a:lstStyle>
          <a:p>
            <a:r>
              <a:rPr lang="en-US"/>
              <a:t>Web Services</a:t>
            </a:r>
          </a:p>
        </p:txBody>
      </p:sp>
      <p:sp>
        <p:nvSpPr>
          <p:cNvPr id="17" name="Line 33"/>
          <p:cNvSpPr>
            <a:spLocks noChangeShapeType="1"/>
          </p:cNvSpPr>
          <p:nvPr/>
        </p:nvSpPr>
        <p:spPr bwMode="auto">
          <a:xfrm flipH="1">
            <a:off x="6289676" y="3559175"/>
            <a:ext cx="14017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8386763" y="5060950"/>
            <a:ext cx="2125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2pPr>
            <a:lvl3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3pPr>
            <a:lvl4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4pPr>
            <a:lvl5pPr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eneva" charset="0"/>
                <a:ea typeface="ＭＳ Ｐゴシック" charset="0"/>
              </a:defRPr>
            </a:lvl9pPr>
          </a:lstStyle>
          <a:p>
            <a:r>
              <a:rPr lang="en-US"/>
              <a:t>Virtualization</a:t>
            </a:r>
          </a:p>
        </p:txBody>
      </p:sp>
      <p:sp>
        <p:nvSpPr>
          <p:cNvPr id="19" name="Line 35"/>
          <p:cNvSpPr>
            <a:spLocks noChangeShapeType="1"/>
          </p:cNvSpPr>
          <p:nvPr/>
        </p:nvSpPr>
        <p:spPr bwMode="auto">
          <a:xfrm flipH="1" flipV="1">
            <a:off x="5951538" y="5200651"/>
            <a:ext cx="2393950" cy="49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36"/>
          <p:cNvSpPr>
            <a:spLocks noChangeShapeType="1"/>
          </p:cNvSpPr>
          <p:nvPr/>
        </p:nvSpPr>
        <p:spPr bwMode="auto">
          <a:xfrm flipH="1">
            <a:off x="4244976" y="5260976"/>
            <a:ext cx="4113213" cy="411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1" name="Picture 1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25" y="4794251"/>
            <a:ext cx="763588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00" y="4424363"/>
            <a:ext cx="763588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928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Virtualization: key to cloud boom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Physical machine virtualization</a:t>
            </a:r>
          </a:p>
          <a:p>
            <a:pPr lvl="1"/>
            <a:r>
              <a:rPr lang="en-US" dirty="0"/>
              <a:t>Full virtualization: masking as physical machine to guest</a:t>
            </a:r>
          </a:p>
          <a:p>
            <a:pPr lvl="1"/>
            <a:r>
              <a:rPr lang="en-US" dirty="0"/>
              <a:t>Para-virtualization: Semi-transparent to guest</a:t>
            </a:r>
          </a:p>
          <a:p>
            <a:r>
              <a:rPr lang="en-US" dirty="0"/>
              <a:t>Virtualization goes well beyond CPU or physical machines</a:t>
            </a:r>
          </a:p>
          <a:p>
            <a:pPr lvl="1"/>
            <a:r>
              <a:rPr lang="en-US" dirty="0"/>
              <a:t>Virtualized I/O (Elastic Block Storage)</a:t>
            </a:r>
          </a:p>
          <a:p>
            <a:pPr lvl="1"/>
            <a:r>
              <a:rPr lang="en-US" dirty="0"/>
              <a:t>Virtual private networks</a:t>
            </a:r>
          </a:p>
          <a:p>
            <a:pPr lvl="1"/>
            <a:r>
              <a:rPr lang="en-US" dirty="0"/>
              <a:t>Containers (e.g., AWS or Google Container Service)</a:t>
            </a:r>
          </a:p>
          <a:p>
            <a:pPr lvl="1"/>
            <a:r>
              <a:rPr lang="en-US" dirty="0"/>
              <a:t>Virtual switches/routers with software-defined networking (SDN)</a:t>
            </a:r>
          </a:p>
          <a:p>
            <a:pPr lvl="1"/>
            <a:r>
              <a:rPr lang="en-US" dirty="0"/>
              <a:t>Network function virtualization (NFV) forwarding-plane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35D-4FC9-924F-B266-DEE7D65B61E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2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55814" y="322263"/>
            <a:ext cx="8061325" cy="5207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a typeface="ＭＳ Ｐゴシック" charset="0"/>
                <a:cs typeface="ＭＳ Ｐゴシック" charset="0"/>
              </a:rPr>
              <a:t>Commercial Cloud Formation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6" y="1622425"/>
            <a:ext cx="5421313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9" y="2886075"/>
            <a:ext cx="433863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438" y="3662364"/>
            <a:ext cx="989012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1" y="5532438"/>
            <a:ext cx="1857375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3406775"/>
            <a:ext cx="26543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426" y="1708150"/>
            <a:ext cx="2695575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4" y="5422900"/>
            <a:ext cx="1851025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926" y="3527425"/>
            <a:ext cx="178752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739" y="3794126"/>
            <a:ext cx="11318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1106488"/>
            <a:ext cx="39671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250" y="5322888"/>
            <a:ext cx="134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9" y="4516438"/>
            <a:ext cx="20097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488" y="4714875"/>
            <a:ext cx="188595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2347913"/>
            <a:ext cx="21971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8" y="5465763"/>
            <a:ext cx="19113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88" y="2676525"/>
            <a:ext cx="20447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1058864"/>
            <a:ext cx="6873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8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775" y="4321175"/>
            <a:ext cx="12319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9" y="2317750"/>
            <a:ext cx="1665287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05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cloud computing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Service models:</a:t>
            </a:r>
          </a:p>
          <a:p>
            <a:pPr lvl="1"/>
            <a:r>
              <a:rPr lang="en-US" b="1" dirty="0"/>
              <a:t>IaaS</a:t>
            </a:r>
            <a:r>
              <a:rPr lang="en-US" dirty="0"/>
              <a:t>: Infrastructure as a Service</a:t>
            </a:r>
          </a:p>
          <a:p>
            <a:pPr lvl="2"/>
            <a:r>
              <a:rPr lang="en-US" dirty="0"/>
              <a:t>Providing computational and storage infrastructure in a centralized, location-transparent service </a:t>
            </a:r>
          </a:p>
          <a:p>
            <a:pPr lvl="2"/>
            <a:r>
              <a:rPr lang="en-US" dirty="0"/>
              <a:t>e.g., Amazon EC2, Microsoft Azure, Google Compute Engine</a:t>
            </a:r>
          </a:p>
          <a:p>
            <a:pPr lvl="1"/>
            <a:r>
              <a:rPr lang="en-US" b="1" dirty="0"/>
              <a:t>PaaS</a:t>
            </a:r>
            <a:r>
              <a:rPr lang="en-US" dirty="0"/>
              <a:t>: Platform as a Service </a:t>
            </a:r>
          </a:p>
          <a:p>
            <a:pPr lvl="2"/>
            <a:r>
              <a:rPr lang="en-US" dirty="0"/>
              <a:t>Foundational elements to develop new applications</a:t>
            </a:r>
          </a:p>
          <a:p>
            <a:pPr lvl="2"/>
            <a:r>
              <a:rPr lang="en-US" dirty="0"/>
              <a:t>e.g., Google </a:t>
            </a:r>
            <a:r>
              <a:rPr lang="en-US" dirty="0" err="1"/>
              <a:t>AppEngine</a:t>
            </a:r>
            <a:r>
              <a:rPr lang="en-US" dirty="0"/>
              <a:t>, </a:t>
            </a:r>
            <a:r>
              <a:rPr lang="en-US" dirty="0" err="1"/>
              <a:t>Heroku</a:t>
            </a:r>
            <a:r>
              <a:rPr lang="en-US" dirty="0"/>
              <a:t>, Apache </a:t>
            </a:r>
            <a:r>
              <a:rPr lang="en-US" dirty="0" err="1"/>
              <a:t>Stratos</a:t>
            </a:r>
            <a:endParaRPr lang="en-US" dirty="0"/>
          </a:p>
          <a:p>
            <a:pPr lvl="1"/>
            <a:r>
              <a:rPr lang="en-US" b="1" dirty="0"/>
              <a:t>SaaS</a:t>
            </a:r>
            <a:r>
              <a:rPr lang="en-US" dirty="0"/>
              <a:t>: Software as a Service </a:t>
            </a:r>
          </a:p>
          <a:p>
            <a:pPr lvl="2"/>
            <a:r>
              <a:rPr lang="en-US" dirty="0"/>
              <a:t>WAN-enabled application services</a:t>
            </a:r>
          </a:p>
          <a:p>
            <a:pPr lvl="2"/>
            <a:r>
              <a:rPr lang="en-US" dirty="0"/>
              <a:t>Microsoft Office365, Amazon </a:t>
            </a:r>
            <a:r>
              <a:rPr lang="en-US" dirty="0" err="1"/>
              <a:t>DynamoDB</a:t>
            </a:r>
            <a:r>
              <a:rPr lang="en-US" dirty="0"/>
              <a:t>, </a:t>
            </a:r>
            <a:r>
              <a:rPr lang="en-US" dirty="0" err="1"/>
              <a:t>gmail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35D-4FC9-924F-B266-DEE7D65B61E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3-05-16 at 3.40.19 A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127" y="1261900"/>
            <a:ext cx="6258111" cy="51564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0371" y="6418308"/>
            <a:ext cx="50379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/>
              <a:t>Goel</a:t>
            </a:r>
            <a:r>
              <a:rPr lang="en-US" sz="1200" dirty="0"/>
              <a:t>, </a:t>
            </a:r>
            <a:r>
              <a:rPr lang="en-US" sz="1200" dirty="0" err="1"/>
              <a:t>Pragati</a:t>
            </a:r>
            <a:r>
              <a:rPr lang="en-US" sz="1200" dirty="0"/>
              <a:t>, and </a:t>
            </a:r>
            <a:r>
              <a:rPr lang="en-US" sz="1200" dirty="0" err="1"/>
              <a:t>Mayank</a:t>
            </a:r>
            <a:r>
              <a:rPr lang="en-US" sz="1200" dirty="0"/>
              <a:t> Kumar. "An overview of Cloud Computing."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81200" y="338328"/>
            <a:ext cx="8229600" cy="923572"/>
          </a:xfrm>
        </p:spPr>
        <p:txBody>
          <a:bodyPr/>
          <a:lstStyle/>
          <a:p>
            <a:r>
              <a:rPr lang="en-US" dirty="0"/>
              <a:t>Core Stacks</a:t>
            </a:r>
          </a:p>
        </p:txBody>
      </p:sp>
    </p:spTree>
    <p:extLst>
      <p:ext uri="{BB962C8B-B14F-4D97-AF65-F5344CB8AC3E}">
        <p14:creationId xmlns:p14="http://schemas.microsoft.com/office/powerpoint/2010/main" val="20928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3-05-16 at 2.36.36 A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26"/>
          <a:stretch/>
        </p:blipFill>
        <p:spPr>
          <a:xfrm>
            <a:off x="1524000" y="1599122"/>
            <a:ext cx="9144000" cy="4138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8250" y="5744093"/>
            <a:ext cx="769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Comic Sans MS"/>
                <a:cs typeface="Comic Sans MS"/>
              </a:rPr>
              <a:t>Green indicates the levels owned and operated by the organization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omic Sans MS"/>
                <a:cs typeface="Comic Sans MS"/>
              </a:rPr>
              <a:t>Red levels are run and operated by the service provider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981200" y="338328"/>
            <a:ext cx="8229600" cy="125272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What is it?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04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</a:t>
            </a:r>
            <a:r>
              <a:rPr lang="en-US" dirty="0" err="1"/>
              <a:t>PaaS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ultimate goal of a </a:t>
            </a:r>
            <a:r>
              <a:rPr lang="en-US" dirty="0" err="1"/>
              <a:t>PaaS</a:t>
            </a:r>
            <a:r>
              <a:rPr lang="en-US" dirty="0"/>
              <a:t> is to make it easier for you to run your website or web application no matter how much traffic it gets.</a:t>
            </a:r>
          </a:p>
          <a:p>
            <a:r>
              <a:rPr lang="en-US" dirty="0"/>
              <a:t> You just deploy your application and the service figures out what to do with it.</a:t>
            </a:r>
          </a:p>
          <a:p>
            <a:r>
              <a:rPr lang="en-US" dirty="0"/>
              <a:t> A platform as a service should handle scaling seamlessly for you so you can just focus on your website and the code running it.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PaaS</a:t>
            </a:r>
            <a:r>
              <a:rPr lang="en-US" dirty="0"/>
              <a:t>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always a conflict between the developers and the System Engineers</a:t>
            </a:r>
          </a:p>
          <a:p>
            <a:r>
              <a:rPr lang="en-US" dirty="0"/>
              <a:t>Developers are keen on getting their environments up without waiting.</a:t>
            </a:r>
          </a:p>
          <a:p>
            <a:r>
              <a:rPr lang="en-US" dirty="0"/>
              <a:t>System Engineers care about performance and stability</a:t>
            </a:r>
          </a:p>
          <a:p>
            <a:r>
              <a:rPr lang="en-US" dirty="0"/>
              <a:t>Creates a peaceful environment for both parties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SaaS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219200"/>
            <a:ext cx="8534400" cy="5334000"/>
          </a:xfrm>
        </p:spPr>
        <p:txBody>
          <a:bodyPr>
            <a:noAutofit/>
          </a:bodyPr>
          <a:lstStyle/>
          <a:p>
            <a:r>
              <a:rPr lang="en-US" sz="2400" dirty="0"/>
              <a:t>Software as Service is a software delivery model in which software and data are hosted centrally and accessed via web. It can be rented .</a:t>
            </a:r>
          </a:p>
          <a:p>
            <a:r>
              <a:rPr lang="en-US" sz="2400" dirty="0"/>
              <a:t>Configuration and customization </a:t>
            </a:r>
          </a:p>
          <a:p>
            <a:pPr>
              <a:buNone/>
            </a:pPr>
            <a:r>
              <a:rPr lang="en-US" sz="2400" dirty="0"/>
              <a:t>		according to the customer</a:t>
            </a:r>
          </a:p>
          <a:p>
            <a:r>
              <a:rPr lang="en-US" sz="2400" dirty="0"/>
              <a:t>Accelerated feature delivery</a:t>
            </a:r>
          </a:p>
          <a:p>
            <a:pPr>
              <a:buNone/>
            </a:pPr>
            <a:r>
              <a:rPr lang="en-US" sz="2400" dirty="0"/>
              <a:t>		weekly updates</a:t>
            </a:r>
          </a:p>
          <a:p>
            <a:r>
              <a:rPr lang="en-US" sz="2400" dirty="0"/>
              <a:t>Multi tenant architecture</a:t>
            </a:r>
          </a:p>
          <a:p>
            <a:pPr>
              <a:buNone/>
            </a:pPr>
            <a:r>
              <a:rPr lang="en-US" sz="2400" dirty="0"/>
              <a:t>		single instance of the software for multiple client 	organizations</a:t>
            </a:r>
          </a:p>
          <a:p>
            <a:r>
              <a:rPr lang="en-US" sz="2400" dirty="0"/>
              <a:t>Open integration protocols</a:t>
            </a:r>
          </a:p>
          <a:p>
            <a:pPr>
              <a:buNone/>
            </a:pPr>
            <a:r>
              <a:rPr lang="en-US" sz="2400" dirty="0"/>
              <a:t>		API’S and protocols for accessing company’s internal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1"/>
            <a:ext cx="8229600" cy="4830763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sz="1400" i="1" dirty="0"/>
          </a:p>
          <a:p>
            <a:pPr>
              <a:lnSpc>
                <a:spcPct val="80000"/>
              </a:lnSpc>
              <a:buNone/>
            </a:pPr>
            <a:r>
              <a:rPr lang="en-US" sz="2400" i="1" dirty="0"/>
              <a:t>USER BENEFITS:</a:t>
            </a:r>
          </a:p>
          <a:p>
            <a:pPr>
              <a:lnSpc>
                <a:spcPct val="80000"/>
              </a:lnSpc>
            </a:pPr>
            <a:r>
              <a:rPr lang="en-US" sz="2400" i="1" dirty="0"/>
              <a:t>Lower Cost of Ownership </a:t>
            </a:r>
          </a:p>
          <a:p>
            <a:pPr>
              <a:lnSpc>
                <a:spcPct val="80000"/>
              </a:lnSpc>
            </a:pPr>
            <a:r>
              <a:rPr lang="en-US" sz="2400" i="1" dirty="0"/>
              <a:t>Focus on Core Competency . </a:t>
            </a:r>
          </a:p>
          <a:p>
            <a:pPr>
              <a:lnSpc>
                <a:spcPct val="80000"/>
              </a:lnSpc>
            </a:pPr>
            <a:r>
              <a:rPr lang="en-US" sz="2400" i="1" dirty="0"/>
              <a:t>Access Anywhere</a:t>
            </a:r>
          </a:p>
          <a:p>
            <a:pPr>
              <a:lnSpc>
                <a:spcPct val="80000"/>
              </a:lnSpc>
            </a:pPr>
            <a:r>
              <a:rPr lang="en-US" sz="2400" i="1" dirty="0"/>
              <a:t>Freedom to Choose (or Better Software)  </a:t>
            </a:r>
          </a:p>
          <a:p>
            <a:pPr>
              <a:lnSpc>
                <a:spcPct val="80000"/>
              </a:lnSpc>
            </a:pPr>
            <a:r>
              <a:rPr lang="en-US" sz="2400" i="1" dirty="0"/>
              <a:t>Faster Product Cycles </a:t>
            </a:r>
          </a:p>
          <a:p>
            <a:pPr>
              <a:buNone/>
            </a:pPr>
            <a:r>
              <a:rPr lang="en-US" sz="2400" i="1" dirty="0"/>
              <a:t>VENDOR BENEFITS:</a:t>
            </a:r>
          </a:p>
          <a:p>
            <a:pPr>
              <a:buNone/>
            </a:pPr>
            <a:r>
              <a:rPr lang="en-US" sz="2400" i="1" dirty="0"/>
              <a:t>.Increased Total Available Market</a:t>
            </a:r>
          </a:p>
          <a:p>
            <a:pPr>
              <a:buNone/>
            </a:pPr>
            <a:r>
              <a:rPr lang="en-US" sz="2400" i="1" dirty="0"/>
              <a:t>. Lower Development Costs &amp; Quicker Time-to-Market </a:t>
            </a:r>
          </a:p>
          <a:p>
            <a:pPr>
              <a:buNone/>
            </a:pPr>
            <a:r>
              <a:rPr lang="en-US" sz="2400" i="1" dirty="0"/>
              <a:t>. Improved Customer Relationships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>
            <a:cxnSpLocks noChangeShapeType="1"/>
          </p:cNvCxnSpPr>
          <p:nvPr/>
        </p:nvCxnSpPr>
        <p:spPr bwMode="auto">
          <a:xfrm rot="16200000" flipH="1">
            <a:off x="5448300" y="4019945"/>
            <a:ext cx="4495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" name="Straight Connector 2"/>
          <p:cNvCxnSpPr>
            <a:cxnSpLocks noChangeShapeType="1"/>
          </p:cNvCxnSpPr>
          <p:nvPr/>
        </p:nvCxnSpPr>
        <p:spPr bwMode="auto">
          <a:xfrm rot="5400000">
            <a:off x="2515394" y="4057251"/>
            <a:ext cx="4419600" cy="15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4" name="Picture 2" descr="Rackspace Picture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448571"/>
            <a:ext cx="151288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/>
          <p:cNvSpPr>
            <a:spLocks noChangeArrowheads="1"/>
          </p:cNvSpPr>
          <p:nvPr/>
        </p:nvSpPr>
        <p:spPr bwMode="auto">
          <a:xfrm>
            <a:off x="1905000" y="5277245"/>
            <a:ext cx="26670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35001">
                <a:srgbClr val="FFFFFF"/>
              </a:gs>
              <a:gs pos="100000">
                <a:srgbClr val="FFFFFF"/>
              </a:gs>
            </a:gsLst>
            <a:lin ang="16200000" scaled="1"/>
          </a:gradFill>
          <a:ln w="9525">
            <a:solidFill>
              <a:srgbClr val="F9F9F9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dk1"/>
                </a:solidFill>
              </a:rPr>
              <a:t>Utility Computing</a:t>
            </a:r>
          </a:p>
        </p:txBody>
      </p:sp>
      <p:sp>
        <p:nvSpPr>
          <p:cNvPr id="6" name="Rounded Rectangle 5"/>
          <p:cNvSpPr>
            <a:spLocks noChangeArrowheads="1"/>
          </p:cNvSpPr>
          <p:nvPr/>
        </p:nvSpPr>
        <p:spPr bwMode="auto">
          <a:xfrm>
            <a:off x="4876800" y="5277245"/>
            <a:ext cx="26670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dk1"/>
                </a:solidFill>
              </a:rPr>
              <a:t>Platform as a Service (</a:t>
            </a:r>
            <a:r>
              <a:rPr lang="en-US" dirty="0" err="1">
                <a:solidFill>
                  <a:schemeClr val="dk1"/>
                </a:solidFill>
              </a:rPr>
              <a:t>PaaS</a:t>
            </a:r>
            <a:r>
              <a:rPr lang="en-US" dirty="0">
                <a:solidFill>
                  <a:schemeClr val="dk1"/>
                </a:solidFill>
              </a:rPr>
              <a:t>)</a:t>
            </a: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7848600" y="5277245"/>
            <a:ext cx="26670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CACE1"/>
              </a:gs>
              <a:gs pos="35001">
                <a:srgbClr val="C5C5E9"/>
              </a:gs>
              <a:gs pos="100000">
                <a:srgbClr val="E9E9F7"/>
              </a:gs>
            </a:gsLst>
            <a:lin ang="16200000" scaled="1"/>
          </a:gradFill>
          <a:ln w="9525">
            <a:solidFill>
              <a:srgbClr val="292989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dk1"/>
                </a:solidFill>
              </a:rPr>
              <a:t>Cloud-based User Applications</a:t>
            </a:r>
          </a:p>
        </p:txBody>
      </p:sp>
      <p:pic>
        <p:nvPicPr>
          <p:cNvPr id="8" name="Picture 4" descr="Amazon Picture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058046"/>
            <a:ext cx="1752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Google App Engine Picture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667646"/>
            <a:ext cx="1600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http://www.techcrunch.com/wp-content/forcelogo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981846"/>
            <a:ext cx="16764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Flickr Picture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0" y="4720033"/>
            <a:ext cx="123825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4" descr="Salesforce Picture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286645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47"/>
          <p:cNvGrpSpPr>
            <a:grpSpLocks/>
          </p:cNvGrpSpPr>
          <p:nvPr/>
        </p:nvGrpSpPr>
        <p:grpSpPr bwMode="auto">
          <a:xfrm>
            <a:off x="4114800" y="3143645"/>
            <a:ext cx="2438400" cy="457200"/>
            <a:chOff x="1752600" y="2438400"/>
            <a:chExt cx="4114800" cy="914400"/>
          </a:xfrm>
        </p:grpSpPr>
        <p:sp>
          <p:nvSpPr>
            <p:cNvPr id="14" name="Rounded Rectangle 13"/>
            <p:cNvSpPr>
              <a:spLocks noChangeArrowheads="1"/>
            </p:cNvSpPr>
            <p:nvPr/>
          </p:nvSpPr>
          <p:spPr bwMode="auto">
            <a:xfrm>
              <a:off x="1752600" y="2438400"/>
              <a:ext cx="4114800" cy="9144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E4FEFF"/>
                </a:gs>
                <a:gs pos="35001">
                  <a:srgbClr val="EBFEFF"/>
                </a:gs>
                <a:gs pos="100000">
                  <a:srgbClr val="F6FFFF"/>
                </a:gs>
              </a:gsLst>
              <a:lin ang="16200000" scaled="1"/>
            </a:gradFill>
            <a:ln w="9525">
              <a:solidFill>
                <a:srgbClr val="D5E8EA"/>
              </a:solidFill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cs typeface="Arial" pitchFamily="34" charset="0"/>
              </a:endParaRPr>
            </a:p>
          </p:txBody>
        </p:sp>
        <p:pic>
          <p:nvPicPr>
            <p:cNvPr id="15" name="Picture 17" descr="WinAzure_h_rgb.png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2590800"/>
              <a:ext cx="3223273" cy="605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6" name="Picture 6" descr="LiveServices_h_rgb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588" y="1957783"/>
            <a:ext cx="124301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C:\Users\maryfj\Desktop\PDC Visuals\Assets\Strata3D architecture chart\Logos\SQL Services\SQLServices_h_rgb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2576909"/>
            <a:ext cx="12430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 descr="C:\Users\maryfj\Desktop\PDC Visuals\Assets\Strata3D architecture chart\Logos\NET Services\NETServices_h_rgb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2270521"/>
            <a:ext cx="145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C:\Users\maryfj\Desktop\PDC Visuals\Assets\Strata3D architecture chart\Logos\Office Live\ofc-Live_rgb_r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2991246"/>
            <a:ext cx="114617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 descr="C:\Users\maryfj\Desktop\PDC Visuals\Assets\Strata3D architecture chart\Logos\Windows Live\WLive_h_rgb_r.pn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2594371"/>
            <a:ext cx="13620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 descr="C:\Documents and Settings\chrisyeo\Desktop\images.jpe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91445"/>
            <a:ext cx="622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 descr="C:\Documents and Settings\chrisyeo\Desktop\images.jpe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1" y="3829445"/>
            <a:ext cx="10191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Perspectives</a:t>
            </a:r>
          </a:p>
        </p:txBody>
      </p:sp>
    </p:spTree>
    <p:extLst>
      <p:ext uri="{BB962C8B-B14F-4D97-AF65-F5344CB8AC3E}">
        <p14:creationId xmlns:p14="http://schemas.microsoft.com/office/powerpoint/2010/main" val="416204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6340"/>
            <a:ext cx="10515600" cy="1325563"/>
          </a:xfrm>
        </p:spPr>
        <p:txBody>
          <a:bodyPr/>
          <a:lstStyle/>
          <a:p>
            <a:r>
              <a:rPr lang="en-US" dirty="0"/>
              <a:t>EC2 compute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3335D-4FC9-924F-B266-DEE7D65B61EE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 descr="Screen Shot 2016-04-25 at 1.47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66801"/>
            <a:ext cx="9144000" cy="4715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10556" y="5684114"/>
            <a:ext cx="7708716" cy="830997"/>
          </a:xfrm>
          <a:prstGeom prst="rect">
            <a:avLst/>
          </a:prstGeom>
          <a:solidFill>
            <a:srgbClr val="FCD5B5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Do these numbers match our intuition based on market prices for computers and peripherals? </a:t>
            </a:r>
          </a:p>
        </p:txBody>
      </p:sp>
    </p:spTree>
    <p:extLst>
      <p:ext uri="{BB962C8B-B14F-4D97-AF65-F5344CB8AC3E}">
        <p14:creationId xmlns:p14="http://schemas.microsoft.com/office/powerpoint/2010/main" val="217944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factors for a good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Three key differentiators that separate  well-designed </a:t>
            </a:r>
            <a:r>
              <a:rPr lang="en-US" dirty="0" err="1"/>
              <a:t>SaaS</a:t>
            </a:r>
            <a:r>
              <a:rPr lang="en-US" dirty="0"/>
              <a:t> application from a poorly designed one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 </a:t>
            </a:r>
            <a:r>
              <a:rPr lang="en-US" i="1" dirty="0"/>
              <a:t>scalability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i="1" dirty="0"/>
              <a:t>Multi tenant efficient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 </a:t>
            </a:r>
            <a:r>
              <a:rPr lang="en-US" i="1" dirty="0"/>
              <a:t>configurable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Scaling the application - maximizing concurrency, and  efficient use of resources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i.e. optimizing locking duration, statelessness, sharing pooled resources such as threads and network connections, caching reference data, and partitioning large databases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429"/>
            <a:ext cx="10515600" cy="49795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Multi-tenancy – important architectural shift from designing isolated, single-tenant applications </a:t>
            </a:r>
          </a:p>
          <a:p>
            <a:pPr lvl="1"/>
            <a:r>
              <a:rPr lang="en-US" dirty="0"/>
              <a:t>One application instance  should accommodate users from multiple other companies at the same time while providing transparency </a:t>
            </a:r>
          </a:p>
          <a:p>
            <a:pPr lvl="1"/>
            <a:r>
              <a:rPr lang="en-US" dirty="0"/>
              <a:t>This requires an architecture that maximizes the sharing of resources efficiently across tenants </a:t>
            </a:r>
            <a:endParaRPr lang="en-US" i="1" dirty="0"/>
          </a:p>
          <a:p>
            <a:pPr>
              <a:lnSpc>
                <a:spcPct val="80000"/>
              </a:lnSpc>
            </a:pPr>
            <a:r>
              <a:rPr lang="en-US" i="1" dirty="0"/>
              <a:t>Configurable - </a:t>
            </a:r>
            <a:r>
              <a:rPr lang="en-US" dirty="0"/>
              <a:t>a single application instance on a single server has to accommodate users from several different companies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 Customizing the application for one customer will change the application for other customers as well. </a:t>
            </a:r>
          </a:p>
          <a:p>
            <a:pPr>
              <a:lnSpc>
                <a:spcPct val="80000"/>
              </a:lnSpc>
            </a:pPr>
            <a:r>
              <a:rPr lang="en-US" dirty="0"/>
              <a:t>Traditionally customizing an application would mean  changes in the code.</a:t>
            </a:r>
          </a:p>
          <a:p>
            <a:pPr>
              <a:lnSpc>
                <a:spcPct val="80000"/>
              </a:lnSpc>
            </a:pPr>
            <a:r>
              <a:rPr lang="en-US" dirty="0"/>
              <a:t>Each customer must use metadata to </a:t>
            </a:r>
            <a:r>
              <a:rPr lang="en-US" i="1" dirty="0"/>
              <a:t>configure</a:t>
            </a:r>
            <a:r>
              <a:rPr lang="en-US" dirty="0"/>
              <a:t> the way the application appears and behaves for its users. </a:t>
            </a:r>
          </a:p>
          <a:p>
            <a:pPr>
              <a:lnSpc>
                <a:spcPct val="80000"/>
              </a:lnSpc>
            </a:pPr>
            <a:r>
              <a:rPr lang="en-US" dirty="0"/>
              <a:t>Customers configuring applications must be simple and easy without any extra development or operation costs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764</Words>
  <Application>Microsoft Macintosh PowerPoint</Application>
  <PresentationFormat>Widescreen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CLB Helvetica Condensed Black</vt:lpstr>
      <vt:lpstr>Comic Sans MS</vt:lpstr>
      <vt:lpstr>Geneva</vt:lpstr>
      <vt:lpstr>Office Theme</vt:lpstr>
      <vt:lpstr>IaaS, Paas, Saas</vt:lpstr>
      <vt:lpstr>Cloud infrastructure management</vt:lpstr>
      <vt:lpstr>Cloud Computing-What is it?</vt:lpstr>
      <vt:lpstr>PowerPoint Presentation</vt:lpstr>
      <vt:lpstr>Virtualization: key to cloud boom</vt:lpstr>
      <vt:lpstr>PowerPoint Presentation</vt:lpstr>
      <vt:lpstr>Common cloud computing models</vt:lpstr>
      <vt:lpstr>Core Stacks</vt:lpstr>
      <vt:lpstr>PowerPoint Presentation</vt:lpstr>
      <vt:lpstr>Goals of PaaS</vt:lpstr>
      <vt:lpstr>Why PaaS? </vt:lpstr>
      <vt:lpstr>SaaS Definition</vt:lpstr>
      <vt:lpstr>ADVANTAGES</vt:lpstr>
      <vt:lpstr>Perspectives</vt:lpstr>
      <vt:lpstr>EC2 compute pricing</vt:lpstr>
      <vt:lpstr>Important factors for a good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:IaaS, Paas, Saas</dc:title>
  <dc:creator>Bijoy Jose</dc:creator>
  <cp:lastModifiedBy>Bijoy Jose</cp:lastModifiedBy>
  <cp:revision>8</cp:revision>
  <dcterms:created xsi:type="dcterms:W3CDTF">2021-12-14T05:54:30Z</dcterms:created>
  <dcterms:modified xsi:type="dcterms:W3CDTF">2024-08-12T05:35:43Z</dcterms:modified>
</cp:coreProperties>
</file>