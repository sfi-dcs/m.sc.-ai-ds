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88" r:id="rId4"/>
    <p:sldId id="289" r:id="rId5"/>
    <p:sldId id="291" r:id="rId6"/>
    <p:sldId id="287" r:id="rId7"/>
    <p:sldId id="297" r:id="rId8"/>
    <p:sldId id="296" r:id="rId9"/>
    <p:sldId id="290" r:id="rId10"/>
    <p:sldId id="292" r:id="rId11"/>
    <p:sldId id="293" r:id="rId12"/>
    <p:sldId id="298" r:id="rId13"/>
    <p:sldId id="294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FF"/>
    <a:srgbClr val="0066FF"/>
    <a:srgbClr val="3399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A24AFD5-8738-49FC-850B-480E01E6E5D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C253896-7489-47B4-8725-A37B3853A4B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841F57-36F2-4C48-B66C-E9D18BF9FC40}" type="slidenum">
              <a:rPr lang="en-US"/>
              <a:pPr/>
              <a:t>1</a:t>
            </a:fld>
            <a:endParaRPr lang="en-US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E13822-F75E-47C5-A4BD-5BA2EB9F2B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261D8F-4B48-446A-A361-4D5141687E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FFD9CA-AB6F-40DA-9292-E71482C7A35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DA9C3A-DCC6-4D05-B9E6-541FFA53F0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105CDA-359C-4F63-A8E2-D17CA006FB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D29E41-D417-417C-8889-746EB27917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A8071A-6140-4E4C-A2EB-94008410CF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F9D789-AC04-46D1-A603-A1D40D5E92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7596ED-226E-4645-B280-06586FD2AF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63C223-DB91-4EF6-B55C-92E3E567A40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6229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6229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947D66-3092-4E64-8CBD-079D45AA5F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324600"/>
            <a:ext cx="9144000" cy="5334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7818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ACDAB36-1E80-4BF4-AE19-D877775F24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CE7E7B-3305-452A-AD21-AE8D023B18E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600" b="1">
          <a:solidFill>
            <a:srgbClr val="0066FF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 b="1">
          <a:solidFill>
            <a:srgbClr val="0066FF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600" b="1">
          <a:solidFill>
            <a:srgbClr val="0066FF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600" b="1">
          <a:solidFill>
            <a:srgbClr val="0066FF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600" b="1">
          <a:solidFill>
            <a:srgbClr val="0066FF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66FF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66FF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66FF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66FF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Subject_(grammar)" TargetMode="External"/><Relationship Id="rId3" Type="http://schemas.openxmlformats.org/officeDocument/2006/relationships/hyperlink" Target="http://en.wikipedia.org/wiki/Noun" TargetMode="External"/><Relationship Id="rId7" Type="http://schemas.openxmlformats.org/officeDocument/2006/relationships/hyperlink" Target="http://en.wikipedia.org/wiki/Clause" TargetMode="External"/><Relationship Id="rId2" Type="http://schemas.openxmlformats.org/officeDocument/2006/relationships/hyperlink" Target="http://en.wikipedia.org/wiki/Gramma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Phrase" TargetMode="External"/><Relationship Id="rId5" Type="http://schemas.openxmlformats.org/officeDocument/2006/relationships/hyperlink" Target="http://en.wikipedia.org/wiki/Grammatical_function" TargetMode="External"/><Relationship Id="rId10" Type="http://schemas.openxmlformats.org/officeDocument/2006/relationships/hyperlink" Target="http://en.wikipedia.org/wiki/Possession_(linguistics)" TargetMode="External"/><Relationship Id="rId4" Type="http://schemas.openxmlformats.org/officeDocument/2006/relationships/hyperlink" Target="http://en.wikipedia.org/wiki/Pronoun" TargetMode="External"/><Relationship Id="rId9" Type="http://schemas.openxmlformats.org/officeDocument/2006/relationships/hyperlink" Target="http://en.wikipedia.org/wiki/Direct_objec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4B9C59-6A00-475E-80BE-FEFDA109E4BE}" type="slidenum">
              <a:rPr lang="en-US"/>
              <a:pPr/>
              <a:t>1</a:t>
            </a:fld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01775"/>
            <a:ext cx="7772400" cy="2994025"/>
          </a:xfrm>
        </p:spPr>
        <p:txBody>
          <a:bodyPr/>
          <a:lstStyle/>
          <a:p>
            <a:r>
              <a:rPr lang="en-US" sz="3200" dirty="0"/>
              <a:t>Outline of English Syntax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b="1" dirty="0"/>
              <a:t> 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56AE20-975F-4816-9E78-DAD42393BAD6}" type="slidenum">
              <a:rPr lang="en-US"/>
              <a:pPr/>
              <a:t>2</a:t>
            </a:fld>
            <a:endParaRPr lang="en-US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Word/Lexical Categories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marL="457200" indent="-457200"/>
            <a:r>
              <a:rPr lang="en-US" dirty="0"/>
              <a:t>Four ‘main’ classes of words:</a:t>
            </a:r>
          </a:p>
          <a:p>
            <a:pPr marL="838200" lvl="1" indent="-381000"/>
            <a:r>
              <a:rPr lang="en-US" b="1" dirty="0"/>
              <a:t>Nouns</a:t>
            </a:r>
            <a:r>
              <a:rPr lang="en-US" dirty="0"/>
              <a:t>: refer to objects, concepts etc. (e.g. “birds”)</a:t>
            </a:r>
          </a:p>
          <a:p>
            <a:pPr marL="838200" lvl="1" indent="-381000"/>
            <a:r>
              <a:rPr lang="en-US" b="1" dirty="0"/>
              <a:t>Verbs</a:t>
            </a:r>
            <a:r>
              <a:rPr lang="en-US" dirty="0"/>
              <a:t>: express action in the sentence (e.g. “sing”)</a:t>
            </a:r>
          </a:p>
          <a:p>
            <a:pPr marL="838200" lvl="1" indent="-381000"/>
            <a:r>
              <a:rPr lang="en-US" b="1" dirty="0"/>
              <a:t>Adjectives</a:t>
            </a:r>
            <a:r>
              <a:rPr lang="en-US" dirty="0"/>
              <a:t>: describe properties of nouns (e.g. “yellow”)</a:t>
            </a:r>
          </a:p>
          <a:p>
            <a:pPr marL="838200" lvl="1" indent="-381000"/>
            <a:r>
              <a:rPr lang="en-US" b="1" dirty="0"/>
              <a:t>Adverbs</a:t>
            </a:r>
            <a:r>
              <a:rPr lang="en-US" dirty="0"/>
              <a:t>: modify verbs (e.g. “slowly”)</a:t>
            </a:r>
          </a:p>
          <a:p>
            <a:pPr marL="457200" indent="-457200"/>
            <a:r>
              <a:rPr lang="en-US" dirty="0"/>
              <a:t>Other classes</a:t>
            </a:r>
          </a:p>
          <a:p>
            <a:pPr marL="838200" lvl="1" indent="-381000"/>
            <a:r>
              <a:rPr lang="en-US" dirty="0"/>
              <a:t>pronouns, prepositions, determiners, particles, conjunctions etc.</a:t>
            </a: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1371600" y="4495800"/>
            <a:ext cx="573087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 u="sng">
                <a:latin typeface="Courier New" pitchFamily="49" charset="0"/>
              </a:rPr>
              <a:t>John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u="sng">
                <a:latin typeface="Courier New" pitchFamily="49" charset="0"/>
              </a:rPr>
              <a:t>ate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u="sng">
                <a:latin typeface="Courier New" pitchFamily="49" charset="0"/>
              </a:rPr>
              <a:t>the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u="sng">
                <a:latin typeface="Courier New" pitchFamily="49" charset="0"/>
              </a:rPr>
              <a:t>cake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u="sng">
                <a:latin typeface="Courier New" pitchFamily="49" charset="0"/>
              </a:rPr>
              <a:t>with</a:t>
            </a:r>
            <a:r>
              <a:rPr lang="en-US" b="1">
                <a:latin typeface="Courier New" pitchFamily="49" charset="0"/>
              </a:rPr>
              <a:t>  </a:t>
            </a:r>
            <a:r>
              <a:rPr lang="en-US" b="1" u="sng">
                <a:latin typeface="Courier New" pitchFamily="49" charset="0"/>
              </a:rPr>
              <a:t>a</a:t>
            </a:r>
            <a:r>
              <a:rPr lang="en-US" b="1">
                <a:latin typeface="Courier New" pitchFamily="49" charset="0"/>
              </a:rPr>
              <a:t>  </a:t>
            </a:r>
            <a:r>
              <a:rPr lang="en-US" b="1" u="sng">
                <a:latin typeface="Courier New" pitchFamily="49" charset="0"/>
              </a:rPr>
              <a:t>spoon</a:t>
            </a:r>
          </a:p>
          <a:p>
            <a:r>
              <a:rPr lang="en-US" sz="1600" b="1">
                <a:latin typeface="Courier New" pitchFamily="49" charset="0"/>
              </a:rPr>
              <a:t> N    V   Det   N   Prep  Det   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57E94E-3F2E-4452-90E6-9E8D9591C122}" type="slidenum">
              <a:rPr lang="en-US"/>
              <a:pPr/>
              <a:t>3</a:t>
            </a:fld>
            <a:endParaRPr lang="en-US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Syntactic Phrases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phrase is composed of several </a:t>
            </a:r>
            <a:r>
              <a:rPr lang="en-US" sz="1600"/>
              <a:t>(but &gt;</a:t>
            </a:r>
            <a:r>
              <a:rPr lang="en-US" sz="1600" b="1"/>
              <a:t>=</a:t>
            </a:r>
            <a:r>
              <a:rPr lang="en-US" sz="1600"/>
              <a:t> 1)</a:t>
            </a:r>
            <a:r>
              <a:rPr lang="en-US"/>
              <a:t> words.</a:t>
            </a:r>
          </a:p>
          <a:p>
            <a:r>
              <a:rPr lang="en-US"/>
              <a:t>The </a:t>
            </a:r>
            <a:r>
              <a:rPr lang="en-US" b="1"/>
              <a:t>head</a:t>
            </a:r>
            <a:r>
              <a:rPr lang="en-US"/>
              <a:t> of a phrase indicates the syntactic type of the phrase.</a:t>
            </a:r>
          </a:p>
          <a:p>
            <a:pPr lvl="1"/>
            <a:r>
              <a:rPr lang="en-US"/>
              <a:t>Noun phrase, Verb phrase, Adjective phrase, Adverbial phrase</a:t>
            </a:r>
          </a:p>
          <a:p>
            <a:pPr lvl="1"/>
            <a:r>
              <a:rPr lang="en-US"/>
              <a:t>Other words in a phrase which complete the meaning of the head word are called </a:t>
            </a:r>
            <a:r>
              <a:rPr lang="en-US" b="1"/>
              <a:t>complements</a:t>
            </a:r>
            <a:r>
              <a:rPr lang="en-US"/>
              <a:t>.</a:t>
            </a:r>
          </a:p>
        </p:txBody>
      </p:sp>
      <p:pic>
        <p:nvPicPr>
          <p:cNvPr id="118788" name="Picture 4" descr="Allen_0001"/>
          <p:cNvPicPr>
            <a:picLocks noChangeAspect="1" noChangeArrowheads="1"/>
          </p:cNvPicPr>
          <p:nvPr/>
        </p:nvPicPr>
        <p:blipFill>
          <a:blip r:embed="rId2"/>
          <a:srcRect l="31848" t="30447" r="7283" b="52156"/>
          <a:stretch>
            <a:fillRect/>
          </a:stretch>
        </p:blipFill>
        <p:spPr bwMode="auto">
          <a:xfrm>
            <a:off x="1219200" y="3733800"/>
            <a:ext cx="6553200" cy="2597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79C930-B1D8-415C-B37D-5D52B6C2C5D8}" type="slidenum">
              <a:rPr lang="en-US"/>
              <a:pPr/>
              <a:t>4</a:t>
            </a:fld>
            <a:endParaRPr lang="en-US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Noun Phrases (1)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r>
              <a:rPr lang="en-US"/>
              <a:t>Noun Phases (NPs) refer to things: objects, places, concepts, events, qualities, etc.</a:t>
            </a:r>
          </a:p>
          <a:p>
            <a:r>
              <a:rPr lang="en-US"/>
              <a:t>The simplest NP consists of:</a:t>
            </a:r>
          </a:p>
          <a:p>
            <a:pPr lvl="1"/>
            <a:r>
              <a:rPr lang="en-US"/>
              <a:t>a single pronoun – “he”, “she”, “it”, “they”, “them” etc.</a:t>
            </a:r>
          </a:p>
          <a:p>
            <a:pPr lvl="1"/>
            <a:r>
              <a:rPr lang="en-US"/>
              <a:t>a name or </a:t>
            </a:r>
            <a:r>
              <a:rPr lang="en-US" b="1"/>
              <a:t>proper noun</a:t>
            </a:r>
            <a:r>
              <a:rPr lang="en-US"/>
              <a:t> – “John”, “Chicago”</a:t>
            </a:r>
          </a:p>
          <a:p>
            <a:pPr lvl="1"/>
            <a:r>
              <a:rPr lang="en-US"/>
              <a:t>a </a:t>
            </a:r>
            <a:r>
              <a:rPr lang="en-US" b="1"/>
              <a:t>compound noun</a:t>
            </a:r>
            <a:r>
              <a:rPr lang="en-US"/>
              <a:t> </a:t>
            </a:r>
            <a:r>
              <a:rPr lang="en-US" sz="1400"/>
              <a:t>(made of &gt; 1 word)</a:t>
            </a:r>
            <a:r>
              <a:rPr lang="en-US"/>
              <a:t> denoting a proper noun – “New York”</a:t>
            </a:r>
          </a:p>
          <a:p>
            <a:r>
              <a:rPr lang="en-US"/>
              <a:t>Excluding pronouns and proper names, the head of a noun phrase is usually a </a:t>
            </a:r>
            <a:r>
              <a:rPr lang="en-US" b="1"/>
              <a:t>common noun</a:t>
            </a:r>
            <a:r>
              <a:rPr lang="en-US" sz="2000"/>
              <a:t>… and usually the right-most one in a compound noun in English</a:t>
            </a:r>
          </a:p>
          <a:p>
            <a:pPr lvl="1"/>
            <a:r>
              <a:rPr lang="en-US"/>
              <a:t>“</a:t>
            </a:r>
            <a:r>
              <a:rPr lang="en-US" u="sng"/>
              <a:t>cakes</a:t>
            </a:r>
            <a:r>
              <a:rPr lang="en-US"/>
              <a:t>”, “the </a:t>
            </a:r>
            <a:r>
              <a:rPr lang="en-US" u="sng"/>
              <a:t>cake</a:t>
            </a:r>
            <a:r>
              <a:rPr lang="en-US"/>
              <a:t>”</a:t>
            </a:r>
          </a:p>
          <a:p>
            <a:pPr lvl="1"/>
            <a:r>
              <a:rPr lang="en-US"/>
              <a:t>“a large chocolate </a:t>
            </a:r>
            <a:r>
              <a:rPr lang="en-US" u="sng"/>
              <a:t>cake</a:t>
            </a:r>
            <a:r>
              <a:rPr lang="en-US"/>
              <a:t>”</a:t>
            </a:r>
          </a:p>
          <a:p>
            <a:pPr lvl="1"/>
            <a:r>
              <a:rPr lang="en-US"/>
              <a:t>“Harry Potter book </a:t>
            </a:r>
            <a:r>
              <a:rPr lang="en-US" u="sng"/>
              <a:t>reviews</a:t>
            </a:r>
            <a:r>
              <a:rPr lang="en-US"/>
              <a:t>”</a:t>
            </a:r>
          </a:p>
          <a:p>
            <a:pPr lvl="1"/>
            <a:endParaRPr lang="en-US"/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228600" y="6477000"/>
            <a:ext cx="5791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3FCAF5-25CB-4B0E-9C7C-B3CCA7B92561}" type="slidenum">
              <a:rPr lang="en-US"/>
              <a:pPr/>
              <a:t>5</a:t>
            </a:fld>
            <a:endParaRPr lang="en-US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Noun Phrases (2)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addition to a head, A noun phrase may contain:</a:t>
            </a:r>
          </a:p>
          <a:p>
            <a:pPr lvl="1"/>
            <a:r>
              <a:rPr lang="en-US" dirty="0"/>
              <a:t>specifiers – ordinals (e.g. “first”, “second”), cardinals (e.g. “one”, “two”), and determiners.</a:t>
            </a:r>
          </a:p>
          <a:p>
            <a:pPr lvl="1"/>
            <a:r>
              <a:rPr lang="en-US" dirty="0"/>
              <a:t>qualifiers – adjectives (e.g., “angry”), noun modifiers.</a:t>
            </a:r>
          </a:p>
          <a:p>
            <a:r>
              <a:rPr lang="en-US" dirty="0"/>
              <a:t>A simple noun phrase may have at most one determiner, one ordinal, and one cardinal.</a:t>
            </a:r>
          </a:p>
          <a:p>
            <a:pPr lvl="1"/>
            <a:r>
              <a:rPr lang="en-US" dirty="0"/>
              <a:t>e.g. “the first three contestants”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BDA768-C02C-4AE5-9CC4-92B7C7707DA4}" type="slidenum">
              <a:rPr lang="en-US"/>
              <a:pPr/>
              <a:t>6</a:t>
            </a:fld>
            <a:endParaRPr lang="en-US"/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Inflectional Forms of English Nouns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001000" cy="4525963"/>
          </a:xfrm>
        </p:spPr>
        <p:txBody>
          <a:bodyPr/>
          <a:lstStyle/>
          <a:p>
            <a:r>
              <a:rPr lang="en-US" sz="2000" dirty="0"/>
              <a:t>Number – singular, plural</a:t>
            </a:r>
          </a:p>
          <a:p>
            <a:r>
              <a:rPr lang="en-US" sz="2000" dirty="0"/>
              <a:t>Tense – present, past, future</a:t>
            </a:r>
          </a:p>
          <a:p>
            <a:r>
              <a:rPr lang="en-US" sz="2000" dirty="0"/>
              <a:t>Gender – masculine, feminine, neuter (hero, heroine) (tiger, tigress) (hunter, huntress)</a:t>
            </a:r>
          </a:p>
          <a:p>
            <a:r>
              <a:rPr lang="en-US" sz="2000" dirty="0"/>
              <a:t>Case – nominative (subject), accusative (object), genitive (possessive)</a:t>
            </a:r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117975" name="Object 215"/>
          <p:cNvGraphicFramePr>
            <a:graphicFrameLocks noGrp="1" noChangeAspect="1"/>
          </p:cNvGraphicFramePr>
          <p:nvPr>
            <p:ph sz="half" idx="2"/>
          </p:nvPr>
        </p:nvGraphicFramePr>
        <p:xfrm>
          <a:off x="1219200" y="3276600"/>
          <a:ext cx="6705600" cy="2879725"/>
        </p:xfrm>
        <a:graphic>
          <a:graphicData uri="http://schemas.openxmlformats.org/presentationml/2006/ole">
            <p:oleObj spid="_x0000_s117980" name="Worksheet" r:id="rId3" imgW="6111409" imgH="2625999" progId="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3A35D1-C9D5-4745-9970-5AA2A9D0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Cases in Malayalam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9B2796-312B-4BDC-B212-066783DD8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u="sng" dirty="0"/>
          </a:p>
          <a:p>
            <a:pPr>
              <a:lnSpc>
                <a:spcPct val="200000"/>
              </a:lnSpc>
            </a:pPr>
            <a:r>
              <a:rPr lang="ml-IN" u="sng" dirty="0"/>
              <a:t>രാമൻ</a:t>
            </a:r>
            <a:r>
              <a:rPr lang="ml-IN" dirty="0"/>
              <a:t> സീതയെ കണ്ടു.</a:t>
            </a:r>
            <a:r>
              <a:rPr lang="en-IN" dirty="0"/>
              <a:t> (Nominative)</a:t>
            </a:r>
            <a:endParaRPr lang="ml-IN" dirty="0"/>
          </a:p>
          <a:p>
            <a:pPr>
              <a:lnSpc>
                <a:spcPct val="200000"/>
              </a:lnSpc>
            </a:pPr>
            <a:r>
              <a:rPr lang="ml-IN" dirty="0"/>
              <a:t>രാജു </a:t>
            </a:r>
            <a:r>
              <a:rPr lang="ml-IN" u="sng" dirty="0"/>
              <a:t>രാമനെ</a:t>
            </a:r>
            <a:r>
              <a:rPr lang="ml-IN" dirty="0"/>
              <a:t> കണ്ടു.</a:t>
            </a:r>
            <a:r>
              <a:rPr lang="en-IN" dirty="0"/>
              <a:t> (Accusative)</a:t>
            </a:r>
            <a:endParaRPr lang="ml-IN" dirty="0"/>
          </a:p>
          <a:p>
            <a:pPr>
              <a:lnSpc>
                <a:spcPct val="200000"/>
              </a:lnSpc>
            </a:pPr>
            <a:r>
              <a:rPr lang="ml-IN" dirty="0"/>
              <a:t>രാജു </a:t>
            </a:r>
            <a:r>
              <a:rPr lang="ml-IN" u="sng" dirty="0"/>
              <a:t>രാമന്</a:t>
            </a:r>
            <a:r>
              <a:rPr lang="ml-IN" dirty="0"/>
              <a:t> പേന കൊടുത്തു.</a:t>
            </a:r>
            <a:r>
              <a:rPr lang="en-IN" dirty="0"/>
              <a:t> (Dative)</a:t>
            </a:r>
            <a:endParaRPr lang="ml-IN" dirty="0"/>
          </a:p>
          <a:p>
            <a:pPr>
              <a:lnSpc>
                <a:spcPct val="200000"/>
              </a:lnSpc>
            </a:pPr>
            <a:r>
              <a:rPr lang="ml-IN" dirty="0"/>
              <a:t>രാജു </a:t>
            </a:r>
            <a:r>
              <a:rPr lang="ml-IN" u="sng" dirty="0"/>
              <a:t>രാമനാൽ</a:t>
            </a:r>
            <a:r>
              <a:rPr lang="ml-IN" dirty="0"/>
              <a:t> കൊല്ലപ്പെട്ടു.</a:t>
            </a:r>
            <a:r>
              <a:rPr lang="en-IN" dirty="0"/>
              <a:t> (Instrumental)</a:t>
            </a:r>
          </a:p>
          <a:p>
            <a:pPr>
              <a:lnSpc>
                <a:spcPct val="200000"/>
              </a:lnSpc>
            </a:pPr>
            <a:r>
              <a:rPr lang="ml-IN" u="sng" dirty="0"/>
              <a:t>രാമന്റെ</a:t>
            </a:r>
            <a:r>
              <a:rPr lang="ml-IN" dirty="0"/>
              <a:t> വീട്ടിൽ പോയി. </a:t>
            </a:r>
            <a:r>
              <a:rPr lang="en-IN" dirty="0"/>
              <a:t>(Genitive)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3326FF-B5DB-47D4-9A57-E2F0807F1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261D8F-4B48-446A-A361-4D5141687E7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47708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863A2D-F170-47DB-A71D-9BC4ABA8A280}" type="slidenum">
              <a:rPr lang="en-US"/>
              <a:pPr/>
              <a:t>8</a:t>
            </a:fld>
            <a:endParaRPr lang="en-US"/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Grammatical cases of English Nouns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In </a:t>
            </a:r>
            <a:r>
              <a:rPr lang="en-US" dirty="0">
                <a:hlinkClick r:id="rId2" tooltip="Grammar"/>
              </a:rPr>
              <a:t>grammar</a:t>
            </a:r>
            <a:r>
              <a:rPr lang="en-US" dirty="0"/>
              <a:t>, the </a:t>
            </a:r>
            <a:r>
              <a:rPr lang="en-US" b="1" dirty="0"/>
              <a:t>case</a:t>
            </a:r>
            <a:r>
              <a:rPr lang="en-US" dirty="0"/>
              <a:t> of a </a:t>
            </a:r>
            <a:r>
              <a:rPr lang="en-US" dirty="0">
                <a:hlinkClick r:id="rId3" tooltip="Noun"/>
              </a:rPr>
              <a:t>noun</a:t>
            </a:r>
            <a:r>
              <a:rPr lang="en-US" dirty="0"/>
              <a:t> or </a:t>
            </a:r>
            <a:r>
              <a:rPr lang="en-US" dirty="0">
                <a:hlinkClick r:id="rId4" tooltip="Pronoun"/>
              </a:rPr>
              <a:t>pronoun</a:t>
            </a:r>
            <a:r>
              <a:rPr lang="en-US" dirty="0"/>
              <a:t> indicates its </a:t>
            </a:r>
            <a:r>
              <a:rPr lang="en-US" dirty="0">
                <a:hlinkClick r:id="rId5" tooltip="Grammatical function"/>
              </a:rPr>
              <a:t>grammatical function</a:t>
            </a:r>
            <a:r>
              <a:rPr lang="en-US" dirty="0"/>
              <a:t> in a greater </a:t>
            </a:r>
            <a:r>
              <a:rPr lang="en-US" dirty="0">
                <a:hlinkClick r:id="rId6" tooltip="Phrase"/>
              </a:rPr>
              <a:t>phrase</a:t>
            </a:r>
            <a:r>
              <a:rPr lang="en-US" dirty="0"/>
              <a:t> or </a:t>
            </a:r>
            <a:r>
              <a:rPr lang="en-US" dirty="0">
                <a:hlinkClick r:id="rId7" tooltip="Clause"/>
              </a:rPr>
              <a:t>clause</a:t>
            </a:r>
            <a:r>
              <a:rPr lang="en-US" dirty="0"/>
              <a:t>; such as the role of </a:t>
            </a:r>
            <a:r>
              <a:rPr lang="en-US" dirty="0">
                <a:hlinkClick r:id="rId8" tooltip="Subject (grammar)"/>
              </a:rPr>
              <a:t>subject</a:t>
            </a:r>
            <a:r>
              <a:rPr lang="en-US" dirty="0"/>
              <a:t>, of </a:t>
            </a:r>
            <a:r>
              <a:rPr lang="en-US" dirty="0">
                <a:hlinkClick r:id="rId9" tooltip="Direct object"/>
              </a:rPr>
              <a:t>direct object</a:t>
            </a:r>
            <a:r>
              <a:rPr lang="en-US" dirty="0"/>
              <a:t>, or of </a:t>
            </a:r>
            <a:r>
              <a:rPr lang="en-US" dirty="0">
                <a:hlinkClick r:id="rId10" tooltip="Possession (linguistics)"/>
              </a:rPr>
              <a:t>possessor</a:t>
            </a:r>
            <a:r>
              <a:rPr lang="en-US" dirty="0"/>
              <a:t>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b="1" dirty="0"/>
              <a:t>Nominative</a:t>
            </a:r>
            <a:r>
              <a:rPr lang="en-US" sz="2000" dirty="0"/>
              <a:t> -- subjective case, indicates the subject of a finite verb:</a:t>
            </a:r>
            <a:r>
              <a:rPr lang="en-US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b="1" i="1" dirty="0">
                <a:solidFill>
                  <a:srgbClr val="CC0000"/>
                </a:solidFill>
              </a:rPr>
              <a:t>We</a:t>
            </a:r>
            <a:r>
              <a:rPr lang="en-US" i="1" dirty="0"/>
              <a:t> went to the store.</a:t>
            </a:r>
            <a:r>
              <a:rPr 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Accusative</a:t>
            </a:r>
            <a:r>
              <a:rPr lang="en-US" sz="2000" dirty="0"/>
              <a:t> -- objective case, indicates the direct object of a verb:</a:t>
            </a:r>
            <a:r>
              <a:rPr lang="en-US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The clerk remembered </a:t>
            </a:r>
            <a:r>
              <a:rPr lang="en-US" b="1" i="1" dirty="0">
                <a:solidFill>
                  <a:srgbClr val="CC0000"/>
                </a:solidFill>
              </a:rPr>
              <a:t>us</a:t>
            </a:r>
            <a:r>
              <a:rPr lang="en-US" i="1" dirty="0"/>
              <a:t>.</a:t>
            </a:r>
            <a:r>
              <a:rPr 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Dative</a:t>
            </a:r>
            <a:r>
              <a:rPr lang="en-US" sz="2000" dirty="0"/>
              <a:t> -- indicates the indirect object of a verb:</a:t>
            </a:r>
            <a:r>
              <a:rPr lang="en-US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The clerk gave </a:t>
            </a:r>
            <a:r>
              <a:rPr lang="en-US" b="1" i="1" dirty="0">
                <a:solidFill>
                  <a:srgbClr val="CC0000"/>
                </a:solidFill>
              </a:rPr>
              <a:t>us</a:t>
            </a:r>
            <a:r>
              <a:rPr lang="en-US" i="1" dirty="0"/>
              <a:t> a discount.</a:t>
            </a:r>
            <a:r>
              <a:rPr 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Genitive </a:t>
            </a:r>
            <a:r>
              <a:rPr lang="en-US" sz="2000" dirty="0"/>
              <a:t>-- possessive case, indicates the possessor of another noun:</a:t>
            </a:r>
            <a:r>
              <a:rPr lang="en-US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b="1" i="1" dirty="0">
                <a:solidFill>
                  <a:srgbClr val="CC0000"/>
                </a:solidFill>
              </a:rPr>
              <a:t>John's</a:t>
            </a:r>
            <a:r>
              <a:rPr lang="en-US" i="1" dirty="0"/>
              <a:t> book was on the table.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2C5965-E844-45AB-B3B3-0960AAC924D0}" type="slidenum">
              <a:rPr lang="en-US"/>
              <a:pPr/>
              <a:t>9</a:t>
            </a:fld>
            <a:endParaRPr lang="en-US"/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Verb Phrases (1)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077200" cy="4525963"/>
          </a:xfrm>
        </p:spPr>
        <p:txBody>
          <a:bodyPr/>
          <a:lstStyle/>
          <a:p>
            <a:r>
              <a:rPr lang="en-US" sz="2000" dirty="0"/>
              <a:t>Verb Phrases (VPs) describe an </a:t>
            </a:r>
            <a:r>
              <a:rPr lang="en-US" sz="2000" b="1" dirty="0"/>
              <a:t>action, event or state</a:t>
            </a:r>
            <a:r>
              <a:rPr lang="en-US" sz="2000" dirty="0"/>
              <a:t>.</a:t>
            </a:r>
          </a:p>
          <a:p>
            <a:r>
              <a:rPr lang="en-US" sz="2000" dirty="0"/>
              <a:t>A simple VP may consist of some adverbial modifiers followed by the head verb and its complements.</a:t>
            </a:r>
          </a:p>
          <a:p>
            <a:r>
              <a:rPr lang="en-US" sz="2000" dirty="0"/>
              <a:t>Every verb must appear in one of the five possible forms:</a:t>
            </a:r>
          </a:p>
        </p:txBody>
      </p:sp>
      <p:graphicFrame>
        <p:nvGraphicFramePr>
          <p:cNvPr id="123032" name="Object 152"/>
          <p:cNvGraphicFramePr>
            <a:graphicFrameLocks noGrp="1" noChangeAspect="1"/>
          </p:cNvGraphicFramePr>
          <p:nvPr>
            <p:ph sz="half" idx="2"/>
          </p:nvPr>
        </p:nvGraphicFramePr>
        <p:xfrm>
          <a:off x="885825" y="3124200"/>
          <a:ext cx="7372350" cy="2773363"/>
        </p:xfrm>
        <a:graphic>
          <a:graphicData uri="http://schemas.openxmlformats.org/presentationml/2006/ole">
            <p:oleObj spid="_x0000_s123036" name="Worksheet" r:id="rId3" imgW="7392776" imgH="2781382" progId="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0A02FC-A307-44CC-A739-342602144C51}" type="slidenum">
              <a:rPr lang="en-US"/>
              <a:pPr/>
              <a:t>10</a:t>
            </a:fld>
            <a:endParaRPr lang="en-US"/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Verb Phrases (2)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Classes of verbs:</a:t>
            </a:r>
          </a:p>
          <a:p>
            <a:pPr lvl="1"/>
            <a:r>
              <a:rPr lang="en-US" dirty="0"/>
              <a:t>Auxiliary verbs – “be”, “do”, “have”</a:t>
            </a:r>
          </a:p>
          <a:p>
            <a:pPr lvl="1"/>
            <a:r>
              <a:rPr lang="en-US" dirty="0"/>
              <a:t>Modal verbs – “can”, “will”, “shall”, “must” etc.</a:t>
            </a:r>
          </a:p>
          <a:p>
            <a:pPr lvl="1"/>
            <a:r>
              <a:rPr lang="en-US" dirty="0"/>
              <a:t>Main verbs – e.g. “cry”, “hit”</a:t>
            </a:r>
          </a:p>
          <a:p>
            <a:r>
              <a:rPr lang="en-US" dirty="0"/>
              <a:t>The tense </a:t>
            </a:r>
            <a:r>
              <a:rPr lang="en-US" sz="1600" dirty="0"/>
              <a:t>(of a sentence)</a:t>
            </a:r>
            <a:r>
              <a:rPr lang="en-US" dirty="0"/>
              <a:t> – identifies when the proposition was true.</a:t>
            </a:r>
          </a:p>
        </p:txBody>
      </p:sp>
      <p:pic>
        <p:nvPicPr>
          <p:cNvPr id="125956" name="Picture 4" descr="Allen_0004"/>
          <p:cNvPicPr>
            <a:picLocks noChangeAspect="1" noChangeArrowheads="1"/>
          </p:cNvPicPr>
          <p:nvPr/>
        </p:nvPicPr>
        <p:blipFill>
          <a:blip r:embed="rId2"/>
          <a:srcRect l="28160" t="30652" r="10263" b="50008"/>
          <a:stretch>
            <a:fillRect/>
          </a:stretch>
        </p:blipFill>
        <p:spPr bwMode="auto">
          <a:xfrm>
            <a:off x="1524000" y="3703638"/>
            <a:ext cx="6019800" cy="2620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6F374B-E7D7-449F-878C-AED62E1E6C4F}" type="slidenum">
              <a:rPr lang="en-US"/>
              <a:pPr/>
              <a:t>11</a:t>
            </a:fld>
            <a:endParaRPr lang="en-US"/>
          </a:p>
        </p:txBody>
      </p:sp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Transitivity of Verbs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24400"/>
          </a:xfrm>
        </p:spPr>
        <p:txBody>
          <a:bodyPr/>
          <a:lstStyle/>
          <a:p>
            <a:r>
              <a:rPr lang="en-US" dirty="0"/>
              <a:t>Transitivity of a verb </a:t>
            </a:r>
            <a:r>
              <a:rPr lang="en-US" b="1" dirty="0"/>
              <a:t>refers to the number of object noun phrases</a:t>
            </a:r>
            <a:r>
              <a:rPr lang="en-US" dirty="0"/>
              <a:t> it can take.</a:t>
            </a:r>
          </a:p>
          <a:p>
            <a:pPr lvl="1"/>
            <a:r>
              <a:rPr lang="en-US" b="1" dirty="0"/>
              <a:t>Intransitive</a:t>
            </a:r>
            <a:r>
              <a:rPr lang="en-US" dirty="0"/>
              <a:t> – no object NP.  e.g. “laugh”</a:t>
            </a:r>
          </a:p>
          <a:p>
            <a:pPr lvl="2"/>
            <a:r>
              <a:rPr lang="en-US" dirty="0"/>
              <a:t>“She laughed.”</a:t>
            </a:r>
          </a:p>
          <a:p>
            <a:pPr lvl="2"/>
            <a:r>
              <a:rPr lang="en-US" dirty="0"/>
              <a:t>(*) “She laughed me.” </a:t>
            </a:r>
            <a:r>
              <a:rPr lang="en-US" sz="1200" dirty="0"/>
              <a:t>– (*) represents ungrammatical</a:t>
            </a:r>
          </a:p>
          <a:p>
            <a:pPr lvl="2"/>
            <a:r>
              <a:rPr lang="en-US" dirty="0"/>
              <a:t>“She laughed at me.” – “at me” is not a noun phrase</a:t>
            </a:r>
          </a:p>
          <a:p>
            <a:pPr lvl="1"/>
            <a:r>
              <a:rPr lang="en-US" b="1" dirty="0"/>
              <a:t>Transitive</a:t>
            </a:r>
            <a:r>
              <a:rPr lang="en-US" dirty="0"/>
              <a:t> – one object NP.  e.g. “write”</a:t>
            </a:r>
          </a:p>
          <a:p>
            <a:pPr lvl="2"/>
            <a:r>
              <a:rPr lang="en-US" dirty="0"/>
              <a:t>(*) “She wrote.” </a:t>
            </a:r>
            <a:r>
              <a:rPr lang="en-US" sz="1400" dirty="0"/>
              <a:t>– must say what she wrote</a:t>
            </a:r>
          </a:p>
          <a:p>
            <a:pPr lvl="2"/>
            <a:r>
              <a:rPr lang="en-US" dirty="0"/>
              <a:t>“She wrote a book.”</a:t>
            </a:r>
          </a:p>
          <a:p>
            <a:pPr lvl="1"/>
            <a:r>
              <a:rPr lang="en-US" b="1" dirty="0"/>
              <a:t>Ditransitive</a:t>
            </a:r>
            <a:r>
              <a:rPr lang="en-US" dirty="0"/>
              <a:t> – two object NPs.  e.g. “give”</a:t>
            </a:r>
          </a:p>
          <a:p>
            <a:pPr lvl="2"/>
            <a:r>
              <a:rPr lang="en-US" dirty="0"/>
              <a:t>“She gave </a:t>
            </a:r>
            <a:r>
              <a:rPr lang="en-US" u="sng" dirty="0"/>
              <a:t>me</a:t>
            </a:r>
            <a:r>
              <a:rPr lang="en-US" dirty="0"/>
              <a:t> </a:t>
            </a:r>
            <a:r>
              <a:rPr lang="en-US" u="sng" dirty="0"/>
              <a:t>the book</a:t>
            </a:r>
            <a:r>
              <a:rPr lang="en-US" dirty="0"/>
              <a:t>.”</a:t>
            </a:r>
          </a:p>
          <a:p>
            <a:pPr lvl="2"/>
            <a:r>
              <a:rPr lang="en-US" dirty="0"/>
              <a:t>Ditransitive sentences can be re-written by transitive sentences.</a:t>
            </a:r>
          </a:p>
          <a:p>
            <a:pPr lvl="2"/>
            <a:r>
              <a:rPr lang="en-US" dirty="0"/>
              <a:t>“She gave the book to me.”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6F5406-BD58-4773-9706-5468972BC009}" type="slidenum">
              <a:rPr lang="en-US"/>
              <a:pPr/>
              <a:t>12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Prepositional Phrase Complements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</a:t>
            </a:r>
            <a:r>
              <a:rPr lang="en-US" b="1" dirty="0"/>
              <a:t>verbs</a:t>
            </a:r>
            <a:r>
              <a:rPr lang="en-US" dirty="0"/>
              <a:t> require </a:t>
            </a:r>
            <a:r>
              <a:rPr lang="en-US" b="1" dirty="0"/>
              <a:t>complements</a:t>
            </a:r>
            <a:r>
              <a:rPr lang="en-US" dirty="0"/>
              <a:t> that involve a specific </a:t>
            </a:r>
            <a:r>
              <a:rPr lang="en-US" b="1" dirty="0"/>
              <a:t>prepositional phrase</a:t>
            </a:r>
            <a:r>
              <a:rPr lang="en-US" dirty="0"/>
              <a:t> (PP).  e.g.</a:t>
            </a:r>
          </a:p>
          <a:p>
            <a:pPr lvl="1"/>
            <a:r>
              <a:rPr lang="en-US" dirty="0"/>
              <a:t>“give” takes an NP and a PP with “to”:</a:t>
            </a:r>
          </a:p>
          <a:p>
            <a:pPr lvl="2"/>
            <a:r>
              <a:rPr lang="en-US" dirty="0"/>
              <a:t>Jack gave the book </a:t>
            </a:r>
            <a:r>
              <a:rPr lang="en-US" u="sng" dirty="0"/>
              <a:t>to Mary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(*) Jack gave the book </a:t>
            </a:r>
            <a:r>
              <a:rPr lang="en-US" u="sng" dirty="0"/>
              <a:t>from Mary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“put”  takes a PP that describes a location:</a:t>
            </a:r>
          </a:p>
          <a:p>
            <a:pPr lvl="2"/>
            <a:r>
              <a:rPr lang="en-US" dirty="0"/>
              <a:t>Jack put the book </a:t>
            </a:r>
            <a:r>
              <a:rPr lang="en-US" u="sng" dirty="0"/>
              <a:t>on the desk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Jack put the book </a:t>
            </a:r>
            <a:r>
              <a:rPr lang="en-US" u="sng" dirty="0"/>
              <a:t>there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(*) Jack put the book </a:t>
            </a:r>
            <a:r>
              <a:rPr lang="en-US" u="sng" dirty="0"/>
              <a:t>with a knife</a:t>
            </a:r>
            <a:r>
              <a:rPr lang="en-US" dirty="0"/>
              <a:t>.</a:t>
            </a:r>
          </a:p>
          <a:p>
            <a:r>
              <a:rPr lang="en-US" dirty="0"/>
              <a:t>A sentence with multiple PPs are often ambiguous </a:t>
            </a:r>
            <a:r>
              <a:rPr lang="en-US" sz="1800" dirty="0"/>
              <a:t>(so-called </a:t>
            </a:r>
            <a:r>
              <a:rPr lang="en-US" sz="1800" i="1" dirty="0"/>
              <a:t>“PP attachment problem”</a:t>
            </a:r>
            <a:r>
              <a:rPr lang="en-US" sz="1800" dirty="0"/>
              <a:t>)</a:t>
            </a:r>
          </a:p>
          <a:p>
            <a:pPr lvl="1"/>
            <a:r>
              <a:rPr lang="en-US" dirty="0"/>
              <a:t>I saw a man </a:t>
            </a:r>
            <a:r>
              <a:rPr lang="en-US" u="sng" dirty="0"/>
              <a:t>on the hill</a:t>
            </a:r>
            <a:r>
              <a:rPr lang="en-US" dirty="0"/>
              <a:t> </a:t>
            </a:r>
            <a:r>
              <a:rPr lang="en-US" u="sng" dirty="0"/>
              <a:t>with a telescope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7E5C06-79DC-42DC-BB5D-42C17D26EB18}" type="slidenum">
              <a:rPr lang="en-US"/>
              <a:pPr/>
              <a:t>13</a:t>
            </a:fld>
            <a:endParaRPr lang="en-US"/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Active vs. Passive Sentences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active sentence with a transitive/ditransitive verb can be re-written by a passive sentence.</a:t>
            </a:r>
          </a:p>
        </p:txBody>
      </p:sp>
      <p:pic>
        <p:nvPicPr>
          <p:cNvPr id="128004" name="Picture 4" descr="Allen_0006"/>
          <p:cNvPicPr>
            <a:picLocks noChangeAspect="1" noChangeArrowheads="1"/>
          </p:cNvPicPr>
          <p:nvPr/>
        </p:nvPicPr>
        <p:blipFill>
          <a:blip r:embed="rId2"/>
          <a:srcRect l="28160" t="29219" r="8276" b="57887"/>
          <a:stretch>
            <a:fillRect/>
          </a:stretch>
        </p:blipFill>
        <p:spPr bwMode="auto">
          <a:xfrm>
            <a:off x="609600" y="2362200"/>
            <a:ext cx="7924800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4783</TotalTime>
  <Words>944</Words>
  <Application>Microsoft Office PowerPoint</Application>
  <PresentationFormat>On-screen Show (4:3)</PresentationFormat>
  <Paragraphs>109</Paragraphs>
  <Slides>13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Default Design</vt:lpstr>
      <vt:lpstr>Worksheet</vt:lpstr>
      <vt:lpstr>Outline of English Syntax</vt:lpstr>
      <vt:lpstr>Word/Lexical Categories</vt:lpstr>
      <vt:lpstr>Syntactic Phrases</vt:lpstr>
      <vt:lpstr>Noun Phrases (1)</vt:lpstr>
      <vt:lpstr>Noun Phrases (2)</vt:lpstr>
      <vt:lpstr>Inflectional Forms of English Nouns</vt:lpstr>
      <vt:lpstr>Cases in Malayalam examples</vt:lpstr>
      <vt:lpstr>Grammatical cases of English Nouns</vt:lpstr>
      <vt:lpstr>Verb Phrases (1)</vt:lpstr>
      <vt:lpstr>Verb Phrases (2)</vt:lpstr>
      <vt:lpstr>Transitivity of Verbs</vt:lpstr>
      <vt:lpstr>Prepositional Phrase Complements</vt:lpstr>
      <vt:lpstr>Active vs. Passive Sentences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Noriko</dc:creator>
  <cp:lastModifiedBy>Ajees A P</cp:lastModifiedBy>
  <cp:revision>164</cp:revision>
  <dcterms:created xsi:type="dcterms:W3CDTF">2009-07-22T04:23:27Z</dcterms:created>
  <dcterms:modified xsi:type="dcterms:W3CDTF">2024-05-22T01:55:39Z</dcterms:modified>
</cp:coreProperties>
</file>