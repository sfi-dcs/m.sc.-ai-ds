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70"/>
  </p:normalViewPr>
  <p:slideViewPr>
    <p:cSldViewPr snapToGrid="0" snapToObjects="1">
      <p:cViewPr varScale="1">
        <p:scale>
          <a:sx n="109" d="100"/>
          <a:sy n="109" d="100"/>
        </p:scale>
        <p:origin x="6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19844C-7467-224B-AD43-1DA29C90E609}" type="datetimeFigureOut">
              <a:rPr lang="en-US" smtClean="0"/>
              <a:t>10/4/23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EB0395-DAA8-3342-A48C-FE3692290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62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Substitution-permutation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B0395-DAA8-3342-A48C-FE369229042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710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8AC03-BE53-054F-A52E-9E9702BFE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D69DAD-D156-DB47-A6E8-982B47A798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6D33B-A673-F34A-BAB6-B238C5ACC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98A18-7F37-5C4B-89C6-E5B7979492EC}" type="datetimeFigureOut">
              <a:rPr lang="en-US" smtClean="0"/>
              <a:t>10/4/23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0CAF3-07DF-7F43-8FEC-59B6EB852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F696C-D7E8-674A-9793-F0E2F8305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7B150-9EF9-DC47-B94D-202408C2D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262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12293-AAA1-7940-88BD-433FE2892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18F6A-1D47-6948-9D17-5ACEC86D9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C3326-4BE9-304E-B9EA-D8B3263A8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98A18-7F37-5C4B-89C6-E5B7979492EC}" type="datetimeFigureOut">
              <a:rPr lang="en-US" smtClean="0"/>
              <a:t>10/4/23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9F501-4899-634D-8E46-25764354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C738C-FB35-4546-93FE-6344CC222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7B150-9EF9-DC47-B94D-202408C2D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417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7E073-753F-8A4F-A2E7-D552AE37F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6AB6F-28CD-4443-8DA3-BD9CE11ED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5FCD1-D1D6-8747-8D2C-6DF4DF0B7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98A18-7F37-5C4B-89C6-E5B7979492EC}" type="datetimeFigureOut">
              <a:rPr lang="en-US" smtClean="0"/>
              <a:t>10/4/23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9A530-0B1D-1C49-8F6E-ED9E33EBD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94FB2-861A-964C-9166-D5151FE2E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7B150-9EF9-DC47-B94D-202408C2D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836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C0A49-059A-D541-9A5F-CA1D40C29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20F94-C810-DA40-B411-F43BF5123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0C38B-EF85-564C-B3FA-CEBAF81BBF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E15B5F-6676-5E45-B8E2-9ABB4FB91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98A18-7F37-5C4B-89C6-E5B7979492EC}" type="datetimeFigureOut">
              <a:rPr lang="en-US" smtClean="0"/>
              <a:t>10/4/23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00A192-AD57-8244-94FD-4F501977F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02B9DE-16CA-2143-A258-9925B900F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7B150-9EF9-DC47-B94D-202408C2D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7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11BA9-A8CD-DD43-93EC-587F7822E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4A6130-3059-D547-A9A9-A0BE101D8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CA24CC-7DEA-F449-8A52-070462330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C5B775-19BF-7540-94AC-469E38F400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4390B2-572D-5A4B-9D35-5F62DE9FAD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881C86-6F61-084A-9688-6BE64D50A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98A18-7F37-5C4B-89C6-E5B7979492EC}" type="datetimeFigureOut">
              <a:rPr lang="en-US" smtClean="0"/>
              <a:t>10/4/23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02C165-3709-D54B-B4A0-7D6CD2E05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966147-E2B8-004B-AEF9-F26586A70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7B150-9EF9-DC47-B94D-202408C2D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498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BD222-AB49-C14C-82D5-0E1D1014D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2428BB-B2D6-AE44-9A25-4446CE337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98A18-7F37-5C4B-89C6-E5B7979492EC}" type="datetimeFigureOut">
              <a:rPr lang="en-US" smtClean="0"/>
              <a:t>10/4/23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B55BC-BAF5-7A45-B8E4-796202DCF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5E7D3F-444E-4F40-95A9-87675A45B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7B150-9EF9-DC47-B94D-202408C2D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254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AC4B64-DCF7-A846-B8C0-6C105E175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98A18-7F37-5C4B-89C6-E5B7979492EC}" type="datetimeFigureOut">
              <a:rPr lang="en-US" smtClean="0"/>
              <a:t>10/4/23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19BC16-7C14-6C49-B16E-4D1668306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7870D-03E9-A44A-9BE5-C6EDFEAEC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7B150-9EF9-DC47-B94D-202408C2D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539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9DFD9-8EAD-0B4C-AE96-178D24D6D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D138F-B76C-7541-A9E8-ED310F40B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464ED-CCE8-5540-BB6C-B16BF07A4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878214-3C25-6449-9643-93D6F49FD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98A18-7F37-5C4B-89C6-E5B7979492EC}" type="datetimeFigureOut">
              <a:rPr lang="en-US" smtClean="0"/>
              <a:t>10/4/23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389AB0-A741-9C41-82E3-185993EF6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DE56FB-98DA-344D-95BD-CE4747DE9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7B150-9EF9-DC47-B94D-202408C2D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370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80D89-3066-1244-B190-184866F0A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915D05-CA55-DB4F-87FC-C16F13D747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73D4D-A8FF-CD48-BA67-FDA200A8C2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ACBCF6-4A4F-0C46-9CD1-14F5B37FE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98A18-7F37-5C4B-89C6-E5B7979492EC}" type="datetimeFigureOut">
              <a:rPr lang="en-US" smtClean="0"/>
              <a:t>10/4/23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FD108-C409-DC43-AC19-C1B9BD09C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DB86E1-B1ED-2748-91A5-66DC43711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7B150-9EF9-DC47-B94D-202408C2D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677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15B15-BFE4-EF47-86FD-44EC837A5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37DB47-67A7-6648-907A-4D47DE02E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17F36-3959-4B41-B9CD-07887BD7A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98A18-7F37-5C4B-89C6-E5B7979492EC}" type="datetimeFigureOut">
              <a:rPr lang="en-US" smtClean="0"/>
              <a:t>10/4/23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DA4CD-1E68-E54A-BE7E-19FF60654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67219-1C61-9C41-B03E-6AE31CEFD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7B150-9EF9-DC47-B94D-202408C2D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721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F0EAED-F717-364F-B9B2-6C58768C3E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5D3471-9483-6B47-B734-A5C302A7F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B6B72-E7EC-A144-A371-D7660F83E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98A18-7F37-5C4B-89C6-E5B7979492EC}" type="datetimeFigureOut">
              <a:rPr lang="en-US" smtClean="0"/>
              <a:t>10/4/23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AA8CF-C1A1-AF46-9435-A5865AE11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20589-91EF-1F4C-B113-46DB2BDD6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7B150-9EF9-DC47-B94D-202408C2D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65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34458D-5B46-BC45-A626-82819A5BE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CA6B1-3716-1342-B876-399F2F221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848FC-9894-A34A-8A5B-989B5D541D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98A18-7F37-5C4B-89C6-E5B7979492EC}" type="datetimeFigureOut">
              <a:rPr lang="en-US" smtClean="0"/>
              <a:t>10/4/23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95771-D617-EA4E-A077-5AA3408DB3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3B5AB-6C42-C64B-A0DA-1DD8B31BCE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B7B150-9EF9-DC47-B94D-202408C2DF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974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CF680-5FCF-8F41-B3D4-2F4C075E1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55762"/>
          </a:xfrm>
        </p:spPr>
        <p:txBody>
          <a:bodyPr/>
          <a:lstStyle/>
          <a:p>
            <a:r>
              <a:rPr lang="en-US" dirty="0"/>
              <a:t>Encrypting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19E8AB-340E-B540-91C0-9678C9B165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Module 4</a:t>
            </a:r>
          </a:p>
          <a:p>
            <a:endParaRPr lang="en-US" sz="3200" dirty="0"/>
          </a:p>
          <a:p>
            <a:r>
              <a:rPr lang="en-US" sz="3200" dirty="0"/>
              <a:t>Dr Bijoy A Jose</a:t>
            </a:r>
          </a:p>
        </p:txBody>
      </p:sp>
    </p:spTree>
    <p:extLst>
      <p:ext uri="{BB962C8B-B14F-4D97-AF65-F5344CB8AC3E}">
        <p14:creationId xmlns:p14="http://schemas.microsoft.com/office/powerpoint/2010/main" val="1737029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802BD-0F01-8C44-843C-30B2A7D32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Symmetric and Asymmetric cryptography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CA4616-5336-CF49-8C72-544F30964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738252" y="58126"/>
            <a:ext cx="4562849" cy="8362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67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5250C-A411-CA47-8AE0-40DF6FF7B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Symmetric ciphers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5EA4E8-B3B0-4147-8702-EF05F2D42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078960" y="-207172"/>
            <a:ext cx="4538655" cy="83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94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FFDA7-B597-444A-AE0D-3123FED1F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Asymmetric ciphers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8A646B-848A-C546-9947-62F5AFCBB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727100" y="-226787"/>
            <a:ext cx="4528000" cy="830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919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F45E1-3943-5645-B525-2A0F46711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requirements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76A815-3256-2949-BE92-823394B44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803204" y="-403996"/>
            <a:ext cx="4268291" cy="848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489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D1E4A-5F54-AF4A-A4FD-28B356154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and diffusion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B47B4C-D1CD-DC47-8B5E-363448062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241499" y="-20973"/>
            <a:ext cx="4668166" cy="809148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812AC85-4D6C-534D-B9D5-CEBD91E08D6A}"/>
              </a:ext>
            </a:extLst>
          </p:cNvPr>
          <p:cNvSpPr/>
          <p:nvPr/>
        </p:nvSpPr>
        <p:spPr>
          <a:xfrm>
            <a:off x="8621326" y="2387084"/>
            <a:ext cx="31789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effectLst/>
              </a:rPr>
              <a:t>Confusion</a:t>
            </a:r>
            <a:r>
              <a:rPr lang="en-IN" dirty="0"/>
              <a:t> = </a:t>
            </a:r>
            <a:r>
              <a:rPr lang="en-IN" b="1" dirty="0">
                <a:effectLst/>
              </a:rPr>
              <a:t>Substitution</a:t>
            </a:r>
            <a:r>
              <a:rPr lang="en-IN" dirty="0"/>
              <a:t> a --&gt; b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092393-7954-114B-83F5-843AF202F88D}"/>
              </a:ext>
            </a:extLst>
          </p:cNvPr>
          <p:cNvSpPr/>
          <p:nvPr/>
        </p:nvSpPr>
        <p:spPr>
          <a:xfrm>
            <a:off x="9135574" y="3588138"/>
            <a:ext cx="25265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effectLst/>
              </a:rPr>
              <a:t>Diffusion</a:t>
            </a:r>
            <a:r>
              <a:rPr lang="en-IN" dirty="0"/>
              <a:t> = </a:t>
            </a:r>
            <a:r>
              <a:rPr lang="en-IN" b="1" dirty="0">
                <a:effectLst/>
              </a:rPr>
              <a:t>Permutation</a:t>
            </a:r>
            <a:r>
              <a:rPr lang="en-IN" dirty="0"/>
              <a:t> </a:t>
            </a:r>
          </a:p>
          <a:p>
            <a:r>
              <a:rPr lang="en-IN" dirty="0" err="1"/>
              <a:t>abcd</a:t>
            </a:r>
            <a:r>
              <a:rPr lang="en-IN" dirty="0"/>
              <a:t> --&gt; </a:t>
            </a:r>
            <a:r>
              <a:rPr lang="en-IN" dirty="0" err="1"/>
              <a:t>dacb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793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D69ED-2609-444C-8315-861B544B4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and diffusion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F735C7C-AD76-9141-AD9B-07F4155719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1620331"/>
              </p:ext>
            </p:extLst>
          </p:nvPr>
        </p:nvGraphicFramePr>
        <p:xfrm>
          <a:off x="262886" y="1552211"/>
          <a:ext cx="5480687" cy="484922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08627">
                  <a:extLst>
                    <a:ext uri="{9D8B030D-6E8A-4147-A177-3AD203B41FA5}">
                      <a16:colId xmlns:a16="http://schemas.microsoft.com/office/drawing/2014/main" val="384291336"/>
                    </a:ext>
                  </a:extLst>
                </a:gridCol>
                <a:gridCol w="2700337">
                  <a:extLst>
                    <a:ext uri="{9D8B030D-6E8A-4147-A177-3AD203B41FA5}">
                      <a16:colId xmlns:a16="http://schemas.microsoft.com/office/drawing/2014/main" val="1424022502"/>
                    </a:ext>
                  </a:extLst>
                </a:gridCol>
                <a:gridCol w="2371723">
                  <a:extLst>
                    <a:ext uri="{9D8B030D-6E8A-4147-A177-3AD203B41FA5}">
                      <a16:colId xmlns:a16="http://schemas.microsoft.com/office/drawing/2014/main" val="1471559917"/>
                    </a:ext>
                  </a:extLst>
                </a:gridCol>
              </a:tblGrid>
              <a:tr h="105955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2000" b="0" dirty="0">
                          <a:effectLst/>
                        </a:rPr>
                        <a:t>1</a:t>
                      </a:r>
                    </a:p>
                  </a:txBody>
                  <a:tcPr marL="69289" marR="69289" marT="97004" marB="97004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2000" b="0" dirty="0">
                          <a:effectLst/>
                        </a:rPr>
                        <a:t>Confusion is a cryptographic technique which is used to create faint cipher texts.</a:t>
                      </a:r>
                    </a:p>
                  </a:txBody>
                  <a:tcPr marL="69289" marR="69289" marT="97004" marB="97004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2000" b="0" dirty="0">
                          <a:effectLst/>
                        </a:rPr>
                        <a:t>While diffusion is used to create cryptic plain texts.</a:t>
                      </a:r>
                    </a:p>
                  </a:txBody>
                  <a:tcPr marL="69289" marR="69289" marT="97004" marB="97004" anchor="ctr"/>
                </a:tc>
                <a:extLst>
                  <a:ext uri="{0D108BD9-81ED-4DB2-BD59-A6C34878D82A}">
                    <a16:rowId xmlns:a16="http://schemas.microsoft.com/office/drawing/2014/main" val="296270931"/>
                  </a:ext>
                </a:extLst>
              </a:tr>
              <a:tr h="863338">
                <a:tc>
                  <a:txBody>
                    <a:bodyPr/>
                    <a:lstStyle/>
                    <a:p>
                      <a:pPr algn="l" fontAlgn="base"/>
                      <a:r>
                        <a:rPr lang="en-IN" sz="2000" b="0">
                          <a:effectLst/>
                        </a:rPr>
                        <a:t>2.</a:t>
                      </a:r>
                    </a:p>
                  </a:txBody>
                  <a:tcPr marL="69289" marR="69289" marT="97004" marB="97004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2000" b="0" dirty="0">
                          <a:effectLst/>
                        </a:rPr>
                        <a:t>This technique is possible through substitution algorithm.</a:t>
                      </a:r>
                    </a:p>
                  </a:txBody>
                  <a:tcPr marL="69289" marR="69289" marT="97004" marB="97004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2000" b="0">
                          <a:effectLst/>
                        </a:rPr>
                        <a:t>While it is possible through transportation algorithm.</a:t>
                      </a:r>
                    </a:p>
                  </a:txBody>
                  <a:tcPr marL="69289" marR="69289" marT="97004" marB="97004" anchor="ctr"/>
                </a:tc>
                <a:extLst>
                  <a:ext uri="{0D108BD9-81ED-4DB2-BD59-A6C34878D82A}">
                    <a16:rowId xmlns:a16="http://schemas.microsoft.com/office/drawing/2014/main" val="2489346367"/>
                  </a:ext>
                </a:extLst>
              </a:tr>
              <a:tr h="1451975">
                <a:tc>
                  <a:txBody>
                    <a:bodyPr/>
                    <a:lstStyle/>
                    <a:p>
                      <a:pPr algn="l" fontAlgn="base"/>
                      <a:r>
                        <a:rPr lang="en-IN" sz="2000" b="0">
                          <a:effectLst/>
                        </a:rPr>
                        <a:t>3.</a:t>
                      </a:r>
                    </a:p>
                  </a:txBody>
                  <a:tcPr marL="69289" marR="69289" marT="97004" marB="97004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2000" b="0">
                          <a:effectLst/>
                        </a:rPr>
                        <a:t>In confusion, if one bit within the secret’s modified, most or all bits within the cipher text also will be modified.</a:t>
                      </a:r>
                    </a:p>
                  </a:txBody>
                  <a:tcPr marL="69289" marR="69289" marT="97004" marB="97004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2000" b="0" dirty="0">
                          <a:effectLst/>
                        </a:rPr>
                        <a:t>While in diffusion, if one image within the plain text is modified, many or all image within the cipher text also will be modified</a:t>
                      </a:r>
                    </a:p>
                  </a:txBody>
                  <a:tcPr marL="69289" marR="69289" marT="97004" marB="97004" anchor="ctr"/>
                </a:tc>
                <a:extLst>
                  <a:ext uri="{0D108BD9-81ED-4DB2-BD59-A6C34878D82A}">
                    <a16:rowId xmlns:a16="http://schemas.microsoft.com/office/drawing/2014/main" val="311096580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085DD38-C2DD-164A-AB92-9AA297BA3B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363431"/>
              </p:ext>
            </p:extLst>
          </p:nvPr>
        </p:nvGraphicFramePr>
        <p:xfrm>
          <a:off x="6448427" y="1552211"/>
          <a:ext cx="5194938" cy="4239624"/>
        </p:xfrm>
        <a:graphic>
          <a:graphicData uri="http://schemas.openxmlformats.org/drawingml/2006/table">
            <a:tbl>
              <a:tblPr/>
              <a:tblGrid>
                <a:gridCol w="466723">
                  <a:extLst>
                    <a:ext uri="{9D8B030D-6E8A-4147-A177-3AD203B41FA5}">
                      <a16:colId xmlns:a16="http://schemas.microsoft.com/office/drawing/2014/main" val="18763978"/>
                    </a:ext>
                  </a:extLst>
                </a:gridCol>
                <a:gridCol w="2371725">
                  <a:extLst>
                    <a:ext uri="{9D8B030D-6E8A-4147-A177-3AD203B41FA5}">
                      <a16:colId xmlns:a16="http://schemas.microsoft.com/office/drawing/2014/main" val="2398384715"/>
                    </a:ext>
                  </a:extLst>
                </a:gridCol>
                <a:gridCol w="2356490">
                  <a:extLst>
                    <a:ext uri="{9D8B030D-6E8A-4147-A177-3AD203B41FA5}">
                      <a16:colId xmlns:a16="http://schemas.microsoft.com/office/drawing/2014/main" val="1183749334"/>
                    </a:ext>
                  </a:extLst>
                </a:gridCol>
              </a:tblGrid>
              <a:tr h="863338">
                <a:tc>
                  <a:txBody>
                    <a:bodyPr/>
                    <a:lstStyle/>
                    <a:p>
                      <a:pPr algn="l" fontAlgn="base"/>
                      <a:r>
                        <a:rPr lang="en-IN" sz="2000" b="0" dirty="0">
                          <a:effectLst/>
                        </a:rPr>
                        <a:t>4.</a:t>
                      </a:r>
                    </a:p>
                  </a:txBody>
                  <a:tcPr marL="69289" marR="69289" marT="97004" marB="97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2000" b="0" dirty="0">
                          <a:effectLst/>
                        </a:rPr>
                        <a:t>In confusion, vagueness is increased in resultant.</a:t>
                      </a:r>
                    </a:p>
                  </a:txBody>
                  <a:tcPr marL="69289" marR="69289" marT="97004" marB="97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2000" b="0" dirty="0">
                          <a:effectLst/>
                        </a:rPr>
                        <a:t>While in diffusion, redundancy is increased in resultant.</a:t>
                      </a:r>
                    </a:p>
                  </a:txBody>
                  <a:tcPr marL="69289" marR="69289" marT="97004" marB="97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342362"/>
                  </a:ext>
                </a:extLst>
              </a:tr>
              <a:tr h="863338">
                <a:tc>
                  <a:txBody>
                    <a:bodyPr/>
                    <a:lstStyle/>
                    <a:p>
                      <a:pPr algn="l" fontAlgn="base"/>
                      <a:r>
                        <a:rPr lang="en-IN" sz="2000" b="0">
                          <a:effectLst/>
                        </a:rPr>
                        <a:t>5.</a:t>
                      </a:r>
                    </a:p>
                  </a:txBody>
                  <a:tcPr marL="69289" marR="69289" marT="97004" marB="97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2000" b="0" dirty="0">
                          <a:effectLst/>
                        </a:rPr>
                        <a:t>Both stream cipher and block cipher uses confusion.</a:t>
                      </a:r>
                    </a:p>
                  </a:txBody>
                  <a:tcPr marL="69289" marR="69289" marT="97004" marB="97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2000" b="0" dirty="0">
                          <a:effectLst/>
                        </a:rPr>
                        <a:t>Only block cipher uses diffusion.</a:t>
                      </a:r>
                    </a:p>
                  </a:txBody>
                  <a:tcPr marL="69289" marR="69289" marT="97004" marB="97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591405"/>
                  </a:ext>
                </a:extLst>
              </a:tr>
              <a:tr h="105955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2000" b="0" dirty="0">
                          <a:effectLst/>
                        </a:rPr>
                        <a:t>6.</a:t>
                      </a:r>
                    </a:p>
                  </a:txBody>
                  <a:tcPr marL="69289" marR="69289" marT="97004" marB="97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2000" b="0">
                          <a:effectLst/>
                        </a:rPr>
                        <a:t>The relation between the cipher text and the key is masked by confusion.</a:t>
                      </a:r>
                    </a:p>
                  </a:txBody>
                  <a:tcPr marL="69289" marR="69289" marT="97004" marB="97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2000" b="0" dirty="0">
                          <a:effectLst/>
                        </a:rPr>
                        <a:t>While The relation between the cipher text and the plain text is masked by diffusion.</a:t>
                      </a:r>
                    </a:p>
                  </a:txBody>
                  <a:tcPr marL="69289" marR="69289" marT="97004" marB="970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34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265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204</Words>
  <Application>Microsoft Macintosh PowerPoint</Application>
  <PresentationFormat>Widescreen</PresentationFormat>
  <Paragraphs>33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Encrypting Data</vt:lpstr>
      <vt:lpstr>Symmetric and Asymmetric cryptography</vt:lpstr>
      <vt:lpstr>Symmetric ciphers</vt:lpstr>
      <vt:lpstr>Asymmetric ciphers</vt:lpstr>
      <vt:lpstr>Algorithm requirements</vt:lpstr>
      <vt:lpstr>Confusion and diffusion</vt:lpstr>
      <vt:lpstr>Confusion and diffusion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Encrypting IoT Data</dc:title>
  <dc:creator>Bijoy Jose</dc:creator>
  <cp:lastModifiedBy>Bijoy Jose</cp:lastModifiedBy>
  <cp:revision>11</cp:revision>
  <dcterms:created xsi:type="dcterms:W3CDTF">2022-01-25T05:14:44Z</dcterms:created>
  <dcterms:modified xsi:type="dcterms:W3CDTF">2023-10-04T06:44:56Z</dcterms:modified>
</cp:coreProperties>
</file>