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6" r:id="rId7"/>
    <p:sldId id="267" r:id="rId8"/>
    <p:sldId id="268" r:id="rId9"/>
    <p:sldId id="270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46"/>
  </p:normalViewPr>
  <p:slideViewPr>
    <p:cSldViewPr snapToGrid="0" snapToObjects="1">
      <p:cViewPr varScale="1">
        <p:scale>
          <a:sx n="110" d="100"/>
          <a:sy n="110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60157-58B0-8E44-95B7-9F45BF618485}" type="datetimeFigureOut">
              <a:rPr lang="en-US" smtClean="0"/>
              <a:t>9/7/23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C4055-A640-B344-A0B3-A4C92AFBE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0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1f9a9c0b12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11f9a9c0b12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C24A-BFFF-AD42-A40C-46D358E4D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8FC66-4C0F-F147-A486-B1BCFDD36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E39B9-9DB7-EB42-AC5F-B88FB1ED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CC1FC-9531-BE41-BE95-2483388AF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22575-4948-B84E-AC2D-12AA7EAB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0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9F12-7720-664F-B523-37872C0F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246B-D70D-B643-BE1C-0DAA52DCA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C8BED-3F03-2C4C-9E94-251C94E8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920C1-F1B8-1945-9FCD-E04EF4EDA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215C0-2836-DE47-8637-1F78845C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7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9E65-9834-A14F-AE64-47ACE031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96596-AF4D-EB4B-A880-F7BFD6FC5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AD58-D995-BA48-A708-DDE40CC40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B199-CFFF-B249-9C7D-208A8428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839A2-33A2-854B-AD67-A5B9F921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51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2A91-8998-8042-8693-8418C5CE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88CBC-9000-CD43-B3B0-35C7FDAB2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3AB84-21AB-4F4C-B1D6-B89C9B64D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1F5F3-F12A-EF48-81AA-A63D5B1B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37104-A493-814B-AC36-4C4C0296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9BAD0-B3A5-4F4D-90E3-65C34743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1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0DE1-9EE2-0A44-962F-792BECB4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A5905-FE3A-254B-A8A1-8E9E4D647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0F9C9-0A2B-AD4A-8CC5-00F3F45A2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A543E7-C621-944D-8331-D480DD0A1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F86DB-4BA6-094B-8BC7-55206E33B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063DE-2CAB-E346-93B8-E57611CB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CF9A5D-819F-B849-B5FA-88167E704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ABFF8-D6C4-3540-A9E8-8CDB012B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0A3A6-034C-A843-9B43-8A95C393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E0255-A514-2541-84A0-160E4C5F0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77F2E-DDCA-6749-B762-41DE712C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62005-1A0F-AD4B-89F7-9772ECDCC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7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352AC-0F80-E64A-98BE-F19C66282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7BE39-A830-ED45-B463-FDE3B4884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075A2-1F03-9E46-B3EE-82DDD74E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F648-DB7C-8142-B423-6934E95AF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6068-386E-2A40-B909-BBE2B9B81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6656F-358B-1446-973F-7AC528DAA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2B9AE-FFF2-3447-90F0-B570455E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6E84F-63D0-9E4E-82EF-F5BECC8F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76E87-514A-FC43-9A79-D9FCCB95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2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3B64-E162-9042-952D-03D699A03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B4186-ADA3-7142-AC39-A7B17D675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70FDF-30CB-4C4C-B871-5F32625A9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BAB01-7D41-5848-A622-DA4B0DCE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DB693-E7BB-2D48-84F0-C2C1F6DF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01337-909C-A741-AF6A-CB3E5405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1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0219-9B31-4C47-9CBE-07F21A18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B7A0A-CDB9-2C4F-810C-13D5EFF58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2BECB-2CF8-9042-88D8-93B2B53A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E25B4-984E-A84E-9606-18B6F3AC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077AA-4ECA-B14B-A3A3-7EED5032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5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459A8-A51F-7A43-99BE-45E519784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DAE73-B65C-C94F-8E0D-69AA300E9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A9EA5-50F2-EF46-8380-AD5702B4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2B80D-0FFA-2C45-A353-913AF1CF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A440A-5A30-B245-AFBD-70C0D870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49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1" type="tx">
  <p:cSld name="Title and body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 rot="10800000" flipH="1">
            <a:off x="-12700" y="6776633"/>
            <a:ext cx="12224000" cy="102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282300" y="973900"/>
            <a:ext cx="11383600" cy="54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Open Sans Medium"/>
              <a:buChar char="●"/>
              <a:defRPr sz="18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1219170" lvl="1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Open Sans Medium"/>
              <a:buChar char="○"/>
              <a:def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1828754" lvl="2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Open Sans Medium"/>
              <a:buChar char="■"/>
              <a:def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2438339" lvl="3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B5394"/>
              </a:buClr>
              <a:buSzPts val="1200"/>
              <a:buFont typeface="Open Sans Medium"/>
              <a:buChar char="●"/>
              <a:def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3047924" lvl="4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 Medium"/>
              <a:buChar char="○"/>
              <a:def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3657509" lvl="5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 Medium"/>
              <a:buChar char="■"/>
              <a:def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4267093" lvl="6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 Medium"/>
              <a:buChar char="●"/>
              <a:def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4876678" lvl="7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 Medium"/>
              <a:buChar char="○"/>
              <a:def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5486263" lvl="8" indent="-40639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200"/>
              <a:buFont typeface="Open Sans Medium"/>
              <a:buChar char="■"/>
              <a:def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4352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AFFF5-24E0-D74B-BF64-BCBCBAAD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527F5-3A2B-D94D-BDBC-8B5C3D500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93EA1-B692-0A4A-B255-806AC7916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2E222-5BF0-4142-9D9D-0FE2B59201AB}" type="datetimeFigureOut">
              <a:rPr lang="en-US" smtClean="0"/>
              <a:t>9/7/23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E38D1-72F5-784D-9632-132C3B95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98F16-581F-4D40-9556-12D04F343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8D013-9A95-4C4B-93E5-B7666627F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9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91B4-DCCD-4143-BE2F-990E7E1F2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Virtualization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690E9-ABBF-6B43-917F-480340EAD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0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l"/>
            <a:r>
              <a:rPr lang="en">
                <a:solidFill>
                  <a:srgbClr val="1C4587"/>
                </a:solidFill>
              </a:rPr>
              <a:t>Virtualization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"/>
          </p:nvPr>
        </p:nvSpPr>
        <p:spPr>
          <a:xfrm>
            <a:off x="282300" y="973900"/>
            <a:ext cx="11383600" cy="54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"/>
              <a:t>Virtualization is a technology to run multiple virtual machines(VM) on the same hardware</a:t>
            </a:r>
            <a:endParaRPr/>
          </a:p>
          <a:p>
            <a:pPr>
              <a:lnSpc>
                <a:spcPct val="200000"/>
              </a:lnSpc>
            </a:pPr>
            <a:r>
              <a:rPr lang="en"/>
              <a:t>VM is an efficient, isolated duplicate of the real machine</a:t>
            </a:r>
            <a:endParaRPr/>
          </a:p>
          <a:p>
            <a:pPr>
              <a:lnSpc>
                <a:spcPct val="200000"/>
              </a:lnSpc>
            </a:pPr>
            <a:r>
              <a:rPr lang="en"/>
              <a:t>The software layer that creates the virtual environment is called a Virtual Machine Monitor (VMM) or Hypervisor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8200" y="3345931"/>
            <a:ext cx="5489400" cy="304853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">
                <a:solidFill>
                  <a:srgbClr val="1C4587"/>
                </a:solidFill>
              </a:rPr>
              <a:t>Types of Hypervisors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1310133" y="2002007"/>
            <a:ext cx="1734000" cy="129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>
            <a:off x="571067" y="3554833"/>
            <a:ext cx="0" cy="13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20"/>
          <p:cNvSpPr/>
          <p:nvPr/>
        </p:nvSpPr>
        <p:spPr>
          <a:xfrm>
            <a:off x="2241367" y="2240015"/>
            <a:ext cx="641200" cy="39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1490000" y="2746015"/>
            <a:ext cx="1392400" cy="3332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9673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Guest OS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6532533" y="3487367"/>
            <a:ext cx="3801600" cy="4048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19050" cap="flat" cmpd="sng">
            <a:solidFill>
              <a:srgbClr val="6C8E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Host OS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1234933" y="3448733"/>
            <a:ext cx="3801600" cy="404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Type </a:t>
            </a:r>
            <a:r>
              <a:rPr lang="en" sz="1600">
                <a:latin typeface="Open Sans Medium"/>
                <a:ea typeface="Open Sans Medium"/>
                <a:cs typeface="Open Sans Medium"/>
                <a:sym typeface="Open Sans Medium"/>
              </a:rPr>
              <a:t>I</a:t>
            </a: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Hypervisor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1234933" y="4038800"/>
            <a:ext cx="3801600" cy="4048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Hardware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1781100" y="1524882"/>
            <a:ext cx="9528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" sz="1600">
                <a:solidFill>
                  <a:srgbClr val="073763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VM1</a:t>
            </a:r>
            <a:endParaRPr sz="1600">
              <a:solidFill>
                <a:srgbClr val="073763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1058900" y="4976167"/>
            <a:ext cx="4000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06390">
              <a:lnSpc>
                <a:spcPct val="150000"/>
              </a:lnSpc>
              <a:buClr>
                <a:srgbClr val="1C4587"/>
              </a:buClr>
              <a:buSzPts val="1200"/>
              <a:buFont typeface="Open Sans Medium"/>
              <a:buChar char="●"/>
            </a:pPr>
            <a:r>
              <a:rPr lang="en" sz="1600">
                <a:latin typeface="Open Sans Medium"/>
                <a:ea typeface="Open Sans Medium"/>
                <a:cs typeface="Open Sans Medium"/>
                <a:sym typeface="Open Sans Medium"/>
              </a:rPr>
              <a:t>baremetal</a:t>
            </a:r>
            <a:endParaRPr sz="16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06390">
              <a:lnSpc>
                <a:spcPct val="150000"/>
              </a:lnSpc>
              <a:buClr>
                <a:srgbClr val="1C4587"/>
              </a:buClr>
              <a:buSzPts val="1200"/>
              <a:buFont typeface="Open Sans Medium"/>
              <a:buChar char="●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Eg: Xen, Microkernel based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6348700" y="4849867"/>
            <a:ext cx="40000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06390">
              <a:lnSpc>
                <a:spcPct val="150000"/>
              </a:lnSpc>
              <a:buClr>
                <a:srgbClr val="1C4587"/>
              </a:buClr>
              <a:buSzPts val="1200"/>
              <a:buFont typeface="Open Sans Medium"/>
              <a:buChar char="●"/>
            </a:pPr>
            <a:r>
              <a:rPr lang="en" sz="1600">
                <a:latin typeface="Open Sans Medium"/>
                <a:ea typeface="Open Sans Medium"/>
                <a:cs typeface="Open Sans Medium"/>
                <a:sym typeface="Open Sans Medium"/>
              </a:rPr>
              <a:t>Hosted Hypervisor</a:t>
            </a:r>
            <a:endParaRPr sz="16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06390">
              <a:lnSpc>
                <a:spcPct val="150000"/>
              </a:lnSpc>
              <a:buClr>
                <a:srgbClr val="1C4587"/>
              </a:buClr>
              <a:buSzPts val="1200"/>
              <a:buFont typeface="Open Sans Medium"/>
              <a:buChar char="●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Eg: VMware workstation, Oracle Virtual Box, Microsoft virtual PC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1490000" y="2240015"/>
            <a:ext cx="641200" cy="39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3231500" y="2013688"/>
            <a:ext cx="1734000" cy="129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4162733" y="2251696"/>
            <a:ext cx="641200" cy="39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3411367" y="2757696"/>
            <a:ext cx="1392400" cy="3332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9673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Guest OS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3702467" y="1536563"/>
            <a:ext cx="9528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" sz="1600">
                <a:solidFill>
                  <a:srgbClr val="073763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VM1</a:t>
            </a:r>
            <a:endParaRPr sz="1600">
              <a:solidFill>
                <a:srgbClr val="073763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3411367" y="2251696"/>
            <a:ext cx="641200" cy="39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532533" y="2947967"/>
            <a:ext cx="2057200" cy="404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19050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Type </a:t>
            </a:r>
            <a:r>
              <a:rPr lang="en" sz="1600">
                <a:latin typeface="Open Sans Medium"/>
                <a:ea typeface="Open Sans Medium"/>
                <a:cs typeface="Open Sans Medium"/>
                <a:sym typeface="Open Sans Medium"/>
              </a:rPr>
              <a:t>II</a:t>
            </a: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Hypervisor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6634133" y="1528477"/>
            <a:ext cx="1734000" cy="12984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7565367" y="1766485"/>
            <a:ext cx="641200" cy="39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6814000" y="2272485"/>
            <a:ext cx="1392400" cy="3332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9673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Guest OS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7105100" y="1051353"/>
            <a:ext cx="9528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" sz="1600">
                <a:solidFill>
                  <a:srgbClr val="073763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VM1</a:t>
            </a:r>
            <a:endParaRPr sz="1600">
              <a:solidFill>
                <a:srgbClr val="073763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6814000" y="1766485"/>
            <a:ext cx="641200" cy="39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6532533" y="4026767"/>
            <a:ext cx="3801600" cy="4048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Hardware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517300" y="2954781"/>
            <a:ext cx="641200" cy="39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8765933" y="2954781"/>
            <a:ext cx="641200" cy="39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61" name="Google Shape;161;p20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"/>
              <a:t>Use case of Virtualization in Enterprise Industry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body" idx="1"/>
          </p:nvPr>
        </p:nvSpPr>
        <p:spPr>
          <a:xfrm>
            <a:off x="282300" y="1256833"/>
            <a:ext cx="11383600" cy="5182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"/>
              <a:t>Server Consolidation</a:t>
            </a:r>
            <a:endParaRPr/>
          </a:p>
          <a:p>
            <a:pPr>
              <a:lnSpc>
                <a:spcPct val="200000"/>
              </a:lnSpc>
            </a:pPr>
            <a:r>
              <a:rPr lang="en"/>
              <a:t>Cloud computing</a:t>
            </a:r>
            <a:endParaRPr/>
          </a:p>
          <a:p>
            <a:pPr>
              <a:lnSpc>
                <a:spcPct val="200000"/>
              </a:lnSpc>
            </a:pPr>
            <a:r>
              <a:rPr lang="en"/>
              <a:t>Virtual desktop infrastructure</a:t>
            </a:r>
            <a:endParaRPr/>
          </a:p>
          <a:p>
            <a:pPr>
              <a:lnSpc>
                <a:spcPct val="200000"/>
              </a:lnSpc>
            </a:pPr>
            <a:r>
              <a:rPr lang="en"/>
              <a:t>Advantages</a:t>
            </a:r>
            <a:endParaRPr/>
          </a:p>
          <a:p>
            <a:pPr lvl="1" indent="-423323">
              <a:lnSpc>
                <a:spcPct val="200000"/>
              </a:lnSpc>
              <a:spcBef>
                <a:spcPts val="0"/>
              </a:spcBef>
              <a:buSzPts val="1400"/>
            </a:pPr>
            <a:r>
              <a:rPr lang="en" sz="1867"/>
              <a:t>Energy savings by consolidation</a:t>
            </a:r>
            <a:endParaRPr sz="1867"/>
          </a:p>
          <a:p>
            <a:pPr lvl="1" indent="-423323">
              <a:lnSpc>
                <a:spcPct val="200000"/>
              </a:lnSpc>
              <a:spcBef>
                <a:spcPts val="0"/>
              </a:spcBef>
              <a:buSzPts val="1400"/>
            </a:pPr>
            <a:r>
              <a:rPr lang="en" sz="1867"/>
              <a:t>High resource utilization</a:t>
            </a:r>
            <a:endParaRPr sz="1867"/>
          </a:p>
          <a:p>
            <a:pPr lvl="1" indent="-423323">
              <a:lnSpc>
                <a:spcPct val="200000"/>
              </a:lnSpc>
              <a:spcBef>
                <a:spcPts val="0"/>
              </a:spcBef>
              <a:buSzPts val="1400"/>
            </a:pPr>
            <a:r>
              <a:rPr lang="en" sz="1867"/>
              <a:t>Low management &amp; maintenance cost</a:t>
            </a:r>
            <a:endParaRPr sz="1867"/>
          </a:p>
          <a:p>
            <a:pPr lvl="1" indent="-423323">
              <a:lnSpc>
                <a:spcPct val="200000"/>
              </a:lnSpc>
              <a:spcBef>
                <a:spcPts val="0"/>
              </a:spcBef>
              <a:buSzPts val="1400"/>
            </a:pPr>
            <a:r>
              <a:rPr lang="en" sz="1867"/>
              <a:t>High level of security</a:t>
            </a:r>
            <a:endParaRPr sz="1867"/>
          </a:p>
          <a:p>
            <a:pPr marL="1219170" indent="0">
              <a:lnSpc>
                <a:spcPct val="150000"/>
              </a:lnSpc>
              <a:spcBef>
                <a:spcPts val="2133"/>
              </a:spcBef>
              <a:buSzPts val="1600"/>
              <a:buNone/>
            </a:pP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SzPts val="1600"/>
              <a:buNone/>
            </a:pPr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2100" y="2006765"/>
            <a:ext cx="943133" cy="109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70835" y="5231334"/>
            <a:ext cx="2101167" cy="1040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1601" y="1130169"/>
            <a:ext cx="2179719" cy="58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9134" y="849865"/>
            <a:ext cx="4307669" cy="11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72285" y="2104267"/>
            <a:ext cx="1481367" cy="1481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87300" y="3594267"/>
            <a:ext cx="1881725" cy="109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07051" y="4887668"/>
            <a:ext cx="2864533" cy="1610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72300" y="3356214"/>
            <a:ext cx="2678968" cy="153036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6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6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6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"/>
              <a:t>Use Case of Virtualization in Mobile and Embedded Systems</a:t>
            </a:r>
            <a:endParaRPr/>
          </a:p>
        </p:txBody>
      </p:sp>
      <p:pic>
        <p:nvPicPr>
          <p:cNvPr id="182" name="Google Shape;18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234" y="3759912"/>
            <a:ext cx="2285933" cy="171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667" y="3796967"/>
            <a:ext cx="3462133" cy="1071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82232" y="4229351"/>
            <a:ext cx="4564400" cy="6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00" y="5462569"/>
            <a:ext cx="4564400" cy="736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08233" y="5090070"/>
            <a:ext cx="2398032" cy="94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90135" y="5158351"/>
            <a:ext cx="2101167" cy="104016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4722100" y="5193201"/>
            <a:ext cx="2398000" cy="110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1867" b="1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Microkernel Based</a:t>
            </a:r>
            <a:endParaRPr sz="1867" b="1">
              <a:solidFill>
                <a:srgbClr val="FF99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" sz="1867" b="1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Hypervisor</a:t>
            </a:r>
            <a:endParaRPr sz="1867" b="1">
              <a:solidFill>
                <a:srgbClr val="FF99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6630100" y="3102400"/>
            <a:ext cx="2188000" cy="4048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6630100" y="2594400"/>
            <a:ext cx="2188000" cy="404800"/>
          </a:xfrm>
          <a:prstGeom prst="roundRect">
            <a:avLst>
              <a:gd name="adj" fmla="val 16667"/>
            </a:avLst>
          </a:prstGeom>
          <a:solidFill>
            <a:srgbClr val="B4A7D6"/>
          </a:solidFill>
          <a:ln w="19050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6804467" y="1861900"/>
            <a:ext cx="811600" cy="63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</a:t>
            </a:r>
            <a:endParaRPr sz="1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7776767" y="1859000"/>
            <a:ext cx="811600" cy="63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</a:t>
            </a:r>
            <a:endParaRPr sz="1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76767" y="1956000"/>
            <a:ext cx="943200" cy="9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/>
          <p:nvPr/>
        </p:nvSpPr>
        <p:spPr>
          <a:xfrm>
            <a:off x="9474900" y="3102400"/>
            <a:ext cx="2339600" cy="4048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9474900" y="2594400"/>
            <a:ext cx="2339600" cy="404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19050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Hypervisor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9533667" y="1465717"/>
            <a:ext cx="943200" cy="9432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9598217" y="2020833"/>
            <a:ext cx="811600" cy="280800"/>
          </a:xfrm>
          <a:prstGeom prst="rect">
            <a:avLst/>
          </a:prstGeom>
          <a:solidFill>
            <a:srgbClr val="B4A7D6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</a:t>
            </a:r>
            <a:endParaRPr sz="1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9704700" y="1636267"/>
            <a:ext cx="641200" cy="280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4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</a:t>
            </a:r>
            <a:endParaRPr sz="1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10702867" y="1449467"/>
            <a:ext cx="993200" cy="9432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10801167" y="2020833"/>
            <a:ext cx="811600" cy="280800"/>
          </a:xfrm>
          <a:prstGeom prst="rect">
            <a:avLst/>
          </a:prstGeom>
          <a:solidFill>
            <a:srgbClr val="B4A7D6"/>
          </a:solidFill>
          <a:ln w="9525" cap="flat" cmpd="sng">
            <a:solidFill>
              <a:srgbClr val="8E7C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</a:t>
            </a:r>
            <a:endParaRPr sz="1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10923900" y="1636267"/>
            <a:ext cx="641200" cy="280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9CB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7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</a:t>
            </a:r>
            <a:endParaRPr sz="17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9680167" y="1063469"/>
            <a:ext cx="731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VM1</a:t>
            </a:r>
            <a:endParaRPr sz="1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10920967" y="1030967"/>
            <a:ext cx="811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VM2</a:t>
            </a:r>
            <a:endParaRPr sz="1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4" name="Google Shape;204;p22"/>
          <p:cNvGrpSpPr/>
          <p:nvPr/>
        </p:nvGrpSpPr>
        <p:grpSpPr>
          <a:xfrm>
            <a:off x="9380667" y="731171"/>
            <a:ext cx="2542267" cy="2961971"/>
            <a:chOff x="7047700" y="496550"/>
            <a:chExt cx="1906700" cy="2287825"/>
          </a:xfrm>
        </p:grpSpPr>
        <p:cxnSp>
          <p:nvCxnSpPr>
            <p:cNvPr id="205" name="Google Shape;205;p22"/>
            <p:cNvCxnSpPr/>
            <p:nvPr/>
          </p:nvCxnSpPr>
          <p:spPr>
            <a:xfrm>
              <a:off x="7131825" y="2752275"/>
              <a:ext cx="1810500" cy="24000"/>
            </a:xfrm>
            <a:prstGeom prst="straightConnector1">
              <a:avLst/>
            </a:prstGeom>
            <a:noFill/>
            <a:ln w="38100" cap="flat" cmpd="sng">
              <a:solidFill>
                <a:srgbClr val="1155CC"/>
              </a:solidFill>
              <a:prstDash val="dash"/>
              <a:round/>
              <a:headEnd type="none" w="sm" len="sm"/>
              <a:tailEnd type="none" w="sm" len="sm"/>
            </a:ln>
          </p:spPr>
        </p:cxnSp>
        <p:grpSp>
          <p:nvGrpSpPr>
            <p:cNvPr id="206" name="Google Shape;206;p22"/>
            <p:cNvGrpSpPr/>
            <p:nvPr/>
          </p:nvGrpSpPr>
          <p:grpSpPr>
            <a:xfrm>
              <a:off x="7047700" y="496550"/>
              <a:ext cx="1906700" cy="2287825"/>
              <a:chOff x="7047700" y="496550"/>
              <a:chExt cx="1906700" cy="2287825"/>
            </a:xfrm>
          </p:grpSpPr>
          <p:cxnSp>
            <p:nvCxnSpPr>
              <p:cNvPr id="207" name="Google Shape;207;p22"/>
              <p:cNvCxnSpPr/>
              <p:nvPr/>
            </p:nvCxnSpPr>
            <p:spPr>
              <a:xfrm>
                <a:off x="7936400" y="952113"/>
                <a:ext cx="12000" cy="889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155CC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8" name="Google Shape;208;p22"/>
              <p:cNvCxnSpPr/>
              <p:nvPr/>
            </p:nvCxnSpPr>
            <p:spPr>
              <a:xfrm>
                <a:off x="7970025" y="1840025"/>
                <a:ext cx="984300" cy="69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1155CC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209" name="Google Shape;209;p22"/>
              <p:cNvGrpSpPr/>
              <p:nvPr/>
            </p:nvGrpSpPr>
            <p:grpSpPr>
              <a:xfrm>
                <a:off x="7047700" y="496550"/>
                <a:ext cx="1906700" cy="2287825"/>
                <a:chOff x="7047700" y="496550"/>
                <a:chExt cx="1906700" cy="2287825"/>
              </a:xfrm>
            </p:grpSpPr>
            <p:pic>
              <p:nvPicPr>
                <p:cNvPr id="210" name="Google Shape;210;p22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/>
                <a:stretch/>
              </p:blipFill>
              <p:spPr>
                <a:xfrm>
                  <a:off x="8085550" y="1065250"/>
                  <a:ext cx="707400" cy="707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11" name="Google Shape;211;p22"/>
                <p:cNvGrpSpPr/>
                <p:nvPr/>
              </p:nvGrpSpPr>
              <p:grpSpPr>
                <a:xfrm>
                  <a:off x="7047700" y="496550"/>
                  <a:ext cx="1906700" cy="2287825"/>
                  <a:chOff x="7047700" y="496550"/>
                  <a:chExt cx="1906700" cy="2287825"/>
                </a:xfrm>
              </p:grpSpPr>
              <p:cxnSp>
                <p:nvCxnSpPr>
                  <p:cNvPr id="212" name="Google Shape;212;p22"/>
                  <p:cNvCxnSpPr/>
                  <p:nvPr/>
                </p:nvCxnSpPr>
                <p:spPr>
                  <a:xfrm>
                    <a:off x="7047700" y="971513"/>
                    <a:ext cx="0" cy="1754400"/>
                  </a:xfrm>
                  <a:prstGeom prst="straightConnector1">
                    <a:avLst/>
                  </a:prstGeom>
                  <a:noFill/>
                  <a:ln w="38100" cap="flat" cmpd="sng">
                    <a:solidFill>
                      <a:srgbClr val="1155CC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3" name="Google Shape;213;p22"/>
                  <p:cNvCxnSpPr/>
                  <p:nvPr/>
                </p:nvCxnSpPr>
                <p:spPr>
                  <a:xfrm>
                    <a:off x="7055625" y="849425"/>
                    <a:ext cx="889200" cy="12000"/>
                  </a:xfrm>
                  <a:prstGeom prst="straightConnector1">
                    <a:avLst/>
                  </a:prstGeom>
                  <a:noFill/>
                  <a:ln w="38100" cap="flat" cmpd="sng">
                    <a:solidFill>
                      <a:srgbClr val="1155CC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4" name="Google Shape;214;p22"/>
                  <p:cNvCxnSpPr/>
                  <p:nvPr/>
                </p:nvCxnSpPr>
                <p:spPr>
                  <a:xfrm>
                    <a:off x="8930100" y="1846875"/>
                    <a:ext cx="24300" cy="937500"/>
                  </a:xfrm>
                  <a:prstGeom prst="straightConnector1">
                    <a:avLst/>
                  </a:prstGeom>
                  <a:noFill/>
                  <a:ln w="38100" cap="flat" cmpd="sng">
                    <a:solidFill>
                      <a:srgbClr val="1155CC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215" name="Google Shape;215;p22"/>
                  <p:cNvSpPr txBox="1"/>
                  <p:nvPr/>
                </p:nvSpPr>
                <p:spPr>
                  <a:xfrm>
                    <a:off x="7250925" y="496550"/>
                    <a:ext cx="564900" cy="396131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rgbClr val="FFFFFF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121900" tIns="121900" rIns="121900" bIns="121900" anchor="t" anchorCtr="0">
                    <a:spAutoFit/>
                  </a:bodyPr>
                  <a:lstStyle/>
                  <a:p>
                    <a:pPr>
                      <a:buClr>
                        <a:srgbClr val="000000"/>
                      </a:buClr>
                      <a:buSzPts val="1200"/>
                    </a:pPr>
                    <a:r>
                      <a:rPr lang="en" sz="1733" b="1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Safe</a:t>
                    </a:r>
                    <a:endParaRPr sz="1733" b="1">
                      <a:solidFill>
                        <a:srgbClr val="1155CC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</p:grpSp>
      <p:sp>
        <p:nvSpPr>
          <p:cNvPr id="216" name="Google Shape;216;p22"/>
          <p:cNvSpPr txBox="1"/>
          <p:nvPr/>
        </p:nvSpPr>
        <p:spPr>
          <a:xfrm>
            <a:off x="191267" y="1041533"/>
            <a:ext cx="6898800" cy="304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●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Security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19170" lvl="1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○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Strong isolation between co-located VMs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19170" lvl="1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○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Safe from bugs and malicious attacks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●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Coexistence of Heterogeneous OS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19170" lvl="1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○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RTOS + GPOS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19170" lvl="1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○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Security-enhanced OS + GPOS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19170" lvl="1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○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Business Phone + Personal Phone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17" name="Google Shape;217;p22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2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1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"/>
              <a:t>Formal Requirements of Virtualization</a:t>
            </a:r>
            <a:endParaRPr/>
          </a:p>
        </p:txBody>
      </p:sp>
      <p:sp>
        <p:nvSpPr>
          <p:cNvPr id="243" name="Google Shape;243;p26"/>
          <p:cNvSpPr txBox="1">
            <a:spLocks noGrp="1"/>
          </p:cNvSpPr>
          <p:nvPr>
            <p:ph type="body" idx="1"/>
          </p:nvPr>
        </p:nvSpPr>
        <p:spPr>
          <a:xfrm>
            <a:off x="282300" y="973900"/>
            <a:ext cx="11383600" cy="54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2133"/>
              </a:spcBef>
            </a:pPr>
            <a:r>
              <a:rPr lang="en"/>
              <a:t>Characteristics of a VMM are</a:t>
            </a:r>
            <a:endParaRPr/>
          </a:p>
          <a:p>
            <a:pPr lvl="1" indent="-423323">
              <a:buSzPts val="1400"/>
            </a:pPr>
            <a:r>
              <a:rPr lang="en" sz="1867"/>
              <a:t>Equivalence</a:t>
            </a:r>
            <a:endParaRPr sz="1867"/>
          </a:p>
          <a:p>
            <a:pPr lvl="1" indent="-423323">
              <a:buSzPts val="1400"/>
            </a:pPr>
            <a:r>
              <a:rPr lang="en" sz="1867"/>
              <a:t>Efficiency</a:t>
            </a:r>
            <a:endParaRPr sz="1867"/>
          </a:p>
          <a:p>
            <a:pPr lvl="1" indent="-423323">
              <a:buSzPts val="1400"/>
            </a:pPr>
            <a:r>
              <a:rPr lang="en" sz="1867"/>
              <a:t>Resource Control</a:t>
            </a:r>
            <a:endParaRPr sz="1867"/>
          </a:p>
          <a:p>
            <a:pPr>
              <a:spcBef>
                <a:spcPts val="2133"/>
              </a:spcBef>
            </a:pPr>
            <a:r>
              <a:rPr lang="en"/>
              <a:t>A VMM can be constructed if the set of  sensitive instructions of that computer is a subset of the set of privileged instruction.”</a:t>
            </a:r>
            <a:endParaRPr/>
          </a:p>
          <a:p>
            <a:pPr marL="1219170" indent="0">
              <a:lnSpc>
                <a:spcPct val="100000"/>
              </a:lnSpc>
              <a:spcBef>
                <a:spcPts val="2133"/>
              </a:spcBef>
              <a:buNone/>
            </a:pPr>
            <a:r>
              <a:rPr lang="en"/>
              <a:t> </a:t>
            </a:r>
            <a:endParaRPr/>
          </a:p>
          <a:p>
            <a:pPr marL="0" indent="0">
              <a:lnSpc>
                <a:spcPct val="100000"/>
              </a:lnSpc>
              <a:buSzPts val="1600"/>
              <a:buNone/>
            </a:pPr>
            <a:endParaRPr i="1"/>
          </a:p>
          <a:p>
            <a:pPr marL="0" indent="0">
              <a:lnSpc>
                <a:spcPct val="100000"/>
              </a:lnSpc>
              <a:buSzPts val="1600"/>
              <a:buNone/>
            </a:pPr>
            <a:endParaRPr i="1"/>
          </a:p>
          <a:p>
            <a:pPr marL="0" indent="0">
              <a:lnSpc>
                <a:spcPct val="100000"/>
              </a:lnSpc>
              <a:buSzPts val="1600"/>
              <a:buNone/>
            </a:pPr>
            <a:r>
              <a:rPr lang="en" sz="1600" i="1"/>
              <a:t>[1] G. J. Popek and R. P. Goldberg, ‘‘Formal requirements for virtualizable third generation architectures,’’ Commun. ACM, vol. 17, no. 7, pp. 412–421, 1974.</a:t>
            </a:r>
            <a:endParaRPr sz="1600" i="1"/>
          </a:p>
          <a:p>
            <a:pPr marL="0" indent="0">
              <a:buSzPts val="1600"/>
              <a:buNone/>
            </a:pP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SzPts val="1600"/>
              <a:buNone/>
            </a:pPr>
            <a:endParaRPr/>
          </a:p>
        </p:txBody>
      </p:sp>
      <p:sp>
        <p:nvSpPr>
          <p:cNvPr id="244" name="Google Shape;244;p26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"/>
              <a:t>Characteristics of VMM</a:t>
            </a:r>
            <a:endParaRPr/>
          </a:p>
        </p:txBody>
      </p:sp>
      <p:sp>
        <p:nvSpPr>
          <p:cNvPr id="250" name="Google Shape;250;p27"/>
          <p:cNvSpPr txBox="1">
            <a:spLocks noGrp="1"/>
          </p:cNvSpPr>
          <p:nvPr>
            <p:ph type="body" idx="1"/>
          </p:nvPr>
        </p:nvSpPr>
        <p:spPr>
          <a:xfrm>
            <a:off x="282300" y="973900"/>
            <a:ext cx="11383600" cy="54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200000"/>
              </a:lnSpc>
              <a:spcBef>
                <a:spcPts val="2133"/>
              </a:spcBef>
            </a:pPr>
            <a:r>
              <a:rPr lang="en"/>
              <a:t>Equivalence</a:t>
            </a:r>
            <a:endParaRPr/>
          </a:p>
          <a:p>
            <a:pPr>
              <a:lnSpc>
                <a:spcPct val="200000"/>
              </a:lnSpc>
            </a:pPr>
            <a:r>
              <a:rPr lang="en"/>
              <a:t>Efficiency</a:t>
            </a:r>
            <a:endParaRPr/>
          </a:p>
          <a:p>
            <a:pPr>
              <a:lnSpc>
                <a:spcPct val="200000"/>
              </a:lnSpc>
            </a:pPr>
            <a:r>
              <a:rPr lang="en"/>
              <a:t>Resource Control</a:t>
            </a:r>
            <a:endParaRPr/>
          </a:p>
          <a:p>
            <a:pPr>
              <a:lnSpc>
                <a:spcPct val="200000"/>
              </a:lnSpc>
            </a:pPr>
            <a:r>
              <a:rPr lang="en"/>
              <a:t>A VMM can be constructed if the set of  sensitive instructions of that computer is a subset of the set of privileged instruction.</a:t>
            </a:r>
            <a:endParaRPr/>
          </a:p>
          <a:p>
            <a:pPr marL="0" indent="0">
              <a:lnSpc>
                <a:spcPct val="200000"/>
              </a:lnSpc>
              <a:spcBef>
                <a:spcPts val="2133"/>
              </a:spcBef>
              <a:buNone/>
            </a:pPr>
            <a:r>
              <a:rPr lang="en"/>
              <a:t> </a:t>
            </a:r>
            <a:endParaRPr/>
          </a:p>
          <a:p>
            <a:pPr marL="0" indent="0">
              <a:lnSpc>
                <a:spcPct val="100000"/>
              </a:lnSpc>
              <a:buSzPts val="1600"/>
              <a:buNone/>
            </a:pPr>
            <a:endParaRPr i="1"/>
          </a:p>
          <a:p>
            <a:pPr marL="0" indent="0">
              <a:lnSpc>
                <a:spcPct val="100000"/>
              </a:lnSpc>
              <a:buSzPts val="1600"/>
              <a:buNone/>
            </a:pPr>
            <a:endParaRPr i="1"/>
          </a:p>
          <a:p>
            <a:pPr marL="0" indent="0">
              <a:lnSpc>
                <a:spcPct val="100000"/>
              </a:lnSpc>
              <a:buSzPts val="1600"/>
              <a:buNone/>
            </a:pPr>
            <a:r>
              <a:rPr lang="en" sz="1600" i="1"/>
              <a:t>[1] G. J. Popek and R. P. Goldberg, ‘‘Formal requirements for virtualizable third generation architectures,’’ Commun. ACM, vol. 17, no. 7, pp. 412–421, 1974.</a:t>
            </a:r>
            <a:endParaRPr sz="1600" i="1"/>
          </a:p>
          <a:p>
            <a:pPr marL="0" indent="0">
              <a:buSzPts val="1600"/>
              <a:buNone/>
            </a:pPr>
            <a:endParaRPr/>
          </a:p>
          <a:p>
            <a:pPr marL="0" indent="0">
              <a:spcBef>
                <a:spcPts val="2133"/>
              </a:spcBef>
              <a:spcAft>
                <a:spcPts val="2133"/>
              </a:spcAft>
              <a:buSzPts val="1600"/>
              <a:buNone/>
            </a:pPr>
            <a:endParaRPr/>
          </a:p>
        </p:txBody>
      </p:sp>
      <p:sp>
        <p:nvSpPr>
          <p:cNvPr id="251" name="Google Shape;251;p27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"/>
              <a:t>Virtualization Techniques</a:t>
            </a:r>
            <a:endParaRPr/>
          </a:p>
        </p:txBody>
      </p:sp>
      <p:sp>
        <p:nvSpPr>
          <p:cNvPr id="257" name="Google Shape;257;p28"/>
          <p:cNvSpPr txBox="1"/>
          <p:nvPr/>
        </p:nvSpPr>
        <p:spPr>
          <a:xfrm>
            <a:off x="557767" y="1042667"/>
            <a:ext cx="2737200" cy="187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" sz="1867" b="1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1.</a:t>
            </a: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Full virtualization 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73763"/>
              </a:buClr>
              <a:buSzPts val="1300"/>
              <a:buFont typeface="Open Sans Medium"/>
              <a:buChar char="●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Binary rewriting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73763"/>
              </a:buClr>
              <a:buSzPts val="1300"/>
              <a:buFont typeface="Open Sans Medium"/>
              <a:buChar char="●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Unmodified guest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73763"/>
              </a:buClr>
              <a:buSzPts val="1300"/>
              <a:buFont typeface="Open Sans Medium"/>
              <a:buChar char="●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QEMU, VMware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3969233" y="1039500"/>
            <a:ext cx="3460800" cy="184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" sz="1733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2. Paravirtualization</a:t>
            </a:r>
            <a:endParaRPr sz="1733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●"/>
            </a:pPr>
            <a:r>
              <a:rPr lang="en" sz="1733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Cooperative virtualization</a:t>
            </a:r>
            <a:endParaRPr sz="1733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●"/>
            </a:pPr>
            <a:r>
              <a:rPr lang="en" sz="1733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Modified guest</a:t>
            </a:r>
            <a:endParaRPr sz="1733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●"/>
            </a:pPr>
            <a:r>
              <a:rPr lang="en" sz="1733" dirty="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Xen, Microkernel based</a:t>
            </a:r>
            <a:endParaRPr sz="1733" dirty="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7707233" y="973867"/>
            <a:ext cx="4422400" cy="184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3. Hardware-assisted Full Virtualization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●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Unmodified guest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●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Silicon level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609585" indent="-414856">
              <a:lnSpc>
                <a:spcPct val="150000"/>
              </a:lnSpc>
              <a:buClr>
                <a:srgbClr val="000000"/>
              </a:buClr>
              <a:buSzPts val="1300"/>
              <a:buFont typeface="Open Sans Medium"/>
              <a:buChar char="●"/>
            </a:pPr>
            <a:r>
              <a:rPr lang="en" sz="17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KVM, VMware and Xen </a:t>
            </a:r>
            <a:endParaRPr sz="1733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3016663" y="6386233"/>
            <a:ext cx="993200" cy="130400"/>
          </a:xfrm>
          <a:prstGeom prst="rect">
            <a:avLst/>
          </a:prstGeom>
          <a:solidFill>
            <a:srgbClr val="EA9999"/>
          </a:solidFill>
          <a:ln w="2857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"/>
          <p:cNvSpPr txBox="1"/>
          <p:nvPr/>
        </p:nvSpPr>
        <p:spPr>
          <a:xfrm>
            <a:off x="3969228" y="6236033"/>
            <a:ext cx="35196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sz="1333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Virtualization Logic</a:t>
            </a:r>
            <a:endParaRPr sz="1333" b="1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2" name="Google Shape;262;p28"/>
          <p:cNvGrpSpPr/>
          <p:nvPr/>
        </p:nvGrpSpPr>
        <p:grpSpPr>
          <a:xfrm>
            <a:off x="845129" y="3184431"/>
            <a:ext cx="2450136" cy="2978760"/>
            <a:chOff x="6069113" y="942230"/>
            <a:chExt cx="1849625" cy="2234070"/>
          </a:xfrm>
        </p:grpSpPr>
        <p:sp>
          <p:nvSpPr>
            <p:cNvPr id="263" name="Google Shape;263;p28"/>
            <p:cNvSpPr/>
            <p:nvPr/>
          </p:nvSpPr>
          <p:spPr>
            <a:xfrm>
              <a:off x="6069113" y="2799200"/>
              <a:ext cx="1849500" cy="377100"/>
            </a:xfrm>
            <a:prstGeom prst="roundRect">
              <a:avLst>
                <a:gd name="adj" fmla="val 16667"/>
              </a:avLst>
            </a:prstGeom>
            <a:solidFill>
              <a:srgbClr val="B6D7A8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Hardware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28"/>
            <p:cNvSpPr/>
            <p:nvPr/>
          </p:nvSpPr>
          <p:spPr>
            <a:xfrm>
              <a:off x="6069113" y="2345400"/>
              <a:ext cx="1849500" cy="377100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19050" cap="flat" cmpd="sng">
              <a:solidFill>
                <a:srgbClr val="6C8EB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Operating System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5" name="Google Shape;265;p28"/>
            <p:cNvSpPr/>
            <p:nvPr/>
          </p:nvSpPr>
          <p:spPr>
            <a:xfrm>
              <a:off x="6069238" y="1891600"/>
              <a:ext cx="1849500" cy="377100"/>
            </a:xfrm>
            <a:prstGeom prst="roundRect">
              <a:avLst>
                <a:gd name="adj" fmla="val 16667"/>
              </a:avLst>
            </a:prstGeom>
            <a:solidFill>
              <a:srgbClr val="EA9999"/>
            </a:solidFill>
            <a:ln w="28575" cap="flat" cmpd="sng">
              <a:solidFill>
                <a:srgbClr val="E0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Dynamic Binary Translation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66" name="Google Shape;266;p28"/>
            <p:cNvGrpSpPr/>
            <p:nvPr/>
          </p:nvGrpSpPr>
          <p:grpSpPr>
            <a:xfrm>
              <a:off x="7041525" y="1216269"/>
              <a:ext cx="820500" cy="607800"/>
              <a:chOff x="3891325" y="2556351"/>
              <a:chExt cx="820500" cy="607800"/>
            </a:xfrm>
          </p:grpSpPr>
          <p:sp>
            <p:nvSpPr>
              <p:cNvPr id="267" name="Google Shape;267;p28"/>
              <p:cNvSpPr/>
              <p:nvPr/>
            </p:nvSpPr>
            <p:spPr>
              <a:xfrm>
                <a:off x="3891325" y="2556351"/>
                <a:ext cx="820500" cy="607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 w="19050" cap="flat" cmpd="sng">
                <a:solidFill>
                  <a:srgbClr val="3C7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</a:pPr>
                <a:endParaRPr sz="1200" b="1">
                  <a:solidFill>
                    <a:srgbClr val="000000"/>
                  </a:solidFill>
                  <a:highlight>
                    <a:srgbClr val="000000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268" name="Google Shape;268;p28"/>
              <p:cNvGrpSpPr/>
              <p:nvPr/>
            </p:nvGrpSpPr>
            <p:grpSpPr>
              <a:xfrm>
                <a:off x="3974325" y="2679250"/>
                <a:ext cx="661200" cy="367400"/>
                <a:chOff x="3974325" y="2679250"/>
                <a:chExt cx="661200" cy="367400"/>
              </a:xfrm>
            </p:grpSpPr>
            <p:sp>
              <p:nvSpPr>
                <p:cNvPr id="269" name="Google Shape;269;p28"/>
                <p:cNvSpPr/>
                <p:nvPr/>
              </p:nvSpPr>
              <p:spPr>
                <a:xfrm>
                  <a:off x="3974325" y="2853750"/>
                  <a:ext cx="661200" cy="1929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067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Guest OS</a:t>
                  </a:r>
                  <a:endParaRPr sz="1067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0" name="Google Shape;270;p28"/>
                <p:cNvSpPr/>
                <p:nvPr/>
              </p:nvSpPr>
              <p:spPr>
                <a:xfrm>
                  <a:off x="4077450" y="2679250"/>
                  <a:ext cx="480900" cy="1746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E0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200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App</a:t>
                  </a:r>
                  <a:endParaRPr sz="1200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271" name="Google Shape;271;p28"/>
            <p:cNvGrpSpPr/>
            <p:nvPr/>
          </p:nvGrpSpPr>
          <p:grpSpPr>
            <a:xfrm>
              <a:off x="6127125" y="1216269"/>
              <a:ext cx="820500" cy="607800"/>
              <a:chOff x="3891325" y="2556351"/>
              <a:chExt cx="820500" cy="607800"/>
            </a:xfrm>
          </p:grpSpPr>
          <p:sp>
            <p:nvSpPr>
              <p:cNvPr id="272" name="Google Shape;272;p28"/>
              <p:cNvSpPr/>
              <p:nvPr/>
            </p:nvSpPr>
            <p:spPr>
              <a:xfrm>
                <a:off x="3891325" y="2556351"/>
                <a:ext cx="820500" cy="607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 w="19050" cap="flat" cmpd="sng">
                <a:solidFill>
                  <a:srgbClr val="3C7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</a:pPr>
                <a:endParaRPr sz="1200" b="1">
                  <a:solidFill>
                    <a:srgbClr val="000000"/>
                  </a:solidFill>
                  <a:highlight>
                    <a:srgbClr val="000000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273" name="Google Shape;273;p28"/>
              <p:cNvGrpSpPr/>
              <p:nvPr/>
            </p:nvGrpSpPr>
            <p:grpSpPr>
              <a:xfrm>
                <a:off x="3974325" y="2679250"/>
                <a:ext cx="661200" cy="367400"/>
                <a:chOff x="3974325" y="2679250"/>
                <a:chExt cx="661200" cy="367400"/>
              </a:xfrm>
            </p:grpSpPr>
            <p:sp>
              <p:nvSpPr>
                <p:cNvPr id="274" name="Google Shape;274;p28"/>
                <p:cNvSpPr/>
                <p:nvPr/>
              </p:nvSpPr>
              <p:spPr>
                <a:xfrm>
                  <a:off x="3974325" y="2853750"/>
                  <a:ext cx="661200" cy="1929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067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Guest OS</a:t>
                  </a:r>
                  <a:endParaRPr sz="1067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75" name="Google Shape;275;p28"/>
                <p:cNvSpPr/>
                <p:nvPr/>
              </p:nvSpPr>
              <p:spPr>
                <a:xfrm>
                  <a:off x="4077450" y="2679250"/>
                  <a:ext cx="480900" cy="1746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E0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200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App</a:t>
                  </a:r>
                  <a:endParaRPr sz="1200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276" name="Google Shape;276;p28"/>
            <p:cNvSpPr txBox="1"/>
            <p:nvPr/>
          </p:nvSpPr>
          <p:spPr>
            <a:xfrm>
              <a:off x="6324100" y="942230"/>
              <a:ext cx="480900" cy="323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0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VM1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28"/>
            <p:cNvSpPr txBox="1"/>
            <p:nvPr/>
          </p:nvSpPr>
          <p:spPr>
            <a:xfrm>
              <a:off x="7238500" y="942230"/>
              <a:ext cx="480900" cy="323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0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VM2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8" name="Google Shape;278;p28"/>
          <p:cNvGrpSpPr/>
          <p:nvPr/>
        </p:nvGrpSpPr>
        <p:grpSpPr>
          <a:xfrm>
            <a:off x="4542967" y="3698768"/>
            <a:ext cx="2313333" cy="2385633"/>
            <a:chOff x="2976925" y="2735700"/>
            <a:chExt cx="1735000" cy="1789225"/>
          </a:xfrm>
        </p:grpSpPr>
        <p:sp>
          <p:nvSpPr>
            <p:cNvPr id="279" name="Google Shape;279;p28"/>
            <p:cNvSpPr/>
            <p:nvPr/>
          </p:nvSpPr>
          <p:spPr>
            <a:xfrm>
              <a:off x="2977025" y="4147825"/>
              <a:ext cx="1734900" cy="377100"/>
            </a:xfrm>
            <a:prstGeom prst="roundRect">
              <a:avLst>
                <a:gd name="adj" fmla="val 16667"/>
              </a:avLst>
            </a:prstGeom>
            <a:solidFill>
              <a:srgbClr val="B6D7A8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200" b="1">
                  <a:solidFill>
                    <a:srgbClr val="20124D"/>
                  </a:solidFill>
                  <a:latin typeface="Open Sans"/>
                  <a:ea typeface="Open Sans"/>
                  <a:cs typeface="Open Sans"/>
                  <a:sym typeface="Open Sans"/>
                </a:rPr>
                <a:t>Hardware</a:t>
              </a:r>
              <a:endParaRPr sz="1200" b="1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2976925" y="3697425"/>
              <a:ext cx="1734900" cy="377100"/>
            </a:xfrm>
            <a:prstGeom prst="roundRect">
              <a:avLst>
                <a:gd name="adj" fmla="val 16667"/>
              </a:avLst>
            </a:prstGeom>
            <a:solidFill>
              <a:srgbClr val="EA9999"/>
            </a:solidFill>
            <a:ln w="28575" cap="flat" cmpd="sng">
              <a:solidFill>
                <a:srgbClr val="E0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200" b="1">
                  <a:solidFill>
                    <a:srgbClr val="20124D"/>
                  </a:solidFill>
                  <a:latin typeface="Open Sans"/>
                  <a:ea typeface="Open Sans"/>
                  <a:cs typeface="Open Sans"/>
                  <a:sym typeface="Open Sans"/>
                </a:rPr>
                <a:t>Hypervisor</a:t>
              </a:r>
              <a:endParaRPr sz="1200" b="1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81" name="Google Shape;281;p28"/>
            <p:cNvGrpSpPr/>
            <p:nvPr/>
          </p:nvGrpSpPr>
          <p:grpSpPr>
            <a:xfrm>
              <a:off x="3891325" y="3016326"/>
              <a:ext cx="820500" cy="607800"/>
              <a:chOff x="3891325" y="2556351"/>
              <a:chExt cx="820500" cy="607800"/>
            </a:xfrm>
          </p:grpSpPr>
          <p:sp>
            <p:nvSpPr>
              <p:cNvPr id="282" name="Google Shape;282;p28"/>
              <p:cNvSpPr/>
              <p:nvPr/>
            </p:nvSpPr>
            <p:spPr>
              <a:xfrm>
                <a:off x="3891325" y="2556351"/>
                <a:ext cx="820500" cy="607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 w="19050" cap="flat" cmpd="sng">
                <a:solidFill>
                  <a:srgbClr val="3C7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</a:pPr>
                <a:endParaRPr sz="1200" b="1">
                  <a:solidFill>
                    <a:srgbClr val="000000"/>
                  </a:solidFill>
                  <a:highlight>
                    <a:srgbClr val="000000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283" name="Google Shape;283;p28"/>
              <p:cNvGrpSpPr/>
              <p:nvPr/>
            </p:nvGrpSpPr>
            <p:grpSpPr>
              <a:xfrm>
                <a:off x="3969225" y="2679250"/>
                <a:ext cx="666300" cy="444350"/>
                <a:chOff x="3969225" y="2679250"/>
                <a:chExt cx="666300" cy="444350"/>
              </a:xfrm>
            </p:grpSpPr>
            <p:sp>
              <p:nvSpPr>
                <p:cNvPr id="284" name="Google Shape;284;p28"/>
                <p:cNvSpPr/>
                <p:nvPr/>
              </p:nvSpPr>
              <p:spPr>
                <a:xfrm>
                  <a:off x="3974325" y="2853750"/>
                  <a:ext cx="661200" cy="1929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067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Guest OS</a:t>
                  </a:r>
                  <a:endParaRPr sz="1067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5" name="Google Shape;285;p28"/>
                <p:cNvSpPr/>
                <p:nvPr/>
              </p:nvSpPr>
              <p:spPr>
                <a:xfrm>
                  <a:off x="4077450" y="2679250"/>
                  <a:ext cx="480900" cy="1746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E0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200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App</a:t>
                  </a:r>
                  <a:endParaRPr sz="1200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86" name="Google Shape;286;p28"/>
                <p:cNvSpPr/>
                <p:nvPr/>
              </p:nvSpPr>
              <p:spPr>
                <a:xfrm>
                  <a:off x="3969225" y="3042900"/>
                  <a:ext cx="661200" cy="80700"/>
                </a:xfrm>
                <a:prstGeom prst="rect">
                  <a:avLst/>
                </a:prstGeom>
                <a:solidFill>
                  <a:srgbClr val="EA9999"/>
                </a:solidFill>
                <a:ln w="28575" cap="flat" cmpd="sng">
                  <a:solidFill>
                    <a:srgbClr val="E0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endParaRPr sz="1200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287" name="Google Shape;287;p28"/>
            <p:cNvGrpSpPr/>
            <p:nvPr/>
          </p:nvGrpSpPr>
          <p:grpSpPr>
            <a:xfrm>
              <a:off x="2976925" y="3013551"/>
              <a:ext cx="820500" cy="607800"/>
              <a:chOff x="3891325" y="2556351"/>
              <a:chExt cx="820500" cy="607800"/>
            </a:xfrm>
          </p:grpSpPr>
          <p:sp>
            <p:nvSpPr>
              <p:cNvPr id="288" name="Google Shape;288;p28"/>
              <p:cNvSpPr/>
              <p:nvPr/>
            </p:nvSpPr>
            <p:spPr>
              <a:xfrm>
                <a:off x="3891325" y="2556351"/>
                <a:ext cx="820500" cy="607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 w="19050" cap="flat" cmpd="sng">
                <a:solidFill>
                  <a:srgbClr val="3C7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</a:pPr>
                <a:endParaRPr sz="1200" b="1">
                  <a:solidFill>
                    <a:srgbClr val="000000"/>
                  </a:solidFill>
                  <a:highlight>
                    <a:srgbClr val="000000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289" name="Google Shape;289;p28"/>
              <p:cNvGrpSpPr/>
              <p:nvPr/>
            </p:nvGrpSpPr>
            <p:grpSpPr>
              <a:xfrm>
                <a:off x="3969225" y="2679250"/>
                <a:ext cx="666300" cy="444350"/>
                <a:chOff x="3969225" y="2679250"/>
                <a:chExt cx="666300" cy="444350"/>
              </a:xfrm>
            </p:grpSpPr>
            <p:sp>
              <p:nvSpPr>
                <p:cNvPr id="290" name="Google Shape;290;p28"/>
                <p:cNvSpPr/>
                <p:nvPr/>
              </p:nvSpPr>
              <p:spPr>
                <a:xfrm>
                  <a:off x="3974325" y="2853750"/>
                  <a:ext cx="661200" cy="1929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067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Guest OS</a:t>
                  </a:r>
                  <a:endParaRPr sz="1067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1" name="Google Shape;291;p28"/>
                <p:cNvSpPr/>
                <p:nvPr/>
              </p:nvSpPr>
              <p:spPr>
                <a:xfrm>
                  <a:off x="4077450" y="2679250"/>
                  <a:ext cx="480900" cy="1746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E0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200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App</a:t>
                  </a:r>
                  <a:endParaRPr sz="1200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292" name="Google Shape;292;p28"/>
                <p:cNvSpPr/>
                <p:nvPr/>
              </p:nvSpPr>
              <p:spPr>
                <a:xfrm>
                  <a:off x="3969225" y="3042900"/>
                  <a:ext cx="661200" cy="80700"/>
                </a:xfrm>
                <a:prstGeom prst="rect">
                  <a:avLst/>
                </a:prstGeom>
                <a:solidFill>
                  <a:srgbClr val="EA9999"/>
                </a:solidFill>
                <a:ln w="28575" cap="flat" cmpd="sng">
                  <a:solidFill>
                    <a:srgbClr val="E0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endParaRPr sz="1200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293" name="Google Shape;293;p28"/>
            <p:cNvSpPr txBox="1"/>
            <p:nvPr/>
          </p:nvSpPr>
          <p:spPr>
            <a:xfrm>
              <a:off x="3167550" y="2735700"/>
              <a:ext cx="480900" cy="323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0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VM1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4" name="Google Shape;294;p28"/>
            <p:cNvSpPr txBox="1"/>
            <p:nvPr/>
          </p:nvSpPr>
          <p:spPr>
            <a:xfrm>
              <a:off x="4158150" y="2735700"/>
              <a:ext cx="480900" cy="323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0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VM2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5" name="Google Shape;295;p28"/>
          <p:cNvGrpSpPr/>
          <p:nvPr/>
        </p:nvGrpSpPr>
        <p:grpSpPr>
          <a:xfrm>
            <a:off x="8290491" y="3749550"/>
            <a:ext cx="2313343" cy="2283284"/>
            <a:chOff x="6343225" y="2807400"/>
            <a:chExt cx="1735007" cy="1712463"/>
          </a:xfrm>
        </p:grpSpPr>
        <p:sp>
          <p:nvSpPr>
            <p:cNvPr id="296" name="Google Shape;296;p28"/>
            <p:cNvSpPr/>
            <p:nvPr/>
          </p:nvSpPr>
          <p:spPr>
            <a:xfrm>
              <a:off x="6343325" y="4142763"/>
              <a:ext cx="1734900" cy="377100"/>
            </a:xfrm>
            <a:prstGeom prst="roundRect">
              <a:avLst>
                <a:gd name="adj" fmla="val 16667"/>
              </a:avLst>
            </a:prstGeom>
            <a:solidFill>
              <a:srgbClr val="B6D7A8"/>
            </a:solidFill>
            <a:ln w="1905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900"/>
              </a:pPr>
              <a:endParaRPr sz="1200" b="1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r>
                <a:rPr lang="en" sz="1200" b="1">
                  <a:solidFill>
                    <a:srgbClr val="20124D"/>
                  </a:solidFill>
                  <a:latin typeface="Open Sans"/>
                  <a:ea typeface="Open Sans"/>
                  <a:cs typeface="Open Sans"/>
                  <a:sym typeface="Open Sans"/>
                </a:rPr>
                <a:t>Hardware</a:t>
              </a:r>
              <a:endParaRPr sz="1200" b="1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6343225" y="3796725"/>
              <a:ext cx="1734900" cy="272700"/>
            </a:xfrm>
            <a:prstGeom prst="roundRect">
              <a:avLst>
                <a:gd name="adj" fmla="val 16667"/>
              </a:avLst>
            </a:prstGeom>
            <a:solidFill>
              <a:srgbClr val="EA9999"/>
            </a:solidFill>
            <a:ln w="28575" cap="flat" cmpd="sng">
              <a:solidFill>
                <a:srgbClr val="E0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200" b="1">
                  <a:solidFill>
                    <a:srgbClr val="20124D"/>
                  </a:solidFill>
                  <a:latin typeface="Open Sans"/>
                  <a:ea typeface="Open Sans"/>
                  <a:cs typeface="Open Sans"/>
                  <a:sym typeface="Open Sans"/>
                </a:rPr>
                <a:t>Hypervisor</a:t>
              </a:r>
              <a:endParaRPr sz="1200" b="1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98" name="Google Shape;298;p28"/>
            <p:cNvGrpSpPr/>
            <p:nvPr/>
          </p:nvGrpSpPr>
          <p:grpSpPr>
            <a:xfrm>
              <a:off x="6343325" y="3087464"/>
              <a:ext cx="820500" cy="607800"/>
              <a:chOff x="3891325" y="2556351"/>
              <a:chExt cx="820500" cy="607800"/>
            </a:xfrm>
          </p:grpSpPr>
          <p:sp>
            <p:nvSpPr>
              <p:cNvPr id="299" name="Google Shape;299;p28"/>
              <p:cNvSpPr/>
              <p:nvPr/>
            </p:nvSpPr>
            <p:spPr>
              <a:xfrm>
                <a:off x="3891325" y="2556351"/>
                <a:ext cx="820500" cy="607800"/>
              </a:xfrm>
              <a:prstGeom prst="roundRect">
                <a:avLst>
                  <a:gd name="adj" fmla="val 16667"/>
                </a:avLst>
              </a:prstGeom>
              <a:solidFill>
                <a:srgbClr val="EFEFEF"/>
              </a:solidFill>
              <a:ln w="19050" cap="flat" cmpd="sng">
                <a:solidFill>
                  <a:srgbClr val="3C7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900"/>
                </a:pPr>
                <a:endParaRPr sz="1200" b="1">
                  <a:solidFill>
                    <a:srgbClr val="000000"/>
                  </a:solidFill>
                  <a:highlight>
                    <a:srgbClr val="000000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300" name="Google Shape;300;p28"/>
              <p:cNvGrpSpPr/>
              <p:nvPr/>
            </p:nvGrpSpPr>
            <p:grpSpPr>
              <a:xfrm>
                <a:off x="3974325" y="2679250"/>
                <a:ext cx="661200" cy="367400"/>
                <a:chOff x="3974325" y="2679250"/>
                <a:chExt cx="661200" cy="367400"/>
              </a:xfrm>
            </p:grpSpPr>
            <p:sp>
              <p:nvSpPr>
                <p:cNvPr id="301" name="Google Shape;301;p28"/>
                <p:cNvSpPr/>
                <p:nvPr/>
              </p:nvSpPr>
              <p:spPr>
                <a:xfrm>
                  <a:off x="3974325" y="2853750"/>
                  <a:ext cx="661200" cy="1929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067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Guest OS</a:t>
                  </a:r>
                  <a:endParaRPr sz="1067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2" name="Google Shape;302;p28"/>
                <p:cNvSpPr/>
                <p:nvPr/>
              </p:nvSpPr>
              <p:spPr>
                <a:xfrm>
                  <a:off x="4077450" y="2679250"/>
                  <a:ext cx="480900" cy="1746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E0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200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App</a:t>
                  </a:r>
                  <a:endParaRPr sz="1200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303" name="Google Shape;303;p28"/>
            <p:cNvGrpSpPr/>
            <p:nvPr/>
          </p:nvGrpSpPr>
          <p:grpSpPr>
            <a:xfrm>
              <a:off x="7203075" y="3087464"/>
              <a:ext cx="820500" cy="607800"/>
              <a:chOff x="3891325" y="2556351"/>
              <a:chExt cx="820500" cy="607800"/>
            </a:xfrm>
          </p:grpSpPr>
          <p:sp>
            <p:nvSpPr>
              <p:cNvPr id="304" name="Google Shape;304;p28"/>
              <p:cNvSpPr/>
              <p:nvPr/>
            </p:nvSpPr>
            <p:spPr>
              <a:xfrm>
                <a:off x="3891325" y="2556351"/>
                <a:ext cx="820500" cy="607800"/>
              </a:xfrm>
              <a:prstGeom prst="roundRect">
                <a:avLst>
                  <a:gd name="adj" fmla="val 16667"/>
                </a:avLst>
              </a:prstGeom>
              <a:solidFill>
                <a:srgbClr val="F3F3F3"/>
              </a:solidFill>
              <a:ln w="19050" cap="flat" cmpd="sng">
                <a:solidFill>
                  <a:srgbClr val="3C78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900"/>
                </a:pPr>
                <a:endParaRPr sz="1200" b="1">
                  <a:solidFill>
                    <a:srgbClr val="000000"/>
                  </a:solidFill>
                  <a:highlight>
                    <a:srgbClr val="000000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305" name="Google Shape;305;p28"/>
              <p:cNvGrpSpPr/>
              <p:nvPr/>
            </p:nvGrpSpPr>
            <p:grpSpPr>
              <a:xfrm>
                <a:off x="3974325" y="2679250"/>
                <a:ext cx="661200" cy="367400"/>
                <a:chOff x="3974325" y="2679250"/>
                <a:chExt cx="661200" cy="367400"/>
              </a:xfrm>
            </p:grpSpPr>
            <p:sp>
              <p:nvSpPr>
                <p:cNvPr id="306" name="Google Shape;306;p28"/>
                <p:cNvSpPr/>
                <p:nvPr/>
              </p:nvSpPr>
              <p:spPr>
                <a:xfrm>
                  <a:off x="3974325" y="2853750"/>
                  <a:ext cx="661200" cy="1929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067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Guest OS</a:t>
                  </a:r>
                  <a:endParaRPr sz="1067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  <p:sp>
              <p:nvSpPr>
                <p:cNvPr id="307" name="Google Shape;307;p28"/>
                <p:cNvSpPr/>
                <p:nvPr/>
              </p:nvSpPr>
              <p:spPr>
                <a:xfrm>
                  <a:off x="4077450" y="2679250"/>
                  <a:ext cx="480900" cy="1746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E0666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>
                    <a:buClr>
                      <a:srgbClr val="000000"/>
                    </a:buClr>
                    <a:buSzPts val="900"/>
                  </a:pPr>
                  <a:r>
                    <a:rPr lang="en" sz="1200" b="1">
                      <a:solidFill>
                        <a:srgbClr val="00000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App</a:t>
                  </a:r>
                  <a:endParaRPr sz="1200" b="1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sp>
          <p:nvSpPr>
            <p:cNvPr id="308" name="Google Shape;308;p28"/>
            <p:cNvSpPr/>
            <p:nvPr/>
          </p:nvSpPr>
          <p:spPr>
            <a:xfrm>
              <a:off x="6343332" y="4236793"/>
              <a:ext cx="1734900" cy="78300"/>
            </a:xfrm>
            <a:prstGeom prst="rect">
              <a:avLst/>
            </a:prstGeom>
            <a:solidFill>
              <a:srgbClr val="EA9999"/>
            </a:solidFill>
            <a:ln w="28575" cap="flat" cmpd="sng">
              <a:solidFill>
                <a:srgbClr val="E0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900"/>
              </a:pPr>
              <a:endParaRPr sz="1200" b="1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9" name="Google Shape;309;p28"/>
            <p:cNvSpPr txBox="1"/>
            <p:nvPr/>
          </p:nvSpPr>
          <p:spPr>
            <a:xfrm>
              <a:off x="7353325" y="2811900"/>
              <a:ext cx="480900" cy="323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9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VM2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0" name="Google Shape;310;p28"/>
            <p:cNvSpPr txBox="1"/>
            <p:nvPr/>
          </p:nvSpPr>
          <p:spPr>
            <a:xfrm>
              <a:off x="6547975" y="2807400"/>
              <a:ext cx="480900" cy="3231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900"/>
              </a:pPr>
              <a:r>
                <a:rPr lang="en" sz="1200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VM1</a:t>
              </a:r>
              <a:endParaRPr sz="1200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11" name="Google Shape;311;p28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"/>
              <a:t>Monolithic vs Microkernel</a:t>
            </a:r>
            <a:endParaRPr/>
          </a:p>
        </p:txBody>
      </p:sp>
      <p:grpSp>
        <p:nvGrpSpPr>
          <p:cNvPr id="324" name="Google Shape;324;p30"/>
          <p:cNvGrpSpPr/>
          <p:nvPr/>
        </p:nvGrpSpPr>
        <p:grpSpPr>
          <a:xfrm>
            <a:off x="1098400" y="1308100"/>
            <a:ext cx="10424800" cy="4048533"/>
            <a:chOff x="214200" y="981075"/>
            <a:chExt cx="7818600" cy="3036400"/>
          </a:xfrm>
        </p:grpSpPr>
        <p:sp>
          <p:nvSpPr>
            <p:cNvPr id="325" name="Google Shape;325;p30"/>
            <p:cNvSpPr/>
            <p:nvPr/>
          </p:nvSpPr>
          <p:spPr>
            <a:xfrm>
              <a:off x="492800" y="3617275"/>
              <a:ext cx="2763900" cy="40020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Hardware</a:t>
              </a:r>
              <a:endParaRPr sz="1333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492800" y="1466150"/>
              <a:ext cx="2751900" cy="2151000"/>
            </a:xfrm>
            <a:prstGeom prst="rect">
              <a:avLst/>
            </a:prstGeom>
            <a:solidFill>
              <a:srgbClr val="6FA8D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cxnSp>
          <p:nvCxnSpPr>
            <p:cNvPr id="327" name="Google Shape;327;p30"/>
            <p:cNvCxnSpPr/>
            <p:nvPr/>
          </p:nvCxnSpPr>
          <p:spPr>
            <a:xfrm>
              <a:off x="528775" y="3267075"/>
              <a:ext cx="2679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30"/>
            <p:cNvCxnSpPr/>
            <p:nvPr/>
          </p:nvCxnSpPr>
          <p:spPr>
            <a:xfrm>
              <a:off x="528775" y="1895475"/>
              <a:ext cx="2679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30"/>
            <p:cNvCxnSpPr/>
            <p:nvPr/>
          </p:nvCxnSpPr>
          <p:spPr>
            <a:xfrm>
              <a:off x="528775" y="2352675"/>
              <a:ext cx="2679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0" name="Google Shape;330;p30"/>
            <p:cNvSpPr txBox="1"/>
            <p:nvPr/>
          </p:nvSpPr>
          <p:spPr>
            <a:xfrm>
              <a:off x="1250225" y="3223625"/>
              <a:ext cx="1780500" cy="3539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Device Drivers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31" name="Google Shape;331;p30"/>
            <p:cNvSpPr txBox="1"/>
            <p:nvPr/>
          </p:nvSpPr>
          <p:spPr>
            <a:xfrm>
              <a:off x="1250225" y="1547225"/>
              <a:ext cx="1780500" cy="3539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File Systems, VFS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32" name="Google Shape;332;p30"/>
            <p:cNvSpPr txBox="1"/>
            <p:nvPr/>
          </p:nvSpPr>
          <p:spPr>
            <a:xfrm>
              <a:off x="974200" y="1928225"/>
              <a:ext cx="1997700" cy="3539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Processes, Scheduling, IPC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33" name="Google Shape;333;p30"/>
            <p:cNvSpPr txBox="1"/>
            <p:nvPr/>
          </p:nvSpPr>
          <p:spPr>
            <a:xfrm>
              <a:off x="532900" y="2385425"/>
              <a:ext cx="2751900" cy="3539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Memory Management, address space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34" name="Google Shape;334;p30"/>
            <p:cNvSpPr txBox="1"/>
            <p:nvPr/>
          </p:nvSpPr>
          <p:spPr>
            <a:xfrm>
              <a:off x="745600" y="2842625"/>
              <a:ext cx="2476800" cy="3539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Networking, Sockets, protocols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cxnSp>
          <p:nvCxnSpPr>
            <p:cNvPr id="335" name="Google Shape;335;p30"/>
            <p:cNvCxnSpPr/>
            <p:nvPr/>
          </p:nvCxnSpPr>
          <p:spPr>
            <a:xfrm>
              <a:off x="528775" y="2809875"/>
              <a:ext cx="26799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6" name="Google Shape;336;p30"/>
            <p:cNvSpPr/>
            <p:nvPr/>
          </p:nvSpPr>
          <p:spPr>
            <a:xfrm>
              <a:off x="1317150" y="981075"/>
              <a:ext cx="1072200" cy="4650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rgbClr val="FFE5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Application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4939500" y="3595450"/>
              <a:ext cx="2763900" cy="40020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FFFFFF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Hardware</a:t>
              </a:r>
              <a:endParaRPr sz="1333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4951500" y="3034950"/>
              <a:ext cx="2751900" cy="579600"/>
            </a:xfrm>
            <a:prstGeom prst="rect">
              <a:avLst/>
            </a:prstGeom>
            <a:solidFill>
              <a:srgbClr val="6FA8D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lnSpc>
                  <a:spcPct val="115000"/>
                </a:lnSpc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Address spaces, Threads, 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algn="ctr">
                <a:lnSpc>
                  <a:spcPct val="115000"/>
                </a:lnSpc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Basic Scheduling, IPC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4943175" y="2293475"/>
              <a:ext cx="958800" cy="682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Application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endParaRPr sz="1467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5857575" y="2293475"/>
              <a:ext cx="615900" cy="682800"/>
            </a:xfrm>
            <a:prstGeom prst="rect">
              <a:avLst/>
            </a:prstGeom>
            <a:solidFill>
              <a:srgbClr val="93C47D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UNIX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Server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6467175" y="2293475"/>
              <a:ext cx="615900" cy="682800"/>
            </a:xfrm>
            <a:prstGeom prst="rect">
              <a:avLst/>
            </a:prstGeom>
            <a:solidFill>
              <a:srgbClr val="D9D9D9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Device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Driver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7076775" y="2293475"/>
              <a:ext cx="615900" cy="682800"/>
            </a:xfrm>
            <a:prstGeom prst="rect">
              <a:avLst/>
            </a:prstGeom>
            <a:solidFill>
              <a:srgbClr val="B4A7D6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File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Server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p30"/>
            <p:cNvCxnSpPr/>
            <p:nvPr/>
          </p:nvCxnSpPr>
          <p:spPr>
            <a:xfrm rot="10800000">
              <a:off x="5330475" y="2810350"/>
              <a:ext cx="0" cy="294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4" name="Google Shape;344;p30"/>
            <p:cNvCxnSpPr/>
            <p:nvPr/>
          </p:nvCxnSpPr>
          <p:spPr>
            <a:xfrm rot="10800000">
              <a:off x="7405575" y="2810350"/>
              <a:ext cx="0" cy="294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45" name="Google Shape;345;p30"/>
            <p:cNvCxnSpPr/>
            <p:nvPr/>
          </p:nvCxnSpPr>
          <p:spPr>
            <a:xfrm>
              <a:off x="5330475" y="3104938"/>
              <a:ext cx="20751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6" name="Google Shape;346;p30"/>
            <p:cNvCxnSpPr/>
            <p:nvPr/>
          </p:nvCxnSpPr>
          <p:spPr>
            <a:xfrm>
              <a:off x="214200" y="3625125"/>
              <a:ext cx="78186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7" name="Google Shape;347;p30"/>
            <p:cNvCxnSpPr/>
            <p:nvPr/>
          </p:nvCxnSpPr>
          <p:spPr>
            <a:xfrm>
              <a:off x="290400" y="1469638"/>
              <a:ext cx="30792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8" name="Google Shape;348;p30"/>
            <p:cNvCxnSpPr/>
            <p:nvPr/>
          </p:nvCxnSpPr>
          <p:spPr>
            <a:xfrm>
              <a:off x="4859600" y="3004475"/>
              <a:ext cx="30792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9" name="Google Shape;349;p30"/>
            <p:cNvCxnSpPr/>
            <p:nvPr/>
          </p:nvCxnSpPr>
          <p:spPr>
            <a:xfrm>
              <a:off x="3347000" y="1459300"/>
              <a:ext cx="1512600" cy="15531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0" name="Google Shape;350;p30"/>
            <p:cNvSpPr txBox="1"/>
            <p:nvPr/>
          </p:nvSpPr>
          <p:spPr>
            <a:xfrm>
              <a:off x="3735250" y="1271850"/>
              <a:ext cx="8367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200">
                  <a:solidFill>
                    <a:srgbClr val="FF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User</a:t>
              </a:r>
              <a:endParaRPr sz="1200">
                <a:solidFill>
                  <a:srgbClr val="FF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100"/>
              </a:pPr>
              <a:r>
                <a:rPr lang="en" sz="1200">
                  <a:solidFill>
                    <a:srgbClr val="FF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Space</a:t>
              </a:r>
              <a:endParaRPr sz="1200">
                <a:solidFill>
                  <a:srgbClr val="FF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351" name="Google Shape;351;p30"/>
            <p:cNvSpPr txBox="1"/>
            <p:nvPr/>
          </p:nvSpPr>
          <p:spPr>
            <a:xfrm>
              <a:off x="3735250" y="3024450"/>
              <a:ext cx="8367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200">
                  <a:solidFill>
                    <a:srgbClr val="FF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Kernel</a:t>
              </a:r>
              <a:endParaRPr sz="1200">
                <a:solidFill>
                  <a:srgbClr val="FF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100"/>
              </a:pPr>
              <a:r>
                <a:rPr lang="en" sz="1200">
                  <a:solidFill>
                    <a:srgbClr val="FF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Space</a:t>
              </a:r>
              <a:endParaRPr sz="1200">
                <a:solidFill>
                  <a:srgbClr val="FF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</p:grpSp>
      <p:sp>
        <p:nvSpPr>
          <p:cNvPr id="352" name="Google Shape;352;p30"/>
          <p:cNvSpPr txBox="1"/>
          <p:nvPr/>
        </p:nvSpPr>
        <p:spPr>
          <a:xfrm>
            <a:off x="2362800" y="5601101"/>
            <a:ext cx="2246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Monolithic OS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8313367" y="5601101"/>
            <a:ext cx="2246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Microkernel OS</a:t>
            </a:r>
            <a:endParaRPr sz="1600"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54" name="Google Shape;354;p30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"/>
          <p:cNvSpPr txBox="1">
            <a:spLocks noGrp="1"/>
          </p:cNvSpPr>
          <p:nvPr>
            <p:ph type="title"/>
          </p:nvPr>
        </p:nvSpPr>
        <p:spPr>
          <a:xfrm>
            <a:off x="314000" y="85367"/>
            <a:ext cx="11360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"/>
              <a:t>KVM/QEMU</a:t>
            </a:r>
            <a:endParaRPr/>
          </a:p>
        </p:txBody>
      </p:sp>
      <p:sp>
        <p:nvSpPr>
          <p:cNvPr id="410" name="Google Shape;410;p34"/>
          <p:cNvSpPr txBox="1">
            <a:spLocks noGrp="1"/>
          </p:cNvSpPr>
          <p:nvPr>
            <p:ph type="body" idx="1"/>
          </p:nvPr>
        </p:nvSpPr>
        <p:spPr>
          <a:xfrm>
            <a:off x="282300" y="973900"/>
            <a:ext cx="6124800" cy="54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200000"/>
              </a:lnSpc>
              <a:buClr>
                <a:srgbClr val="1C4587"/>
              </a:buClr>
            </a:pPr>
            <a:r>
              <a:rPr lang="en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KVM, add hypervisor capability to Linux, on boards with hardware virtualization Extension.</a:t>
            </a:r>
            <a:endParaRPr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>
              <a:lnSpc>
                <a:spcPct val="200000"/>
              </a:lnSpc>
              <a:spcBef>
                <a:spcPts val="1333"/>
              </a:spcBef>
              <a:buClr>
                <a:srgbClr val="1C4587"/>
              </a:buClr>
            </a:pPr>
            <a:r>
              <a:rPr lang="en">
                <a:latin typeface="Open Sans Medium"/>
                <a:ea typeface="Open Sans Medium"/>
                <a:cs typeface="Open Sans Medium"/>
                <a:sym typeface="Open Sans Medium"/>
              </a:rPr>
              <a:t>KVM is implemented as Linux kernel module</a:t>
            </a:r>
            <a:endParaRPr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>
              <a:lnSpc>
                <a:spcPct val="200000"/>
              </a:lnSpc>
              <a:spcBef>
                <a:spcPts val="1333"/>
              </a:spcBef>
              <a:buClr>
                <a:srgbClr val="1C4587"/>
              </a:buClr>
            </a:pPr>
            <a:r>
              <a:rPr lang="en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QEMU uses KVM when available to virtualize guests at near-native speeds</a:t>
            </a:r>
            <a:endParaRPr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>
              <a:lnSpc>
                <a:spcPct val="200000"/>
              </a:lnSpc>
              <a:spcBef>
                <a:spcPts val="1333"/>
              </a:spcBef>
              <a:buClr>
                <a:srgbClr val="1C4587"/>
              </a:buClr>
            </a:pPr>
            <a:r>
              <a:rPr lang="en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KVM uses a slightly modified instance of QEMU for emulation</a:t>
            </a:r>
            <a:endParaRPr>
              <a:solidFill>
                <a:srgbClr val="00000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indent="0">
              <a:lnSpc>
                <a:spcPct val="200000"/>
              </a:lnSpc>
              <a:spcBef>
                <a:spcPts val="1333"/>
              </a:spcBef>
              <a:spcAft>
                <a:spcPts val="1333"/>
              </a:spcAft>
              <a:buSzPts val="1600"/>
              <a:buNone/>
            </a:pPr>
            <a:endParaRPr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11" name="Google Shape;411;p34"/>
          <p:cNvGrpSpPr/>
          <p:nvPr/>
        </p:nvGrpSpPr>
        <p:grpSpPr>
          <a:xfrm>
            <a:off x="6630469" y="1180067"/>
            <a:ext cx="4352175" cy="3922467"/>
            <a:chOff x="1039925" y="1189850"/>
            <a:chExt cx="2930100" cy="2941850"/>
          </a:xfrm>
        </p:grpSpPr>
        <p:sp>
          <p:nvSpPr>
            <p:cNvPr id="412" name="Google Shape;412;p34"/>
            <p:cNvSpPr/>
            <p:nvPr/>
          </p:nvSpPr>
          <p:spPr>
            <a:xfrm>
              <a:off x="1039950" y="3728800"/>
              <a:ext cx="2820000" cy="4029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Hardware with Virtualization Technologies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1039925" y="2810650"/>
              <a:ext cx="2820000" cy="8244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F9CB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Linux Kernel Space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1873775" y="2959300"/>
              <a:ext cx="1864500" cy="303600"/>
            </a:xfrm>
            <a:prstGeom prst="roundRect">
              <a:avLst>
                <a:gd name="adj" fmla="val 16667"/>
              </a:avLst>
            </a:prstGeom>
            <a:solidFill>
              <a:srgbClr val="F4CCCC"/>
            </a:solidFill>
            <a:ln w="9525" cap="flat" cmpd="sng">
              <a:solidFill>
                <a:srgbClr val="DD7E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KVM Kernel Module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1039950" y="1189850"/>
              <a:ext cx="2820000" cy="1578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3C7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2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Userspace</a:t>
              </a:r>
              <a:endParaRPr sz="12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grpSp>
          <p:nvGrpSpPr>
            <p:cNvPr id="416" name="Google Shape;416;p34"/>
            <p:cNvGrpSpPr/>
            <p:nvPr/>
          </p:nvGrpSpPr>
          <p:grpSpPr>
            <a:xfrm>
              <a:off x="1181733" y="1633125"/>
              <a:ext cx="1180500" cy="707423"/>
              <a:chOff x="1105533" y="1678777"/>
              <a:chExt cx="1180500" cy="890400"/>
            </a:xfrm>
          </p:grpSpPr>
          <p:sp>
            <p:nvSpPr>
              <p:cNvPr id="417" name="Google Shape;417;p34"/>
              <p:cNvSpPr/>
              <p:nvPr/>
            </p:nvSpPr>
            <p:spPr>
              <a:xfrm>
                <a:off x="1105533" y="1678777"/>
                <a:ext cx="1180500" cy="890400"/>
              </a:xfrm>
              <a:prstGeom prst="roundRect">
                <a:avLst>
                  <a:gd name="adj" fmla="val 16667"/>
                </a:avLst>
              </a:prstGeom>
              <a:solidFill>
                <a:srgbClr val="B6D7A8"/>
              </a:solidFill>
              <a:ln w="9525" cap="flat" cmpd="sng">
                <a:solidFill>
                  <a:srgbClr val="387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100"/>
                </a:pPr>
                <a:endParaRPr sz="12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 algn="ctr">
                  <a:buClr>
                    <a:srgbClr val="000000"/>
                  </a:buClr>
                  <a:buSzPts val="1100"/>
                </a:pPr>
                <a:r>
                  <a:rPr lang="en" sz="1467">
                    <a:solidFill>
                      <a:srgbClr val="000000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QEMU</a:t>
                </a:r>
                <a:endParaRPr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>
                  <a:buClr>
                    <a:srgbClr val="000000"/>
                  </a:buClr>
                  <a:buSzPts val="1400"/>
                </a:pPr>
                <a:endParaRPr sz="16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>
                  <a:buClr>
                    <a:srgbClr val="000000"/>
                  </a:buClr>
                  <a:buSzPts val="1400"/>
                </a:pPr>
                <a:endParaRPr sz="16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  <a:p>
                <a:pPr>
                  <a:buClr>
                    <a:srgbClr val="000000"/>
                  </a:buClr>
                  <a:buSzPts val="1400"/>
                </a:pPr>
                <a:endParaRPr sz="1600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</p:txBody>
          </p:sp>
          <p:sp>
            <p:nvSpPr>
              <p:cNvPr id="418" name="Google Shape;418;p34"/>
              <p:cNvSpPr/>
              <p:nvPr/>
            </p:nvSpPr>
            <p:spPr>
              <a:xfrm>
                <a:off x="1180475" y="2096399"/>
                <a:ext cx="1021200" cy="225000"/>
              </a:xfrm>
              <a:prstGeom prst="roundRect">
                <a:avLst>
                  <a:gd name="adj" fmla="val 16667"/>
                </a:avLst>
              </a:prstGeom>
              <a:solidFill>
                <a:srgbClr val="B6D7A8"/>
              </a:solidFill>
              <a:ln w="9525" cap="flat" cmpd="sng">
                <a:solidFill>
                  <a:srgbClr val="387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</a:pPr>
                <a:r>
                  <a:rPr lang="en" sz="1333">
                    <a:solidFill>
                      <a:srgbClr val="000000"/>
                    </a:solidFill>
                    <a:latin typeface="Open Sans Medium"/>
                    <a:ea typeface="Open Sans Medium"/>
                    <a:cs typeface="Open Sans Medium"/>
                    <a:sym typeface="Open Sans Medium"/>
                  </a:rPr>
                  <a:t>I/O Emulation</a:t>
                </a:r>
                <a:endParaRPr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endParaRPr>
              </a:p>
            </p:txBody>
          </p:sp>
        </p:grpSp>
        <p:sp>
          <p:nvSpPr>
            <p:cNvPr id="419" name="Google Shape;419;p34"/>
            <p:cNvSpPr/>
            <p:nvPr/>
          </p:nvSpPr>
          <p:spPr>
            <a:xfrm>
              <a:off x="1264800" y="2651375"/>
              <a:ext cx="777600" cy="4593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/dev/kvm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1779450" y="2338425"/>
              <a:ext cx="103200" cy="3036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1" name="Google Shape;421;p34"/>
            <p:cNvSpPr/>
            <p:nvPr/>
          </p:nvSpPr>
          <p:spPr>
            <a:xfrm>
              <a:off x="1544600" y="2338350"/>
              <a:ext cx="103200" cy="3036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2" name="Google Shape;422;p34"/>
            <p:cNvSpPr txBox="1"/>
            <p:nvPr/>
          </p:nvSpPr>
          <p:spPr>
            <a:xfrm>
              <a:off x="1115148" y="2322225"/>
              <a:ext cx="727800" cy="3384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9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ioctl()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3" name="Google Shape;423;p34"/>
            <p:cNvSpPr txBox="1"/>
            <p:nvPr/>
          </p:nvSpPr>
          <p:spPr>
            <a:xfrm>
              <a:off x="1812550" y="2322225"/>
              <a:ext cx="541500" cy="3384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9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return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4" name="Google Shape;424;p34"/>
            <p:cNvSpPr/>
            <p:nvPr/>
          </p:nvSpPr>
          <p:spPr>
            <a:xfrm>
              <a:off x="2548325" y="1460550"/>
              <a:ext cx="1068000" cy="1035000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 w="9525" cap="flat" cmpd="sng">
              <a:solidFill>
                <a:srgbClr val="C27B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endParaRPr sz="12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 algn="ctr">
                <a:buClr>
                  <a:srgbClr val="000000"/>
                </a:buClr>
                <a:buSzPts val="1100"/>
              </a:pPr>
              <a:r>
                <a:rPr lang="en" sz="1467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Guest VM</a:t>
              </a:r>
              <a:endParaRPr sz="1467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100"/>
              </a:pPr>
              <a:endParaRPr sz="12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100"/>
              </a:pPr>
              <a:endParaRPr sz="12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100"/>
              </a:pPr>
              <a:endParaRPr sz="12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100"/>
              </a:pPr>
              <a:endParaRPr sz="12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  <a:p>
              <a:pPr>
                <a:buClr>
                  <a:srgbClr val="000000"/>
                </a:buClr>
                <a:buSzPts val="1100"/>
              </a:pPr>
              <a:endParaRPr sz="12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5" name="Google Shape;425;p34"/>
            <p:cNvSpPr/>
            <p:nvPr/>
          </p:nvSpPr>
          <p:spPr>
            <a:xfrm>
              <a:off x="2886850" y="2520225"/>
              <a:ext cx="103200" cy="4029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6" name="Google Shape;426;p34"/>
            <p:cNvSpPr/>
            <p:nvPr/>
          </p:nvSpPr>
          <p:spPr>
            <a:xfrm rot="10800000" flipH="1">
              <a:off x="3191650" y="2520225"/>
              <a:ext cx="103200" cy="4029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600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7" name="Google Shape;427;p34"/>
            <p:cNvSpPr txBox="1"/>
            <p:nvPr/>
          </p:nvSpPr>
          <p:spPr>
            <a:xfrm>
              <a:off x="2259423" y="2474625"/>
              <a:ext cx="727800" cy="3384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9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VM Entry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  <p:sp>
          <p:nvSpPr>
            <p:cNvPr id="428" name="Google Shape;428;p34"/>
            <p:cNvSpPr txBox="1"/>
            <p:nvPr/>
          </p:nvSpPr>
          <p:spPr>
            <a:xfrm>
              <a:off x="3242225" y="2474625"/>
              <a:ext cx="727800" cy="3384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buClr>
                  <a:srgbClr val="000000"/>
                </a:buClr>
                <a:buSzPts val="900"/>
              </a:pPr>
              <a:r>
                <a:rPr lang="en" sz="1333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VM Exit</a:t>
              </a:r>
              <a:endParaRPr sz="1333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endParaRPr>
            </a:p>
          </p:txBody>
        </p:sp>
      </p:grpSp>
      <p:sp>
        <p:nvSpPr>
          <p:cNvPr id="429" name="Google Shape;429;p34"/>
          <p:cNvSpPr txBox="1">
            <a:spLocks noGrp="1"/>
          </p:cNvSpPr>
          <p:nvPr>
            <p:ph type="sldNum" idx="12"/>
          </p:nvPr>
        </p:nvSpPr>
        <p:spPr>
          <a:xfrm>
            <a:off x="11452955" y="640546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547</Words>
  <Application>Microsoft Macintosh PowerPoint</Application>
  <PresentationFormat>Widescreen</PresentationFormat>
  <Paragraphs>194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Cabin</vt:lpstr>
      <vt:lpstr>Calibri</vt:lpstr>
      <vt:lpstr>Calibri Light</vt:lpstr>
      <vt:lpstr>Open Sans</vt:lpstr>
      <vt:lpstr>Open Sans Medium</vt:lpstr>
      <vt:lpstr>PT Sans</vt:lpstr>
      <vt:lpstr>Times New Roman</vt:lpstr>
      <vt:lpstr>Office Theme</vt:lpstr>
      <vt:lpstr>Virtualization types</vt:lpstr>
      <vt:lpstr>Virtualization</vt:lpstr>
      <vt:lpstr>Types of Hypervisors</vt:lpstr>
      <vt:lpstr>Use case of Virtualization in Enterprise Industry</vt:lpstr>
      <vt:lpstr>Use Case of Virtualization in Mobile and Embedded Systems</vt:lpstr>
      <vt:lpstr>Formal Requirements of Virtualization</vt:lpstr>
      <vt:lpstr>Characteristics of VMM</vt:lpstr>
      <vt:lpstr>Virtualization Techniques</vt:lpstr>
      <vt:lpstr>Monolithic vs Microkernel</vt:lpstr>
      <vt:lpstr>KVM/QEMU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Virtualization types</dc:title>
  <dc:creator>Bijoy Jose</dc:creator>
  <cp:lastModifiedBy>Bijoy Jose</cp:lastModifiedBy>
  <cp:revision>2</cp:revision>
  <dcterms:created xsi:type="dcterms:W3CDTF">2023-09-07T05:54:22Z</dcterms:created>
  <dcterms:modified xsi:type="dcterms:W3CDTF">2023-09-07T05:57:06Z</dcterms:modified>
</cp:coreProperties>
</file>