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4" r:id="rId18"/>
    <p:sldId id="272" r:id="rId19"/>
    <p:sldId id="273" r:id="rId20"/>
    <p:sldId id="275" r:id="rId21"/>
    <p:sldId id="276" r:id="rId22"/>
    <p:sldId id="278" r:id="rId23"/>
    <p:sldId id="27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2" d="100"/>
          <a:sy n="92" d="100"/>
        </p:scale>
        <p:origin x="24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B169D-27A4-3857-8011-EC9F789F20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8E7109-F136-1382-657D-318FF4E0EE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66774-3D76-3D73-E505-81425B25C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45F78-348A-4B89-BC88-7BEF007042D6}" type="datetimeFigureOut">
              <a:rPr lang="en-IN" smtClean="0"/>
              <a:t>11-07-2024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6BE555-FD11-F119-71C7-285831D49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A48FC4-73A2-7C91-42BB-97662F2CF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EAB03-91B8-4092-ABAE-9A6EF2137E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8841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F242E-61BC-8D00-B25A-E584E23FF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CDAB8-C131-36B0-53A0-A5D53D427F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83DBB3-C7DF-8A5B-1E68-F88F8A2B4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45F78-348A-4B89-BC88-7BEF007042D6}" type="datetimeFigureOut">
              <a:rPr lang="en-IN" smtClean="0"/>
              <a:t>11-07-2024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5B17C-8C62-F0B7-A8C1-2A536141C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A2BDAF-C574-CBDA-F860-DB3D4927A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EAB03-91B8-4092-ABAE-9A6EF2137E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4570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51C8E-60B3-0F9D-D01C-E586B251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1F38B0-999F-B3E1-14EB-36418298A5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ED2C00-0DB4-7C50-070B-86DD37456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45F78-348A-4B89-BC88-7BEF007042D6}" type="datetimeFigureOut">
              <a:rPr lang="en-IN" smtClean="0"/>
              <a:t>11-07-2024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6AB64F-E9EC-ED94-2787-75D882C82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FF72B-E278-94FE-67A1-3A187A5B9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EAB03-91B8-4092-ABAE-9A6EF2137E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0858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3E67A-5513-C5AD-86DB-C2F8ED45C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BBA1C-5021-C67F-203B-492285847C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29F3E5-FA2C-8380-0B99-384FBA630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1C5E97-0EA1-E8D2-C9AB-32763E565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45F78-348A-4B89-BC88-7BEF007042D6}" type="datetimeFigureOut">
              <a:rPr lang="en-IN" smtClean="0"/>
              <a:t>11-07-2024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6261C9-7230-4690-0E73-908756D42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DC5F24-F048-C6F9-9FC7-C85CB72F7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EAB03-91B8-4092-ABAE-9A6EF2137E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0651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7FAD9-267E-33CC-28CB-F929FBE8D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CF7FA5-21D6-47D2-5072-384A25219E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CE5BB1-E779-3687-F41D-E1A6440C5D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B86270-2C30-23A0-220B-9F93148763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59518C-2B04-6BD9-31A4-F438B0C4A0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A4DC42-C889-ED3B-7B13-BD3430C9F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45F78-348A-4B89-BC88-7BEF007042D6}" type="datetimeFigureOut">
              <a:rPr lang="en-IN" smtClean="0"/>
              <a:t>11-07-2024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1D53A6-B556-64E9-C2AD-CA1D2D18B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B21C6F-EBEC-8D55-0A88-C36C955E0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EAB03-91B8-4092-ABAE-9A6EF2137E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7000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8A2BC-3AC3-1A67-1486-7990FE012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4E9FD0-2EF1-3831-900A-B4C5B88AC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45F78-348A-4B89-BC88-7BEF007042D6}" type="datetimeFigureOut">
              <a:rPr lang="en-IN" smtClean="0"/>
              <a:t>11-07-2024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6C60EA-805B-5623-C5F0-48A7FC448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F36500-AAD0-EF3B-03AF-5184A4AB8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EAB03-91B8-4092-ABAE-9A6EF2137E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7548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F8F3DB-104F-B002-6C41-488184BD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45F78-348A-4B89-BC88-7BEF007042D6}" type="datetimeFigureOut">
              <a:rPr lang="en-IN" smtClean="0"/>
              <a:t>11-07-2024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D89592-E143-1B9F-CEE4-DFE6EBBC6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0BA6A5-B47C-F209-6542-725565A36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EAB03-91B8-4092-ABAE-9A6EF2137E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4890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80458-C8EF-F231-9BD3-8C9DD57B8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62E8E-70D6-088A-8247-E664C7B433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A08CCE-A21D-F14E-36CC-B1DB177A37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E4AC20-A673-440C-1CA5-1352FB574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45F78-348A-4B89-BC88-7BEF007042D6}" type="datetimeFigureOut">
              <a:rPr lang="en-IN" smtClean="0"/>
              <a:t>11-07-2024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94E51F-FA29-D15A-DB10-56035CE3C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BE2B0D-E504-D31C-A5B4-A1BF757FD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EAB03-91B8-4092-ABAE-9A6EF2137E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6905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17A26-BEF5-F35E-566D-F4D07C7AF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FDBB11-237D-62E6-52F2-0D6BCE8BC5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8B575C-E96B-20B4-F2A1-DD1B466509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005EB4-8292-3848-C4C9-76F2359A5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45F78-348A-4B89-BC88-7BEF007042D6}" type="datetimeFigureOut">
              <a:rPr lang="en-IN" smtClean="0"/>
              <a:t>11-07-2024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884531-4D38-3E4A-F5B3-388B043CA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579409-8767-AD7E-C8CD-76BE7FCFC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EAB03-91B8-4092-ABAE-9A6EF2137E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3814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07C17-7A6C-C771-3448-8ABF2ED61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ABCF75-ACD4-CDA1-9BA6-92E59B0FA7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61F40-E281-93E9-8BFE-1A20FBD39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45F78-348A-4B89-BC88-7BEF007042D6}" type="datetimeFigureOut">
              <a:rPr lang="en-IN" smtClean="0"/>
              <a:t>11-07-2024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FA6A9-B875-5699-9090-7AF4BF664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7973A7-9427-855D-DAC0-6748ED82C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EAB03-91B8-4092-ABAE-9A6EF2137E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0745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14C648-0B9A-7761-0911-A5BD3A031A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DD7EA0-4ACE-9C03-4FA0-8CB0AE5213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01F2B7-8139-B904-2909-7E37A9EE4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45F78-348A-4B89-BC88-7BEF007042D6}" type="datetimeFigureOut">
              <a:rPr lang="en-IN" smtClean="0"/>
              <a:t>11-07-2024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32CC7E-C574-9A7F-30D5-8B741B94E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E8EFB-D51C-F252-8D03-8709A445A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EAB03-91B8-4092-ABAE-9A6EF2137E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0798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7E1F4B-1678-5357-0F8A-31D4D7F2D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A4D034-E9A4-E82F-6976-AF7CD2D316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355F68-862E-C9D4-3019-1DC3C759C6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C45F78-348A-4B89-BC88-7BEF007042D6}" type="datetimeFigureOut">
              <a:rPr lang="en-IN" smtClean="0"/>
              <a:t>11-07-2024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728CF3-17F0-D17A-6D96-D1C12DF028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F607F-962F-1A1F-FCD4-CCE22C3D56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EAB03-91B8-4092-ABAE-9A6EF2137E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457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55899-92B9-0908-47EE-5A61C6DE27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MODULE 1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E81A6D-D59C-E91D-36A8-FE5958551E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536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57AEE-DF3D-3602-CA92-836E3103A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950" y="257694"/>
            <a:ext cx="10913225" cy="5944207"/>
          </a:xfrm>
        </p:spPr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en-US" sz="2400" b="0" i="0" u="none" strike="noStrike" baseline="0" dirty="0">
                <a:latin typeface="Cambria" panose="02040503050406030204" pitchFamily="18" charset="0"/>
                <a:ea typeface="Cambria" panose="02040503050406030204" pitchFamily="18" charset="0"/>
              </a:rPr>
              <a:t>Every day people are faced with questions such as </a:t>
            </a:r>
          </a:p>
          <a:p>
            <a:pPr algn="l"/>
            <a:r>
              <a:rPr lang="en-US" sz="2400" b="0" i="0" u="none" strike="noStrike" baseline="0" dirty="0">
                <a:latin typeface="Cambria" panose="02040503050406030204" pitchFamily="18" charset="0"/>
                <a:ea typeface="Cambria" panose="02040503050406030204" pitchFamily="18" charset="0"/>
              </a:rPr>
              <a:t>“What route should I take to work today?” </a:t>
            </a:r>
          </a:p>
          <a:p>
            <a:pPr algn="l"/>
            <a:r>
              <a:rPr lang="en-US" sz="2400" b="0" i="0" u="none" strike="noStrike" baseline="0" dirty="0">
                <a:latin typeface="Cambria" panose="02040503050406030204" pitchFamily="18" charset="0"/>
                <a:ea typeface="Cambria" panose="02040503050406030204" pitchFamily="18" charset="0"/>
              </a:rPr>
              <a:t>“Should I switch to a different cell phone carrier?”</a:t>
            </a:r>
          </a:p>
          <a:p>
            <a:pPr algn="l"/>
            <a:r>
              <a:rPr lang="en-US" sz="2400" b="0" i="0" u="none" strike="noStrike" baseline="0" dirty="0">
                <a:latin typeface="Cambria" panose="02040503050406030204" pitchFamily="18" charset="0"/>
                <a:ea typeface="Cambria" panose="02040503050406030204" pitchFamily="18" charset="0"/>
              </a:rPr>
              <a:t> “How should I invest my money?” or “Will I get cancer?”</a:t>
            </a:r>
          </a:p>
          <a:p>
            <a:pPr marL="0" indent="0" algn="l">
              <a:buNone/>
            </a:pPr>
            <a:r>
              <a:rPr lang="en-US" sz="1800" b="0" i="0" u="none" strike="noStrike" baseline="0" dirty="0"/>
              <a:t> </a:t>
            </a:r>
          </a:p>
          <a:p>
            <a:pPr marL="0" indent="0" algn="l">
              <a:buNone/>
            </a:pPr>
            <a:r>
              <a:rPr lang="en-US" b="0" i="0" u="none" strike="noStrike" baseline="0" dirty="0"/>
              <a:t>These questions indicate our desire to know future events, and we earnestly want to make the best </a:t>
            </a:r>
            <a:r>
              <a:rPr lang="en-IN" b="0" i="0" u="none" strike="noStrike" baseline="0" dirty="0"/>
              <a:t>decisions towards that future</a:t>
            </a:r>
            <a:r>
              <a:rPr lang="en-IN" sz="1800" b="0" i="0" u="none" strike="noStrike" baseline="0" dirty="0"/>
              <a:t>.</a:t>
            </a:r>
          </a:p>
          <a:p>
            <a:pPr marL="0" indent="0" algn="l">
              <a:buNone/>
            </a:pPr>
            <a:endParaRPr lang="en-IN" sz="1800" dirty="0"/>
          </a:p>
          <a:p>
            <a:pPr marL="0" indent="0" algn="l">
              <a:buNone/>
            </a:pPr>
            <a:endParaRPr lang="en-IN" sz="1800" dirty="0"/>
          </a:p>
          <a:p>
            <a:pPr algn="l"/>
            <a:r>
              <a:rPr lang="en-IN" b="0" i="0" u="none" strike="noStrike" baseline="0" dirty="0"/>
              <a:t>To aid in our </a:t>
            </a:r>
            <a:r>
              <a:rPr lang="en-US" b="0" i="0" u="none" strike="noStrike" baseline="0" dirty="0"/>
              <a:t>decision-making processes, we now turn to tools like Google to filter billions of web pages to find the most appropriate information for our queries.</a:t>
            </a:r>
          </a:p>
          <a:p>
            <a:pPr algn="l"/>
            <a:r>
              <a:rPr lang="en-US" b="0" i="0" u="none" strike="noStrike" baseline="0" dirty="0"/>
              <a:t> </a:t>
            </a:r>
            <a:r>
              <a:rPr lang="en-US" b="0" i="0" u="none" strike="noStrike" baseline="0" dirty="0">
                <a:solidFill>
                  <a:srgbClr val="FF0000"/>
                </a:solidFill>
              </a:rPr>
              <a:t>WebMD</a:t>
            </a:r>
            <a:r>
              <a:rPr lang="en-US" b="0" i="0" u="none" strike="noStrike" baseline="0" dirty="0"/>
              <a:t> to diagnose our illnesses based on our symptoms</a:t>
            </a:r>
          </a:p>
          <a:p>
            <a:pPr algn="l"/>
            <a:r>
              <a:rPr lang="en-US" b="0" i="0" u="none" strike="noStrike" baseline="0" dirty="0"/>
              <a:t> </a:t>
            </a:r>
            <a:r>
              <a:rPr lang="en-US" b="0" i="0" u="none" strike="noStrike" baseline="0" dirty="0">
                <a:solidFill>
                  <a:srgbClr val="FF0000"/>
                </a:solidFill>
              </a:rPr>
              <a:t>E*TRADE </a:t>
            </a:r>
            <a:r>
              <a:rPr lang="en-US" b="0" i="0" u="none" strike="noStrike" baseline="0" dirty="0"/>
              <a:t>to screen thousands of stocks and identify the best investments for our portfolios.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8001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5357E-E2A8-7994-598F-81D02AEA3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980901"/>
            <a:ext cx="11521440" cy="5478087"/>
          </a:xfrm>
        </p:spPr>
        <p:txBody>
          <a:bodyPr/>
          <a:lstStyle/>
          <a:p>
            <a:r>
              <a:rPr lang="en-US" sz="2800" b="1" i="0" u="none" strike="noStrike" baseline="0" dirty="0">
                <a:latin typeface="CMBX8"/>
              </a:rPr>
              <a:t>Predictive modeling</a:t>
            </a:r>
            <a:r>
              <a:rPr lang="en-US" sz="2800" b="0" i="0" u="none" strike="noStrike" baseline="0" dirty="0">
                <a:latin typeface="CMR8"/>
              </a:rPr>
              <a:t>: the process of developing a mathematical tool or model that generates an accurate prediction.</a:t>
            </a:r>
          </a:p>
          <a:p>
            <a:pPr algn="l"/>
            <a:r>
              <a:rPr lang="en-US" sz="2400" b="0" i="0" u="none" strike="noStrike" baseline="0" dirty="0"/>
              <a:t>While the primary interest of predictive modeling is to generate </a:t>
            </a:r>
            <a:r>
              <a:rPr lang="en-US" sz="2400" b="0" i="0" u="none" strike="noStrike" baseline="0" dirty="0">
                <a:solidFill>
                  <a:srgbClr val="FF0000"/>
                </a:solidFill>
              </a:rPr>
              <a:t>accurate predictions</a:t>
            </a:r>
            <a:r>
              <a:rPr lang="en-US" sz="2400" b="0" i="0" u="none" strike="noStrike" baseline="0" dirty="0"/>
              <a:t>.</a:t>
            </a:r>
          </a:p>
          <a:p>
            <a:pPr algn="l"/>
            <a:r>
              <a:rPr lang="en-US" sz="2400" b="0" i="0" u="none" strike="noStrike" baseline="0" dirty="0"/>
              <a:t> A secondary interest may be to interpret the model and understand why it works.</a:t>
            </a:r>
          </a:p>
          <a:p>
            <a:pPr algn="l"/>
            <a:r>
              <a:rPr lang="en-US" sz="2400" b="0" i="0" u="none" strike="noStrike" baseline="0" dirty="0"/>
              <a:t> The unfortunate reality is that as we push towards higher accuracy, models become more complex and their </a:t>
            </a:r>
            <a:r>
              <a:rPr lang="en-US" sz="2400" b="0" i="0" u="none" strike="noStrike" baseline="0" dirty="0">
                <a:solidFill>
                  <a:srgbClr val="FF0000"/>
                </a:solidFill>
              </a:rPr>
              <a:t>interpretability becomes more difficult. </a:t>
            </a:r>
          </a:p>
          <a:p>
            <a:pPr algn="l"/>
            <a:r>
              <a:rPr lang="en-US" sz="2400" b="0" i="0" u="none" strike="noStrike" baseline="0" dirty="0"/>
              <a:t>This is almost always the trade-off we make when prediction accuracy is the primary goal</a:t>
            </a:r>
            <a:r>
              <a:rPr lang="en-US" sz="1800" b="0" i="0" u="none" strike="noStrike" baseline="0" dirty="0">
                <a:latin typeface="CMR10"/>
              </a:rPr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8875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E1C17-8434-D0DF-8875-7C9D2709B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	PREDICTION VS 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98AB6-B9B2-8E12-9101-37B77CC61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823" y="1429789"/>
            <a:ext cx="11538064" cy="5228706"/>
          </a:xfrm>
        </p:spPr>
        <p:txBody>
          <a:bodyPr>
            <a:normAutofit/>
          </a:bodyPr>
          <a:lstStyle/>
          <a:p>
            <a:pPr algn="just"/>
            <a:r>
              <a:rPr lang="en-US" sz="3200" b="1" i="0" u="none" strike="noStrike" baseline="0" dirty="0">
                <a:latin typeface="CMBX8"/>
              </a:rPr>
              <a:t>Predictive modeling</a:t>
            </a:r>
            <a:r>
              <a:rPr lang="en-US" sz="3200" b="0" i="0" u="none" strike="noStrike" baseline="0" dirty="0">
                <a:latin typeface="CMR8"/>
              </a:rPr>
              <a:t>: the process of developing a mathematical tool or model that generates an accurate prediction.</a:t>
            </a:r>
          </a:p>
          <a:p>
            <a:pPr algn="just"/>
            <a:r>
              <a:rPr lang="en-US" sz="2800" b="0" i="0" u="none" strike="noStrike" baseline="0" dirty="0"/>
              <a:t>While the primary interest of predictive modeling is to generate </a:t>
            </a:r>
            <a:r>
              <a:rPr lang="en-US" sz="2800" b="0" i="0" u="none" strike="noStrike" baseline="0" dirty="0">
                <a:solidFill>
                  <a:srgbClr val="FF0000"/>
                </a:solidFill>
              </a:rPr>
              <a:t>accurate predictions</a:t>
            </a:r>
            <a:r>
              <a:rPr lang="en-US" sz="2800" b="0" i="0" u="none" strike="noStrike" baseline="0" dirty="0"/>
              <a:t>.</a:t>
            </a:r>
          </a:p>
          <a:p>
            <a:pPr algn="just"/>
            <a:r>
              <a:rPr lang="en-US" sz="2800" b="0" i="0" u="none" strike="noStrike" baseline="0" dirty="0"/>
              <a:t> A secondary interest may be to interpret the model and understand why it works.</a:t>
            </a:r>
          </a:p>
          <a:p>
            <a:pPr algn="just"/>
            <a:r>
              <a:rPr lang="en-US" sz="2800" b="0" i="0" u="none" strike="noStrike" baseline="0" dirty="0"/>
              <a:t> The unfortunate reality is that as we push towards higher accuracy, models become more complex and their </a:t>
            </a:r>
            <a:r>
              <a:rPr lang="en-US" sz="2800" b="0" i="0" u="none" strike="noStrike" baseline="0" dirty="0">
                <a:solidFill>
                  <a:srgbClr val="FF0000"/>
                </a:solidFill>
              </a:rPr>
              <a:t>interpretability becomes more difficult. </a:t>
            </a:r>
          </a:p>
          <a:p>
            <a:pPr algn="just"/>
            <a:r>
              <a:rPr lang="en-US" sz="2800" b="0" i="0" u="none" strike="noStrike" baseline="0" dirty="0"/>
              <a:t>This is almost always the trade-off we make when prediction accuracy is the primary goal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951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6659D-746C-3F09-1B77-14A256363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818" y="132369"/>
            <a:ext cx="11745884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Ingredients of Predictive Models</a:t>
            </a:r>
            <a:endParaRPr lang="en-IN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62FF5-B787-F8CF-304C-7C8EDD6D1A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509" y="1354975"/>
            <a:ext cx="11651673" cy="5261956"/>
          </a:xfrm>
        </p:spPr>
        <p:txBody>
          <a:bodyPr/>
          <a:lstStyle/>
          <a:p>
            <a:pPr algn="just"/>
            <a:r>
              <a:rPr lang="en-IN" b="0" u="none" strike="noStrike" baseline="0" dirty="0">
                <a:latin typeface="CMTI10"/>
              </a:rPr>
              <a:t>Relevant</a:t>
            </a:r>
            <a:r>
              <a:rPr lang="en-IN" b="0" i="1" u="none" strike="noStrike" baseline="0" dirty="0">
                <a:latin typeface="CMTI10"/>
              </a:rPr>
              <a:t> </a:t>
            </a:r>
            <a:r>
              <a:rPr lang="en-IN" b="0" i="0" u="none" strike="noStrike" baseline="0" dirty="0">
                <a:latin typeface="CMR10"/>
              </a:rPr>
              <a:t>data </a:t>
            </a:r>
            <a:r>
              <a:rPr lang="en-US" b="0" i="0" u="none" strike="noStrike" baseline="0" dirty="0">
                <a:latin typeface="CMR10"/>
              </a:rPr>
              <a:t>for the desired research objectives.</a:t>
            </a:r>
          </a:p>
          <a:p>
            <a:pPr algn="just"/>
            <a:r>
              <a:rPr lang="en-IN" b="0" i="0" u="none" strike="noStrike" baseline="0" dirty="0">
                <a:latin typeface="CMR10"/>
              </a:rPr>
              <a:t>Irrelevant information can </a:t>
            </a:r>
            <a:r>
              <a:rPr lang="en-US" b="0" i="0" u="none" strike="noStrike" baseline="0" dirty="0">
                <a:latin typeface="CMR10"/>
              </a:rPr>
              <a:t>drive down predictive performance of many models.</a:t>
            </a:r>
          </a:p>
          <a:p>
            <a:pPr algn="just"/>
            <a:r>
              <a:rPr lang="en-US" b="0" i="0" u="none" strike="noStrike" baseline="0" dirty="0">
                <a:latin typeface="CMR8"/>
              </a:rPr>
              <a:t>Predictive modeling is not a substitute for intuition, but rather a </a:t>
            </a:r>
            <a:r>
              <a:rPr lang="en-IN" b="0" i="0" u="none" strike="noStrike" baseline="0" dirty="0">
                <a:latin typeface="CMR8"/>
              </a:rPr>
              <a:t>complement”.</a:t>
            </a:r>
          </a:p>
          <a:p>
            <a:pPr algn="just"/>
            <a:r>
              <a:rPr lang="en-US" dirty="0">
                <a:latin typeface="CMR10"/>
              </a:rPr>
              <a:t>T</a:t>
            </a:r>
            <a:r>
              <a:rPr lang="en-US" b="0" i="0" u="none" strike="noStrike" baseline="0" dirty="0">
                <a:latin typeface="CMR10"/>
              </a:rPr>
              <a:t>he foundation of an effective predictive model is laid with </a:t>
            </a:r>
            <a:r>
              <a:rPr lang="en-US" b="0" i="1" u="none" strike="noStrike" baseline="0" dirty="0">
                <a:latin typeface="CMTI10"/>
              </a:rPr>
              <a:t>intuition </a:t>
            </a:r>
            <a:r>
              <a:rPr lang="en-US" b="0" i="0" u="none" strike="noStrike" baseline="0" dirty="0">
                <a:latin typeface="CMR10"/>
              </a:rPr>
              <a:t>and </a:t>
            </a:r>
            <a:r>
              <a:rPr lang="en-US" b="0" i="1" u="none" strike="noStrike" baseline="0" dirty="0">
                <a:latin typeface="CMTI10"/>
              </a:rPr>
              <a:t>deep knowledge of the problem context</a:t>
            </a:r>
            <a:r>
              <a:rPr lang="en-US" b="0" i="0" u="none" strike="noStrike" baseline="0" dirty="0">
                <a:latin typeface="CMR10"/>
              </a:rPr>
              <a:t>, which are entirely vital for driving decisions about model development. </a:t>
            </a:r>
          </a:p>
          <a:p>
            <a:pPr algn="just"/>
            <a:r>
              <a:rPr lang="en-US" b="0" i="0" u="none" strike="noStrike" baseline="0" dirty="0">
                <a:latin typeface="CMR10"/>
              </a:rPr>
              <a:t> The third ingredient is a </a:t>
            </a:r>
            <a:r>
              <a:rPr lang="en-US" b="0" i="1" u="none" strike="noStrike" baseline="0" dirty="0">
                <a:latin typeface="CMTI10"/>
              </a:rPr>
              <a:t>versatile </a:t>
            </a:r>
            <a:r>
              <a:rPr lang="en-US" b="0" i="0" u="none" strike="noStrike" baseline="0" dirty="0">
                <a:latin typeface="CMR10"/>
              </a:rPr>
              <a:t>computational toolbox which includes techniques for data pre-processing and visualization as well as a suite of modeling tools for handling a range of possible </a:t>
            </a:r>
            <a:r>
              <a:rPr lang="en-IN" b="0" i="0" u="none" strike="noStrike" baseline="0" dirty="0">
                <a:latin typeface="CMR10"/>
              </a:rPr>
              <a:t>scenarios.</a:t>
            </a:r>
            <a:endParaRPr lang="en-US" b="0" i="0" u="none" strike="noStrike" baseline="0" dirty="0">
              <a:latin typeface="CMR10"/>
            </a:endParaRPr>
          </a:p>
          <a:p>
            <a:pPr algn="l"/>
            <a:endParaRPr lang="en-US" sz="1800" b="0" i="0" u="none" strike="noStrike" baseline="0" dirty="0">
              <a:latin typeface="CMR10"/>
            </a:endParaRPr>
          </a:p>
        </p:txBody>
      </p:sp>
    </p:spTree>
    <p:extLst>
      <p:ext uri="{BB962C8B-B14F-4D97-AF65-F5344CB8AC3E}">
        <p14:creationId xmlns:p14="http://schemas.microsoft.com/office/powerpoint/2010/main" val="2547047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806EA-1A6A-9D85-E6A1-FC0382CD9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633" y="257695"/>
            <a:ext cx="11554691" cy="1047403"/>
          </a:xfrm>
        </p:spPr>
        <p:txBody>
          <a:bodyPr>
            <a:normAutofit/>
          </a:bodyPr>
          <a:lstStyle/>
          <a:p>
            <a:pPr algn="ctr"/>
            <a:r>
              <a:rPr lang="en-IN" sz="6000" b="1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Terminology</a:t>
            </a:r>
            <a:endParaRPr lang="en-IN" sz="6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E8BE6-1A88-321B-C8BD-FE4F566F4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2633" y="1305098"/>
            <a:ext cx="11554691" cy="5295207"/>
          </a:xfrm>
        </p:spPr>
        <p:txBody>
          <a:bodyPr>
            <a:noAutofit/>
          </a:bodyPr>
          <a:lstStyle/>
          <a:p>
            <a:pPr algn="l"/>
            <a:r>
              <a:rPr lang="en-US" sz="2000" b="0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terms </a:t>
            </a:r>
            <a:r>
              <a:rPr lang="en-US" sz="2000" b="0" i="1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sample</a:t>
            </a:r>
            <a:r>
              <a:rPr lang="en-US" sz="2000" b="0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000" b="0" i="1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point</a:t>
            </a:r>
            <a:r>
              <a:rPr lang="en-US" sz="2000" b="0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000" b="0" i="1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observation</a:t>
            </a:r>
            <a:r>
              <a:rPr lang="en-US" sz="2000" b="0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or </a:t>
            </a:r>
            <a:r>
              <a:rPr lang="en-US" sz="2000" b="0" i="1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instance </a:t>
            </a:r>
            <a:r>
              <a:rPr lang="en-US" sz="2000" b="0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 to a single, independent unit of data, such as a customer, patient, or compound.</a:t>
            </a:r>
          </a:p>
          <a:p>
            <a:pPr algn="l"/>
            <a:r>
              <a:rPr lang="en-US" sz="2000" b="0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term </a:t>
            </a:r>
            <a:r>
              <a:rPr lang="en-US" sz="2000" b="0" i="1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sample </a:t>
            </a:r>
            <a:r>
              <a:rPr lang="en-US" sz="2000" b="0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 also refer to a subset of data points, such as the </a:t>
            </a:r>
            <a:r>
              <a:rPr lang="en-IN" sz="2000" b="0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training set sample.</a:t>
            </a:r>
          </a:p>
          <a:p>
            <a:pPr algn="l"/>
            <a:r>
              <a:rPr lang="en-US" sz="2000" b="0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2000" b="0" i="1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training set </a:t>
            </a:r>
            <a:r>
              <a:rPr lang="en-US" sz="2000" b="0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consists of the data used to develop models while the </a:t>
            </a:r>
            <a:r>
              <a:rPr lang="en-US" sz="2000" b="0" i="1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 </a:t>
            </a:r>
            <a:r>
              <a:rPr lang="en-US" sz="2000" b="0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 </a:t>
            </a:r>
            <a:r>
              <a:rPr lang="en-US" sz="2000" b="0" i="1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validation </a:t>
            </a:r>
            <a:r>
              <a:rPr lang="en-US" sz="2000" b="0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sets are used solely for evaluating the performance of a final </a:t>
            </a:r>
            <a:r>
              <a:rPr lang="en-IN" sz="2000" b="0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 of candidate models.</a:t>
            </a:r>
          </a:p>
          <a:p>
            <a:pPr algn="l"/>
            <a:r>
              <a:rPr lang="en-US" sz="2000" b="0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2000" b="0" i="1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predictors</a:t>
            </a:r>
            <a:r>
              <a:rPr lang="en-US" sz="2000" b="0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000" b="0" i="1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independent variables</a:t>
            </a:r>
            <a:r>
              <a:rPr lang="en-US" sz="2000" b="0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000" b="0" i="1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attributes</a:t>
            </a:r>
            <a:r>
              <a:rPr lang="en-US" sz="2000" b="0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or </a:t>
            </a:r>
            <a:r>
              <a:rPr lang="en-US" sz="2000" b="0" i="1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descriptors </a:t>
            </a:r>
            <a:r>
              <a:rPr lang="en-US" sz="2000" b="0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 the data used as input for the prediction equation.</a:t>
            </a:r>
          </a:p>
          <a:p>
            <a:pPr algn="l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Independent variable are variables that we change.</a:t>
            </a:r>
            <a:endParaRPr lang="en-US" sz="2000" b="0" i="0" u="none" strike="noStrike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2000" b="0" i="1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Outcome</a:t>
            </a:r>
            <a:r>
              <a:rPr lang="en-US" sz="2000" b="0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000" b="0" i="1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dependent variable</a:t>
            </a:r>
            <a:r>
              <a:rPr lang="en-US" sz="2000" b="0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000" b="0" i="1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</a:t>
            </a:r>
            <a:r>
              <a:rPr lang="en-US" sz="2000" b="0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000" b="0" i="1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</a:t>
            </a:r>
            <a:r>
              <a:rPr lang="en-US" sz="2000" b="0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or </a:t>
            </a:r>
            <a:r>
              <a:rPr lang="en-US" sz="2000" b="0" i="1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response </a:t>
            </a:r>
            <a:r>
              <a:rPr lang="en-US" sz="2000" b="0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 to the outcome event or quantity that is being predicted.</a:t>
            </a:r>
          </a:p>
          <a:p>
            <a:pPr algn="l"/>
            <a:r>
              <a:rPr lang="en-US" sz="2000" b="0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Dependent Variable is what you measure.</a:t>
            </a:r>
          </a:p>
          <a:p>
            <a:pPr algn="l"/>
            <a:r>
              <a:rPr lang="en-US" sz="2000" b="0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 variables are that don’t change that keep the results accurate.</a:t>
            </a:r>
          </a:p>
          <a:p>
            <a:pPr algn="l"/>
            <a:r>
              <a:rPr lang="en-US" sz="2000" b="0" i="1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Continuous </a:t>
            </a:r>
            <a:r>
              <a:rPr lang="en-US" sz="2000" b="0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have natural, numeric scales. Blood pressure, the cost of an item,  are all continuous. </a:t>
            </a:r>
            <a:endParaRPr lang="en-IN" sz="2000" b="0" i="0" u="none" strike="noStrike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2000" b="0" i="1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Categorical </a:t>
            </a:r>
            <a:r>
              <a:rPr lang="en-US" sz="2000" b="0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data, otherwise known as </a:t>
            </a:r>
            <a:r>
              <a:rPr lang="en-US" sz="2000" b="0" i="1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nominal</a:t>
            </a:r>
            <a:r>
              <a:rPr lang="en-US" sz="2000" b="0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000" b="0" i="1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attribute</a:t>
            </a:r>
            <a:r>
              <a:rPr lang="en-US" sz="2000" b="0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or </a:t>
            </a:r>
            <a:r>
              <a:rPr lang="en-US" sz="2000" b="0" i="1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discrete </a:t>
            </a:r>
            <a:r>
              <a:rPr lang="en-US" sz="2000" b="0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data, take on specific values that have no scale. Credit status (“good” or “bad”) or color (“</a:t>
            </a:r>
            <a:r>
              <a:rPr lang="en-US" sz="2000" b="0" i="0" u="none" strike="noStrike" baseline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red,”“blue</a:t>
            </a:r>
            <a:r>
              <a:rPr lang="en-US" sz="2000" b="0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,” etc.) are examples of these data..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6283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0B175-4A08-44C3-DD92-0C66B0503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7-Steps Predictive </a:t>
            </a:r>
            <a:r>
              <a:rPr lang="en-IN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Modeling</a:t>
            </a:r>
            <a:r>
              <a:rPr lang="en-IN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 Process</a:t>
            </a:r>
            <a:br>
              <a:rPr lang="en-IN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7A817-975A-2652-6526-A3AED8961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Step 1: Understand Business Objective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Step 2: Define </a:t>
            </a:r>
            <a:r>
              <a:rPr lang="en-IN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Modeling</a:t>
            </a:r>
            <a:r>
              <a:rPr lang="en-IN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 Goals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Step 3: Select/Get Data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Step 4: Prepare Data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Step 5: </a:t>
            </a:r>
            <a:r>
              <a:rPr lang="en-IN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Analyze</a:t>
            </a:r>
            <a:r>
              <a:rPr lang="en-IN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 and Transform Variables. Random Sampling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Step 6: Model Selection and Develop Models (Training)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Step 7: Validate Models (Testing), Optimize and Profitability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9836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C32BC1A-5302-02EC-21E2-CD3401E1C0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2015" y="116378"/>
            <a:ext cx="10997738" cy="6517178"/>
          </a:xfrm>
        </p:spPr>
      </p:pic>
    </p:spTree>
    <p:extLst>
      <p:ext uri="{BB962C8B-B14F-4D97-AF65-F5344CB8AC3E}">
        <p14:creationId xmlns:p14="http://schemas.microsoft.com/office/powerpoint/2010/main" val="1549758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D5835-AA6A-D9DA-4032-0F548E2F5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Step 1: Business Objective(s)</a:t>
            </a:r>
            <a:b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7FEE3-AF3B-DD7A-7F3C-A582E44991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Target Marketing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Risk &amp; Fraud Management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Strategy Implementation and Change Management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Operational Efficiency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Increase Customer Experience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Manage Marketing Campaigns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Forecast Revenue or Loss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Workforce Management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Financial Modeling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Churn Management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Social Media Influencers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8268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D653F-9952-B766-3309-27B716904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451" y="157943"/>
            <a:ext cx="10863349" cy="1532746"/>
          </a:xfrm>
        </p:spPr>
        <p:txBody>
          <a:bodyPr>
            <a:normAutofit fontScale="90000"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Step 1.1: Business Objectives - Asking Right Questions!</a:t>
            </a:r>
            <a:b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7B416-5968-588F-F9C2-AAD3F5F62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19" y="1479665"/>
            <a:ext cx="11554691" cy="5220392"/>
          </a:xfrm>
        </p:spPr>
        <p:txBody>
          <a:bodyPr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It is very important to clearly define the goals based on business objective.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Do you want to understand the characteristics of customers?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Do you want to make unprofitable customers profitable?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Do you want to understand what driving sales?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Do you want to win-back lost customers?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Do you want to increase sales?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Do you want to reduce customer churn?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Do you want to reduce cost of production or operation?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Do you want to target new customers?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Do you want to identify probable credit default customers?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Do you want to know X-sell/Upsell opportunities?</a:t>
            </a:r>
          </a:p>
          <a:p>
            <a:pPr marL="0" indent="0" algn="l">
              <a:buNone/>
            </a:pPr>
            <a:endParaRPr lang="en-US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/>
            </a:endParaRPr>
          </a:p>
          <a:p>
            <a:pPr marL="0" indent="0" algn="l">
              <a:buNone/>
            </a:pP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Businesses want to find answers all such important questions and make decisions based on data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10753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09209-D1A1-5C7D-D550-EA9E76F4F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258" y="116379"/>
            <a:ext cx="11812386" cy="1574310"/>
          </a:xfrm>
        </p:spPr>
        <p:txBody>
          <a:bodyPr>
            <a:normAutofit fontScale="90000"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Step 2: Define Goals - translate business objective into analytics goal</a:t>
            </a:r>
            <a:b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67166-555E-B9B3-A1C3-6B056B8BD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257" y="1421478"/>
            <a:ext cx="11696007" cy="5203766"/>
          </a:xfrm>
        </p:spPr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Based on the business questions we want to answer, translate the business objective into Analytic terms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Profile Analysis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Segmentations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Response Modeling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Risk Modeling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Activation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Cross-Sell and Upsell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Attrition/Churn Modeling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Net Present Value(NPV)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Customer Life Time Value (CLTV)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71173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37E2D-E737-F8EC-E146-190858AF2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059" y="173933"/>
            <a:ext cx="11745882" cy="1325563"/>
          </a:xfrm>
        </p:spPr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Step 3: Selecting Data for Modeling</a:t>
            </a:r>
            <a:b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9E58B-7A7C-2E69-DC74-F3D599D22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059" y="1579418"/>
            <a:ext cx="11745882" cy="5104649"/>
          </a:xfrm>
        </p:spPr>
        <p:txBody>
          <a:bodyPr/>
          <a:lstStyle/>
          <a:p>
            <a:pPr marL="0" indent="0">
              <a:buNone/>
            </a:pP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Selecting best data for target modeling requires thorough understanding of the market, business and the objective. The model is only as good and relevant as the underlying data: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409FDE-C25F-8A4A-B938-A942CFCA7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950" y="3130636"/>
            <a:ext cx="10964486" cy="349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2184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0B23C-05C6-26D7-0957-D2A5DFAD8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Step3.1: A Case Study - Target Marketing</a:t>
            </a:r>
            <a:b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A62C3-92A8-B7BB-9D2C-81FD953A7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Typical data required for Target Marketing</a:t>
            </a:r>
          </a:p>
          <a:p>
            <a:pPr marL="0" indent="0">
              <a:buNone/>
            </a:pPr>
            <a:br>
              <a:rPr lang="en-US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05DC79-1155-2BA1-90BE-2459FD055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2413000"/>
            <a:ext cx="9005455" cy="3031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0864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2E599-339B-9000-5ACE-D800A2200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Step 4: Prepare Data</a:t>
            </a:r>
            <a:br>
              <a:rPr lang="en-IN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25562-DFAE-C528-70C5-42A847B91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In this step we need prepare data into right format for analysis and the tool you may want use.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Do initial cleaning up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Define Variables and Create Data Dictionary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Joining/Appending multiple datasets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Validate for correctness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Produce Basic Summary Reports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03058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80917-5483-823E-2C6F-FD06BD376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Step 5: Analyze and Transform Variables</a:t>
            </a:r>
            <a:b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8B003-D00D-C733-78DC-DFEAD192B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953" y="1280160"/>
            <a:ext cx="11563003" cy="5278582"/>
          </a:xfrm>
        </p:spPr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en-US" sz="1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Once data is in right shape and perform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univariate analysis</a:t>
            </a:r>
            <a:r>
              <a:rPr lang="en-US" sz="1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: to check the distribution of each of the variables and features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multivariate analyses</a:t>
            </a:r>
            <a:r>
              <a:rPr lang="en-US" sz="1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: to check relationships with other variables and with dependent variables</a:t>
            </a:r>
          </a:p>
          <a:p>
            <a:pPr marL="0" indent="0" algn="l">
              <a:buNone/>
            </a:pPr>
            <a:endParaRPr lang="en-US" sz="1800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/>
            </a:endParaRPr>
          </a:p>
          <a:p>
            <a:pPr marL="0" indent="0" algn="l">
              <a:buNone/>
            </a:pPr>
            <a:r>
              <a:rPr lang="en-US" sz="1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Based on type of model you are going to use, you may need to transform the variables using one of the approaches</a:t>
            </a:r>
          </a:p>
          <a:p>
            <a:pPr marL="0" indent="0" algn="l">
              <a:buNone/>
            </a:pPr>
            <a:endParaRPr lang="en-US" sz="1800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/>
            </a:endParaRPr>
          </a:p>
          <a:p>
            <a:pPr algn="l">
              <a:buFont typeface="+mj-lt"/>
              <a:buAutoNum type="arabicPeriod"/>
            </a:pPr>
            <a:r>
              <a:rPr lang="en-US" sz="18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Bining</a:t>
            </a:r>
            <a:r>
              <a:rPr lang="en-US" sz="1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 approach: create distinct groups</a:t>
            </a:r>
          </a:p>
          <a:p>
            <a:pPr algn="l">
              <a:buFont typeface="+mj-lt"/>
              <a:buAutoNum type="arabicPeriod"/>
            </a:pPr>
            <a:r>
              <a:rPr lang="en-US" sz="1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Transformation: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Logarithmic, Polynomial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Square Root, Inverse, Square</a:t>
            </a:r>
          </a:p>
          <a:p>
            <a:pPr algn="l">
              <a:buFont typeface="+mj-lt"/>
              <a:buAutoNum type="arabicPeriod" startAt="3"/>
            </a:pPr>
            <a:r>
              <a:rPr lang="en-US" sz="1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Extreme value (outlier) treatments</a:t>
            </a:r>
          </a:p>
          <a:p>
            <a:pPr algn="l">
              <a:buFont typeface="+mj-lt"/>
              <a:buAutoNum type="arabicPeriod" startAt="3"/>
            </a:pPr>
            <a:r>
              <a:rPr lang="en-US" sz="1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Missing Value Treatment</a:t>
            </a:r>
          </a:p>
          <a:p>
            <a:pPr algn="l">
              <a:buFont typeface="+mj-lt"/>
              <a:buAutoNum type="arabicPeriod" startAt="3"/>
            </a:pPr>
            <a:r>
              <a:rPr lang="en-US" sz="1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Dimension Reduction - Information Value(IV) and Weight of Evidence(</a:t>
            </a:r>
            <a:r>
              <a:rPr lang="en-US" sz="18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WoE</a:t>
            </a:r>
            <a:r>
              <a:rPr lang="en-US" sz="1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), Variable Clustering, PCA, Factor Analysis, etc.</a:t>
            </a:r>
          </a:p>
          <a:p>
            <a:pPr marL="0" indent="0">
              <a:buNone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2807784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02F1F-2D0B-A668-588B-7FB807EFA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015" y="365125"/>
            <a:ext cx="10821785" cy="956599"/>
          </a:xfrm>
        </p:spPr>
        <p:txBody>
          <a:bodyPr>
            <a:normAutofit fontScale="90000"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Step 5.1: Random Sampling (Train and Test)</a:t>
            </a:r>
            <a:b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DE5CA0-91A2-CD02-A381-66FAEB47C8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1398" y="1321724"/>
            <a:ext cx="9547577" cy="377994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62ADD7-CE70-3AFE-9B89-D1AE705D1AFB}"/>
              </a:ext>
            </a:extLst>
          </p:cNvPr>
          <p:cNvSpPr txBox="1"/>
          <p:nvPr/>
        </p:nvSpPr>
        <p:spPr>
          <a:xfrm>
            <a:off x="280978" y="5237215"/>
            <a:ext cx="1163004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Training Sample: Model will be developed on this sample. Typically 50%, 60%, 70% or 80% of the data goes here.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Test Sample: Model performances will be validated on this sample. Typically 50%, 40%, 30% or 20% of the data goes here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94884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9652F-2079-9568-163A-962DDB25B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365126"/>
            <a:ext cx="11729258" cy="748780"/>
          </a:xfrm>
        </p:spPr>
        <p:txBody>
          <a:bodyPr>
            <a:normAutofit fontScale="90000"/>
          </a:bodyPr>
          <a:lstStyle/>
          <a:p>
            <a:r>
              <a:rPr lang="en-IN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Step 6.1: Model Selection</a:t>
            </a:r>
            <a:br>
              <a:rPr lang="en-IN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F8FAC-2922-780E-C8C3-D38F66FA6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135" y="1113906"/>
            <a:ext cx="11568545" cy="5378968"/>
          </a:xfrm>
        </p:spPr>
        <p:txBody>
          <a:bodyPr>
            <a:normAutofit fontScale="850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General linear model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Non-Linear Regression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Linear Regression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Lasso Regression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Ridge Regression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Non-Negative Garrotte Regression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Percentage Regression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Quantile Regression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Non-parametric regression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Logistic Regression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Tobit Regression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Probit Regression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Classification/Decision Trees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67134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F5184-D380-3DDB-E212-38F61C2C4E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323" y="340822"/>
            <a:ext cx="11330247" cy="5836141"/>
          </a:xfrm>
        </p:spPr>
        <p:txBody>
          <a:bodyPr>
            <a:normAutofit fontScale="925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Random Forest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Support Vector Machine (SVM)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Distance metric learning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Bayesian methods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Graphical Models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Neural Networks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Genetic Algorithm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The Hazard and Survival Functions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Time Series Models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Signal Processing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Clustering Techniques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Market Basket Analysis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Frequent Itemset Mining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Association Rule Mining etc.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26721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643DF-2F9C-7B7B-E16E-94802D78D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007" y="365125"/>
            <a:ext cx="11770822" cy="1325563"/>
          </a:xfrm>
        </p:spPr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Step 6.2: Build/Develop/Train Models</a:t>
            </a:r>
            <a:b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4FE84-F66A-E9EE-8EC2-7807A034D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007" y="1446415"/>
            <a:ext cx="11704320" cy="5220392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Validate the assumptions of the chosen algorithm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Check for Multicollinearity and Redundancies of Independent Variables (Features). Sometime in Machine Learning, we are keen on accuracies of the models and hence we may not perform these checks!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Develop/Train Model on Training Sample, which is 80%/70%/60%/50% of the available data(Population)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Check Model performance - Error, Accuracy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54694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9985BC-A6CC-BF2D-D0D9-0A0579E2BF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3863" y="1043922"/>
            <a:ext cx="11355387" cy="4803494"/>
          </a:xfrm>
        </p:spPr>
      </p:pic>
    </p:spTree>
    <p:extLst>
      <p:ext uri="{BB962C8B-B14F-4D97-AF65-F5344CB8AC3E}">
        <p14:creationId xmlns:p14="http://schemas.microsoft.com/office/powerpoint/2010/main" val="25622798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30374-6CA5-3248-40C6-B6007DFE5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Step 7: Validate/Test Models</a:t>
            </a:r>
            <a:b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80B1A-5105-D5A9-13C5-256CD3178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451" y="1296784"/>
            <a:ext cx="11321934" cy="5444837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Score and Predict using Test Sample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Check for the robustness and stability of the model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Check Model Performance: Accuracy, ROC, AUC, KS, GINI etc.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highlight>
                  <a:srgbClr val="FFFFFF"/>
                </a:highlight>
                <a:latin typeface="Helvetica Neue"/>
              </a:rPr>
              <a:t>P</a:t>
            </a: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erform Cross Validation to increase accuracy/performance of the models</a:t>
            </a:r>
          </a:p>
          <a:p>
            <a:pPr marL="0" indent="0">
              <a:buNone/>
            </a:pP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179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37D27-D51D-93DB-537F-5B50BFA1D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D2251-2DE0-42D3-4888-DC1C1931F0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67911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0FBB7-D825-D5C4-C7EC-F52A4037A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0DF9D-797F-A429-5156-25A3A3168F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6077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</TotalTime>
  <Words>1416</Words>
  <Application>Microsoft Office PowerPoint</Application>
  <PresentationFormat>Widescreen</PresentationFormat>
  <Paragraphs>153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Arial</vt:lpstr>
      <vt:lpstr>Calibri</vt:lpstr>
      <vt:lpstr>Calibri Light</vt:lpstr>
      <vt:lpstr>Cambria</vt:lpstr>
      <vt:lpstr>CMBX8</vt:lpstr>
      <vt:lpstr>CMR10</vt:lpstr>
      <vt:lpstr>CMR8</vt:lpstr>
      <vt:lpstr>CMTI10</vt:lpstr>
      <vt:lpstr>Helvetica Neue</vt:lpstr>
      <vt:lpstr>Office Theme</vt:lpstr>
      <vt:lpstr>MODULE 1</vt:lpstr>
      <vt:lpstr>PowerPoint Presentation</vt:lpstr>
      <vt:lpstr>PowerPoint Presentation</vt:lpstr>
      <vt:lpstr> PREDICTION VS INTERPRETATION</vt:lpstr>
      <vt:lpstr>Key Ingredients of Predictive Models</vt:lpstr>
      <vt:lpstr>Terminology</vt:lpstr>
      <vt:lpstr>7-Steps Predictive Modeling Process </vt:lpstr>
      <vt:lpstr>PowerPoint Presentation</vt:lpstr>
      <vt:lpstr>Step 1: Business Objective(s) </vt:lpstr>
      <vt:lpstr>Step 1.1: Business Objectives - Asking Right Questions! </vt:lpstr>
      <vt:lpstr>Step 2: Define Goals - translate business objective into analytics goal </vt:lpstr>
      <vt:lpstr>Step 3: Selecting Data for Modeling </vt:lpstr>
      <vt:lpstr>Step3.1: A Case Study - Target Marketing </vt:lpstr>
      <vt:lpstr>Step 4: Prepare Data </vt:lpstr>
      <vt:lpstr>Step 5: Analyze and Transform Variables </vt:lpstr>
      <vt:lpstr>Step 5.1: Random Sampling (Train and Test) </vt:lpstr>
      <vt:lpstr>Step 6.1: Model Selection </vt:lpstr>
      <vt:lpstr>PowerPoint Presentation</vt:lpstr>
      <vt:lpstr>Step 6.2: Build/Develop/Train Models </vt:lpstr>
      <vt:lpstr>PowerPoint Presentation</vt:lpstr>
      <vt:lpstr>Step 7: Validate/Test Models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Anjaly Aneesh</dc:creator>
  <cp:lastModifiedBy>Anjaly Aneesh</cp:lastModifiedBy>
  <cp:revision>4</cp:revision>
  <dcterms:created xsi:type="dcterms:W3CDTF">2024-07-04T05:12:28Z</dcterms:created>
  <dcterms:modified xsi:type="dcterms:W3CDTF">2024-07-11T05:40:55Z</dcterms:modified>
</cp:coreProperties>
</file>