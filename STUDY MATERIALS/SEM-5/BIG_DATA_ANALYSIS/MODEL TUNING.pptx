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6" r:id="rId20"/>
    <p:sldId id="276" r:id="rId21"/>
    <p:sldId id="277" r:id="rId22"/>
    <p:sldId id="278" r:id="rId23"/>
    <p:sldId id="279" r:id="rId24"/>
    <p:sldId id="280" r:id="rId25"/>
    <p:sldId id="284" r:id="rId26"/>
    <p:sldId id="285" r:id="rId27"/>
    <p:sldId id="281" r:id="rId28"/>
    <p:sldId id="287" r:id="rId29"/>
    <p:sldId id="288" r:id="rId30"/>
    <p:sldId id="283" r:id="rId31"/>
    <p:sldId id="286" r:id="rId32"/>
    <p:sldId id="282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87E5-B495-E10B-CF79-59A94F966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1CBF7-CFFC-8AAE-A5E2-A4A5989EB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8757A-AA33-FDB6-992E-013B7D3E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A68D7-A413-3906-B636-413C4724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F58B0-4421-F39B-C36A-70C8EF1C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48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7C63-D349-941F-985B-5CF3B6C7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0A5E-1985-CC27-EBC9-C70A7DC7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F95D4-CB01-F239-1F62-0CD9142D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CCC9-026A-EB93-A971-9A87F8FF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9AF13-6968-F4D5-2F04-5B9713B2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2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C0DA-B355-ACAA-4C8C-6FA0312E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15E4C-B28A-41D2-0B1D-29A8E9DC3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4BBED-DC0B-51C7-E893-E1D8137D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B308B-44C4-3DCB-74BD-2009EB73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35435-7346-86E5-D1BF-4AD9BA3F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16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30D7-753E-E867-EE9F-CAE8B7EA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6BE2-D30F-3888-0EF7-07ABF1783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7AC91-7922-A28A-7200-9CD55095B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50AE6-85FA-F9AA-E26B-7FEE1337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4F610-D582-2E6F-F3E6-5AB80972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75717-7CCA-D6DE-F324-1C9EBB66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22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C23E-B0F6-0DAA-2612-B4A4C5BA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AAAF3-02E7-8373-E111-9D0626D1A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5E6F2-867D-6E14-385E-15810BD23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63207-A033-6C45-1297-CB5FB0E70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846AA-0AEE-E1A1-0564-60218B5BC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ECB84-B350-8609-C4CD-1063DA30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238CA-7448-3C89-23C7-9086D38B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6073D-F112-CB5A-B694-3E6E1C5B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36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FDCC-047D-61C6-3A17-23FF9B33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05CFA-0E48-36E7-C197-1663FF67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6FDFE-5E4A-41C8-0231-D3F3FE3F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79645-8D54-2D1D-4C69-67052CDB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72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A8860-E161-CD17-0082-70DCF6E26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128E7-9190-8345-EC5B-FF7E933E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E84DD-71CC-4A37-F031-8D15D78B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8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615A-13E5-99EA-29DF-BEA6E892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0D63-7EB7-1BC1-951F-644E02564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47337-DB28-FBAB-6A0A-38A723B40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10370-69AF-3803-38AE-401FD247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5BFD9-B2B4-3B0F-0992-7636E2BF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DA918-0588-01CE-D383-7725BB75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14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3796-35C1-BCEA-22B0-595592EE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2F4E1D-E840-FA35-063B-66BC243D2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6F863-6FEF-E600-58EB-39ADA1C17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8B937-0D5A-6D88-F747-55200CC8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B7897-2791-4214-B3A5-538115C8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4F95B-44AF-F3F0-B6F8-AC99B130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567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EFF8-12CF-D673-130C-B890C161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C7454-BD55-69EB-F319-D579C8EB1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A49E6-AF5E-03DD-415B-03E0BE8E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FE2A-938D-7166-05EE-7DE7E830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8D11A-8BE1-A539-A008-398864C3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83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ED517-DF35-4581-0FD2-11B31E2E8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2DE07-385A-A34A-5AEE-3AEDFA221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1DD3-77D2-DF6D-7673-F90511A5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23D9C-6FD5-5C1F-62EA-DCD9F7E4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21B7-E121-1037-145C-D08FB1A2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45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734CD-6DB7-5F49-F3AD-39B46BFE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E79C6-CAEC-024D-8816-0D68575BA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CF7C-009D-ED9A-1104-1551F2EF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298E3-D99B-4F3A-82E2-36786AB8FD24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BA5C3-A2F1-6B4C-EA6F-4962688B2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AFC37-1C57-879E-4F8D-2F6A4E15B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80D7-3DE0-4963-A2D7-70B0D1351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60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1F0F-F642-50B1-7210-1A4AF25FD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MODEL TUNING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8A1BE-5BD8-76C7-614A-5419C74ADD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35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69430-A0A2-5D4D-1A6B-8F2A4A789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5" y="357447"/>
            <a:ext cx="11504815" cy="614310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When we talk about the predictive model, we actually talk about how well it performs and its accuracy which is known as prediction errors.</a:t>
            </a:r>
          </a:p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A model is said to be a good machine learning model if it generalizes any new input data from the problem domain in a proper way. </a:t>
            </a:r>
          </a:p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This helps us to make predictions about future data.</a:t>
            </a:r>
          </a:p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Now, suppose we want to check how well our machine learning model learns and generalizes to the new data. </a:t>
            </a:r>
          </a:p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For that, we have overfitting and underfitting, which are majorly responsible for the poor performances of the machine learning algorithms.</a:t>
            </a:r>
          </a:p>
          <a:p>
            <a:pPr marL="0" indent="0" algn="just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0420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F3F7-D8B1-917B-7EF1-9FE7F4D7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  <a:t>Bias and Variance</a:t>
            </a:r>
            <a:b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12BE9-3489-4721-BE3E-D3EB2C4B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Bias refers to the error due to overly simplistic assumptions in the learning algorithm.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These assumptions make the model easier to comprehend and learn but might not capture the underlying complexities of the data.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It is the error due to the model’s inability to represent the true relationship between input and output accurately.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 When a model has poor performance both on the training and testing data means high bias because of the simple model, indicating underfitting.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94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34877-2EDC-DA96-78D0-E36E7DD87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23" y="290944"/>
            <a:ext cx="11396749" cy="6384175"/>
          </a:xfrm>
        </p:spPr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Variance, on the other hand, is the error due to the model’s sensitivity to fluctuations in the training data. </a:t>
            </a:r>
          </a:p>
          <a:p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It’s the variability of the model’s predictions for different instances of training data. </a:t>
            </a:r>
          </a:p>
          <a:p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High variance occurs when a model learns the training data’s noise and random fluctuations rather than the underlying pattern.</a:t>
            </a:r>
          </a:p>
          <a:p>
            <a:r>
              <a:rPr lang="en-US" sz="32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 As a result, the model performs well on the training data but poorly on the testing data, indicating overfitting.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4443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B171DC-1EFA-67B0-18F5-E3026820F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759" y="823038"/>
            <a:ext cx="8907118" cy="3839111"/>
          </a:xfrm>
        </p:spPr>
      </p:pic>
    </p:spTree>
    <p:extLst>
      <p:ext uri="{BB962C8B-B14F-4D97-AF65-F5344CB8AC3E}">
        <p14:creationId xmlns:p14="http://schemas.microsoft.com/office/powerpoint/2010/main" val="279859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64E6-AD1F-DCC2-F405-6FF2C113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83" y="99118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  <a:t>Underfitting in Machine Learning</a:t>
            </a:r>
            <a:b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F97C-D7B2-6629-3389-DD7217928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4" y="1346662"/>
            <a:ext cx="11288683" cy="5146213"/>
          </a:xfrm>
        </p:spPr>
        <p:txBody>
          <a:bodyPr>
            <a:noAutofit/>
          </a:bodyPr>
          <a:lstStyle/>
          <a:p>
            <a:pPr algn="l" rtl="0" fontAlgn="base"/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A predictive model or a machine learning algorithm is said to have underfitting when a model is too simple to capture data complexities.</a:t>
            </a:r>
          </a:p>
          <a:p>
            <a:pPr algn="l" rtl="0" fontAlgn="base"/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 It represents the inability of the model to learn the training data effectively result in poor performance both on the training and testing data.</a:t>
            </a:r>
          </a:p>
          <a:p>
            <a:pPr algn="l" rtl="0" fontAlgn="base"/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 In simple terms, an underfit model’s are inaccurate, especially when applied to new, unseen examples.</a:t>
            </a:r>
          </a:p>
          <a:p>
            <a:pPr algn="l" rtl="0" fontAlgn="base"/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 It mainly happens when we uses very simple model with overly simplified assumptions.</a:t>
            </a:r>
          </a:p>
          <a:p>
            <a:pPr algn="l" rtl="0" fontAlgn="base"/>
            <a:r>
              <a:rPr lang="en-US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 To address underfitting problem of the model, we need to use more complex models, with enhanced feature representation, and less regularization.</a:t>
            </a:r>
          </a:p>
          <a:p>
            <a:pPr marL="0" indent="0" algn="l" rtl="0" fontAlgn="base">
              <a:buNone/>
            </a:pPr>
            <a:endParaRPr lang="en-US" sz="2400" b="0" i="0" dirty="0">
              <a:solidFill>
                <a:srgbClr val="273239"/>
              </a:solidFill>
              <a:effectLst/>
              <a:highlight>
                <a:srgbClr val="FFFFFF"/>
              </a:highlight>
            </a:endParaRPr>
          </a:p>
          <a:p>
            <a:pPr algn="l" rtl="0" fontAlgn="base"/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Note: The underfitting model has High bias and low variance.</a:t>
            </a:r>
            <a:endParaRPr lang="en-US" sz="2400" b="0" i="0" dirty="0">
              <a:solidFill>
                <a:srgbClr val="273239"/>
              </a:solidFill>
              <a:effectLst/>
              <a:highlight>
                <a:srgbClr val="FFFFFF"/>
              </a:highlight>
            </a:endParaRPr>
          </a:p>
          <a:p>
            <a:pPr marL="0" indent="0">
              <a:buNone/>
            </a:pP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1910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4EE7-3D6C-6144-6399-9BEC8172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282633"/>
            <a:ext cx="11571316" cy="6192982"/>
          </a:xfrm>
        </p:spPr>
        <p:txBody>
          <a:bodyPr>
            <a:normAutofit fontScale="92500" lnSpcReduction="10000"/>
          </a:bodyPr>
          <a:lstStyle/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Reasons for Underfitting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The model is too simple, So it may be not capable to represent the complexities in the data.</a:t>
            </a:r>
          </a:p>
          <a:p>
            <a:pPr algn="l" fontAlgn="base">
              <a:buFont typeface="+mj-lt"/>
              <a:buAutoNum type="arabicPeriod" startAt="2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The input features which is used to train the model is not the adequate representations of underlying factors influencing the target variable.</a:t>
            </a:r>
          </a:p>
          <a:p>
            <a:pPr algn="l" fontAlgn="base">
              <a:buFont typeface="+mj-lt"/>
              <a:buAutoNum type="arabicPeriod" startAt="3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The size of the training dataset used is not enough.</a:t>
            </a:r>
          </a:p>
          <a:p>
            <a:pPr algn="l" fontAlgn="base">
              <a:buFont typeface="+mj-lt"/>
              <a:buAutoNum type="arabicPeriod" startAt="4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Excessive regularization are used to prevent the overfitting, which constraint the model to capture the data well.</a:t>
            </a:r>
          </a:p>
          <a:p>
            <a:pPr algn="l" fontAlgn="base">
              <a:buFont typeface="+mj-lt"/>
              <a:buAutoNum type="arabicPeriod" startAt="5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Features are not scaled.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Techniques to Reduce Underfitting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Increase model complexity.</a:t>
            </a:r>
          </a:p>
          <a:p>
            <a:pPr algn="l" fontAlgn="base">
              <a:buFont typeface="+mj-lt"/>
              <a:buAutoNum type="arabicPeriod" startAt="2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Increase the number of features, performing feature engineering</a:t>
            </a:r>
          </a:p>
          <a:p>
            <a:pPr algn="l" fontAlgn="base">
              <a:buFont typeface="+mj-lt"/>
              <a:buAutoNum type="arabicPeriod" startAt="3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Remove noise from the data.</a:t>
            </a:r>
          </a:p>
          <a:p>
            <a:pPr algn="l" fontAlgn="base">
              <a:buFont typeface="+mj-lt"/>
              <a:buAutoNum type="arabicPeriod" startAt="4"/>
            </a:pP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Increase the number of epochs or increase the duration of training to get better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88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B796-4F31-89D1-910B-ACF0DF15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  <a:t>Overfitting in Machine Learning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F2C9-228B-3ADF-FAF3-8125AA897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825624"/>
            <a:ext cx="11571316" cy="4758055"/>
          </a:xfrm>
        </p:spPr>
        <p:txBody>
          <a:bodyPr>
            <a:normAutofit fontScale="92500" lnSpcReduction="20000"/>
          </a:bodyPr>
          <a:lstStyle/>
          <a:p>
            <a:pPr algn="just" rtl="0" fontAlgn="base"/>
            <a:r>
              <a:rPr lang="en-US" dirty="0">
                <a:effectLst/>
              </a:rPr>
              <a:t>A statistical model is said to be overfitted when the model does not make accurate predictions on testing data.</a:t>
            </a:r>
          </a:p>
          <a:p>
            <a:pPr algn="just" rtl="0" fontAlgn="base"/>
            <a:r>
              <a:rPr lang="en-US" dirty="0">
                <a:effectLst/>
              </a:rPr>
              <a:t> When a model gets trained with so much data, it starts learning from the noise and inaccurate data entries in our data set.</a:t>
            </a:r>
          </a:p>
          <a:p>
            <a:pPr algn="just" rtl="0" fontAlgn="base"/>
            <a:r>
              <a:rPr lang="en-US" dirty="0">
                <a:effectLst/>
              </a:rPr>
              <a:t> And when testing with test data results in High variance. </a:t>
            </a:r>
          </a:p>
          <a:p>
            <a:pPr algn="just" rtl="0" fontAlgn="base"/>
            <a:r>
              <a:rPr lang="en-US" dirty="0">
                <a:effectLst/>
              </a:rPr>
              <a:t>Then the model does not categorize the data correctly, because of too many details and noise. </a:t>
            </a:r>
          </a:p>
          <a:p>
            <a:pPr algn="just" rtl="0" fontAlgn="base"/>
            <a:r>
              <a:rPr lang="en-US" dirty="0">
                <a:effectLst/>
              </a:rPr>
              <a:t>The causes of overfitting are the non-parametric and non-linear methods.</a:t>
            </a:r>
          </a:p>
          <a:p>
            <a:pPr algn="just" rtl="0" fontAlgn="base"/>
            <a:r>
              <a:rPr lang="en-US" dirty="0"/>
              <a:t>B</a:t>
            </a:r>
            <a:r>
              <a:rPr lang="en-US" dirty="0">
                <a:effectLst/>
              </a:rPr>
              <a:t>ecause these types of machine learning algorithms have more freedom in building the model based on the dataset and therefore they can really build unrealistic models.</a:t>
            </a:r>
          </a:p>
          <a:p>
            <a:pPr algn="just" rtl="0" fontAlgn="base"/>
            <a:r>
              <a:rPr lang="en-US" dirty="0">
                <a:effectLst/>
              </a:rPr>
              <a:t> A solution to avoid overfitting is using a linear algorithm if we have linear data or using the parameters like the maximal depth if we are using decision trees. </a:t>
            </a:r>
          </a:p>
        </p:txBody>
      </p:sp>
    </p:spTree>
    <p:extLst>
      <p:ext uri="{BB962C8B-B14F-4D97-AF65-F5344CB8AC3E}">
        <p14:creationId xmlns:p14="http://schemas.microsoft.com/office/powerpoint/2010/main" val="4075111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7E2C-4343-59B4-0B76-9C0BE9B7D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447" y="315884"/>
            <a:ext cx="11571317" cy="6334298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sz="5100" b="1" dirty="0">
                <a:effectLst/>
              </a:rPr>
              <a:t>Reasons for Overfitting</a:t>
            </a:r>
            <a:r>
              <a:rPr lang="en-US" sz="4000" b="1" dirty="0">
                <a:effectLst/>
              </a:rPr>
              <a:t>:</a:t>
            </a:r>
          </a:p>
          <a:p>
            <a:pPr marL="0" indent="0" fontAlgn="base">
              <a:buNone/>
            </a:pPr>
            <a:endParaRPr lang="en-US" sz="4000" b="1" dirty="0">
              <a:effectLst/>
            </a:endParaRPr>
          </a:p>
          <a:p>
            <a:pPr marL="0" indent="0" algn="l" fontAlgn="base">
              <a:buNone/>
            </a:pPr>
            <a:r>
              <a:rPr lang="en-US" sz="4000" dirty="0"/>
              <a:t>1.</a:t>
            </a:r>
            <a:r>
              <a:rPr lang="en-US" sz="4000" dirty="0">
                <a:effectLst/>
              </a:rPr>
              <a:t>High variance and low bias.</a:t>
            </a:r>
          </a:p>
          <a:p>
            <a:pPr algn="l" fontAlgn="base">
              <a:buFont typeface="+mj-lt"/>
              <a:buAutoNum type="arabicPeriod" startAt="2"/>
            </a:pPr>
            <a:r>
              <a:rPr lang="en-US" sz="4000" dirty="0">
                <a:effectLst/>
              </a:rPr>
              <a:t>The model is too complex.</a:t>
            </a:r>
          </a:p>
          <a:p>
            <a:pPr algn="l" fontAlgn="base">
              <a:buFont typeface="+mj-lt"/>
              <a:buAutoNum type="arabicPeriod" startAt="3"/>
            </a:pPr>
            <a:r>
              <a:rPr lang="en-US" sz="4000" dirty="0">
                <a:effectLst/>
              </a:rPr>
              <a:t>The size of the training data.</a:t>
            </a:r>
          </a:p>
          <a:p>
            <a:pPr marL="0" indent="0" fontAlgn="base">
              <a:buNone/>
            </a:pPr>
            <a:endParaRPr lang="en-US" sz="4500" b="1">
              <a:effectLst/>
            </a:endParaRPr>
          </a:p>
          <a:p>
            <a:pPr marL="0" indent="0" fontAlgn="base">
              <a:buNone/>
            </a:pPr>
            <a:r>
              <a:rPr lang="en-US" sz="4500" b="1">
                <a:effectLst/>
              </a:rPr>
              <a:t>Techniques </a:t>
            </a:r>
            <a:r>
              <a:rPr lang="en-US" sz="4500" b="1" dirty="0">
                <a:effectLst/>
              </a:rPr>
              <a:t>to Reduce Overfitting</a:t>
            </a:r>
          </a:p>
          <a:p>
            <a:pPr algn="l" fontAlgn="base">
              <a:buFont typeface="+mj-lt"/>
              <a:buAutoNum type="arabicPeriod"/>
            </a:pPr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Improving the quality of training data reduces overfitting by focusing on meaningful patterns, mitigate the risk of fitting the noise or irrelevant features.</a:t>
            </a:r>
          </a:p>
          <a:p>
            <a:pPr algn="l" fontAlgn="base">
              <a:buFont typeface="+mj-lt"/>
              <a:buAutoNum type="arabicPeriod" startAt="2"/>
            </a:pPr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Increase the training data can improve the model’s ability to generalize to unseen data and reduce the likelihood of overfitting.</a:t>
            </a:r>
          </a:p>
          <a:p>
            <a:pPr algn="l" fontAlgn="base">
              <a:buFont typeface="+mj-lt"/>
              <a:buAutoNum type="arabicPeriod" startAt="3"/>
            </a:pPr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Reduce model complexity.</a:t>
            </a:r>
          </a:p>
          <a:p>
            <a:pPr algn="l" fontAlgn="base">
              <a:buFont typeface="+mj-lt"/>
              <a:buAutoNum type="arabicPeriod" startAt="4"/>
            </a:pPr>
            <a:r>
              <a:rPr lang="en-US" sz="4000" dirty="0">
                <a:highlight>
                  <a:srgbClr val="FFFFFF"/>
                </a:highlight>
              </a:rPr>
              <a:t>Early stopping</a:t>
            </a:r>
            <a:r>
              <a:rPr lang="en-US" sz="4000" b="0" i="0" dirty="0">
                <a:effectLst/>
                <a:highlight>
                  <a:srgbClr val="FFFFFF"/>
                </a:highlight>
              </a:rPr>
              <a:t> </a:t>
            </a:r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during the training phase (have an eye over the loss over the training period as soon as loss begins to increase stop training).</a:t>
            </a:r>
          </a:p>
          <a:p>
            <a:pPr algn="l" fontAlgn="base">
              <a:buFont typeface="+mj-lt"/>
              <a:buAutoNum type="arabicPeriod" startAt="5"/>
            </a:pPr>
            <a:r>
              <a:rPr lang="en-US" sz="4000" dirty="0">
                <a:highlight>
                  <a:srgbClr val="FFFFFF"/>
                </a:highlight>
              </a:rPr>
              <a:t>Ridge Regularization</a:t>
            </a:r>
            <a:r>
              <a:rPr lang="en-US" sz="4000" b="0" i="0" dirty="0">
                <a:effectLst/>
                <a:highlight>
                  <a:srgbClr val="FFFFFF"/>
                </a:highlight>
              </a:rPr>
              <a:t> and </a:t>
            </a:r>
            <a:r>
              <a:rPr lang="en-US" sz="4000" dirty="0">
                <a:highlight>
                  <a:srgbClr val="FFFFFF"/>
                </a:highlight>
              </a:rPr>
              <a:t>Lasso Regularization</a:t>
            </a:r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.</a:t>
            </a:r>
            <a:br>
              <a:rPr lang="en-US" sz="4000" dirty="0">
                <a:effectLst/>
              </a:rPr>
            </a:br>
            <a:endParaRPr lang="en-IN" sz="4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949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7F58-0C9E-D06A-6E58-66342B93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7432"/>
            <a:ext cx="10515600" cy="865158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Nunito" pitchFamily="2" charset="0"/>
              </a:rPr>
            </a:br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  <a:t>Good Fit in a Statistical Model</a:t>
            </a:r>
            <a:b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69E5A-9793-2CFF-5631-D52E8F377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230284"/>
            <a:ext cx="11496502" cy="5378334"/>
          </a:xfrm>
        </p:spPr>
        <p:txBody>
          <a:bodyPr>
            <a:normAutofit fontScale="62500" lnSpcReduction="20000"/>
          </a:bodyPr>
          <a:lstStyle/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Ideally, the case when the model makes the predictions with 0 error, is said to have a good fit on the data.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This situation is achievable at a spot between overfitting and underfitting. 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In order to understand it, we will have to look at the performance of our model with the passage of time, while it is learning from the training dataset.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With the passage of time, our model will keep on learning, and thus the error for the model on the training and testing data will keep on decreasing. 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If it will learn for too long, the model will become more prone to overfitting due to the presence of noise and less useful details. 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Hence the performance of our model will decrease. 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In order to get a good fit, we will stop at a point just before where the error starts increasing. </a:t>
            </a:r>
          </a:p>
          <a:p>
            <a:pPr algn="l" rtl="0" fontAlgn="base"/>
            <a:r>
              <a:rPr lang="en-US" sz="40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At this point, the model is said to have good skills in training datasets as well as our unseen testing dataset.</a:t>
            </a:r>
          </a:p>
          <a:p>
            <a:pPr marL="0" indent="0" algn="l" fontAlgn="base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08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2D1DD0-E505-48B3-19BE-3A16EB9A4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936" y="377110"/>
            <a:ext cx="5180973" cy="520904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2ADA41-F5A9-5606-2161-5E9A1859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0" y="377109"/>
            <a:ext cx="5105264" cy="52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95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52E85C-94D4-8C71-895B-993EC1775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886" y="225645"/>
            <a:ext cx="3847902" cy="282012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93DC79-327A-C7FB-CD61-4D42E085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13" y="225645"/>
            <a:ext cx="3847903" cy="2868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64464F-08B8-0B25-166B-A6F532D44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86" y="3544533"/>
            <a:ext cx="3287663" cy="31866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ADCF75-A97C-1117-81B5-4DD455ACD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329" y="3445660"/>
            <a:ext cx="5018247" cy="318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43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25EE6-01ED-5964-B097-9C2E455AD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607" y="1822307"/>
            <a:ext cx="5011108" cy="3414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BF4360-B589-5933-80FF-B14048E22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718" y="2041348"/>
            <a:ext cx="4693035" cy="319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8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1F5600-E7D8-EF05-8740-56E503EFA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080" y="425599"/>
            <a:ext cx="4948193" cy="44558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4256AA-6F01-0201-C088-3300AA93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72" y="989215"/>
            <a:ext cx="5324425" cy="389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7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DF105-C8A4-16F7-FA33-1C43A6769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614" y="1141096"/>
            <a:ext cx="9564435" cy="4534533"/>
          </a:xfrm>
        </p:spPr>
      </p:pic>
    </p:spTree>
    <p:extLst>
      <p:ext uri="{BB962C8B-B14F-4D97-AF65-F5344CB8AC3E}">
        <p14:creationId xmlns:p14="http://schemas.microsoft.com/office/powerpoint/2010/main" val="187751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1FD3BB-4AA0-18B2-FE77-C4ABC1796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056" y="835486"/>
            <a:ext cx="9945488" cy="4772691"/>
          </a:xfrm>
        </p:spPr>
      </p:pic>
    </p:spTree>
    <p:extLst>
      <p:ext uri="{BB962C8B-B14F-4D97-AF65-F5344CB8AC3E}">
        <p14:creationId xmlns:p14="http://schemas.microsoft.com/office/powerpoint/2010/main" val="3732695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EDF528-7DDB-D5E5-6859-441E38163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883" y="944235"/>
            <a:ext cx="9831172" cy="4696480"/>
          </a:xfrm>
        </p:spPr>
      </p:pic>
    </p:spTree>
    <p:extLst>
      <p:ext uri="{BB962C8B-B14F-4D97-AF65-F5344CB8AC3E}">
        <p14:creationId xmlns:p14="http://schemas.microsoft.com/office/powerpoint/2010/main" val="1660542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C63195-70CE-9567-5C23-38607ACE4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959" y="825161"/>
            <a:ext cx="9897856" cy="4858428"/>
          </a:xfrm>
        </p:spPr>
      </p:pic>
    </p:spTree>
    <p:extLst>
      <p:ext uri="{BB962C8B-B14F-4D97-AF65-F5344CB8AC3E}">
        <p14:creationId xmlns:p14="http://schemas.microsoft.com/office/powerpoint/2010/main" val="2666506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88AB06-62F1-7DB3-44B8-4308A92E3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5423" y="1595177"/>
            <a:ext cx="9164329" cy="3743847"/>
          </a:xfrm>
        </p:spPr>
      </p:pic>
    </p:spTree>
    <p:extLst>
      <p:ext uri="{BB962C8B-B14F-4D97-AF65-F5344CB8AC3E}">
        <p14:creationId xmlns:p14="http://schemas.microsoft.com/office/powerpoint/2010/main" val="4142625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5B009E6-A4B9-AC94-0416-6B5903C56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641" y="1289576"/>
            <a:ext cx="8907118" cy="3839111"/>
          </a:xfrm>
        </p:spPr>
      </p:pic>
    </p:spTree>
    <p:extLst>
      <p:ext uri="{BB962C8B-B14F-4D97-AF65-F5344CB8AC3E}">
        <p14:creationId xmlns:p14="http://schemas.microsoft.com/office/powerpoint/2010/main" val="2251145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BF3B-CB2A-29C2-3A67-B7779F28E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59ED9-D6CC-187A-BA53-49E7F4B7F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15" y="1396538"/>
            <a:ext cx="11430000" cy="5228706"/>
          </a:xfrm>
        </p:spPr>
        <p:txBody>
          <a:bodyPr>
            <a:normAutofit fontScale="92500" lnSpcReduction="20000"/>
          </a:bodyPr>
          <a:lstStyle/>
          <a:p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</a:rPr>
              <a:t>Model tuning is </a:t>
            </a:r>
            <a:r>
              <a:rPr lang="en-US" b="0" i="0" dirty="0">
                <a:solidFill>
                  <a:srgbClr val="040C28"/>
                </a:solidFill>
                <a:effectLst/>
              </a:rPr>
              <a:t>the experimental process of finding the optimal values of hyperparameters to maximize model performance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r>
              <a:rPr lang="en-US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Hyperparameters in Machine learning are those parameters that are explicitly defined by the user to control the learning process.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 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These hyperparameters are used to improve the learning of the model, and their values are set before starting the learning process of the model.</a:t>
            </a:r>
          </a:p>
          <a:p>
            <a:r>
              <a:rPr lang="en-US" b="1" dirty="0">
                <a:solidFill>
                  <a:srgbClr val="333333"/>
                </a:solidFill>
                <a:highlight>
                  <a:srgbClr val="FFFFFF"/>
                </a:highlight>
              </a:rPr>
              <a:t>T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hese are external to the model, and their values cannot be changed during the training process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The process of selecting the best hyperparameters to use is known as hyperparameter tuning, and the tuning process is also known as hyperparameter optimization.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Optimization parameters are used for optimizing the model.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22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0500-00A7-25B3-55CA-40F675785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5" y="207818"/>
            <a:ext cx="11571316" cy="6284422"/>
          </a:xfrm>
        </p:spPr>
        <p:txBody>
          <a:bodyPr/>
          <a:lstStyle/>
          <a:p>
            <a:pPr marL="0" indent="0">
              <a:buNone/>
            </a:pPr>
            <a:r>
              <a:rPr lang="en-IN" sz="3600" b="1" dirty="0"/>
              <a:t>Example of Hyperparameters</a:t>
            </a:r>
          </a:p>
          <a:p>
            <a:pPr marL="0" indent="0">
              <a:buNone/>
            </a:pPr>
            <a:endParaRPr lang="en-IN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The k in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kNN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or K-Nearest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Neighbour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 algorithm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Learning rate for training a neural network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Train-test split ratio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Batch Size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Number of Epochs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Branches in Decision Tree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Number of clusters in Clustering Algorithm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816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CC74D-F8EF-FB4C-5C46-2A0E786A6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1556" y="548071"/>
            <a:ext cx="7498080" cy="5877745"/>
          </a:xfrm>
        </p:spPr>
      </p:pic>
    </p:spTree>
    <p:extLst>
      <p:ext uri="{BB962C8B-B14F-4D97-AF65-F5344CB8AC3E}">
        <p14:creationId xmlns:p14="http://schemas.microsoft.com/office/powerpoint/2010/main" val="357304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7607-F375-384E-1D54-AD50A9DE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64" y="95913"/>
            <a:ext cx="11812386" cy="1325563"/>
          </a:xfrm>
        </p:spPr>
        <p:txBody>
          <a:bodyPr/>
          <a:lstStyle/>
          <a:p>
            <a:pPr algn="ctr"/>
            <a:r>
              <a:rPr lang="en-US" b="1" dirty="0"/>
              <a:t>RESAMPLING TECHNIQUES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E916-6487-5DBB-652B-E28B30838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61" y="1421476"/>
            <a:ext cx="11621193" cy="5237019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Resampling is a method that involves repeatedly drawing samples from the training dataset. 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These samples are then used to refit a specific model to retrieve more information about the fitted model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The aim is to gather more information about a sample and improve the accuracy and estimate the uncertainty.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For example, if you’re looking at linear regression fits and want to examine the variability. 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You will repeatedly use different samples from the training data and fit a linear regression to each of the samples. 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This will allow you to examine how the results differ based on the different samples, as well as obtain new information.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The significant advantage of resampling is that you can repeatedly draw small samples from the same population till your model achieves its optimum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23001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665D-3E9B-0B7B-44F8-F08DEE1B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CROSS VALIDATION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63D3A0-2F8B-58BD-01EE-893D6D103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931237" cy="4667250"/>
          </a:xfrm>
        </p:spPr>
      </p:pic>
    </p:spTree>
    <p:extLst>
      <p:ext uri="{BB962C8B-B14F-4D97-AF65-F5344CB8AC3E}">
        <p14:creationId xmlns:p14="http://schemas.microsoft.com/office/powerpoint/2010/main" val="668709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38E228-3A17-9B7F-2A76-B86358E43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297" y="828711"/>
            <a:ext cx="11298238" cy="3768228"/>
          </a:xfrm>
        </p:spPr>
      </p:pic>
    </p:spTree>
    <p:extLst>
      <p:ext uri="{BB962C8B-B14F-4D97-AF65-F5344CB8AC3E}">
        <p14:creationId xmlns:p14="http://schemas.microsoft.com/office/powerpoint/2010/main" val="2897146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F641-3B79-22EE-C28D-4754DAB1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45" y="95913"/>
            <a:ext cx="11610110" cy="1325563"/>
          </a:xfrm>
        </p:spPr>
        <p:txBody>
          <a:bodyPr/>
          <a:lstStyle/>
          <a:p>
            <a:pPr algn="ctr"/>
            <a:r>
              <a:rPr lang="en-US" dirty="0">
                <a:latin typeface="+mn-lt"/>
              </a:rPr>
              <a:t>K-FOLD CROSS VALIDATION</a:t>
            </a:r>
            <a:endParaRPr lang="en-IN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F733E-926A-28E9-5AD1-AEAA95F93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237" y="1420813"/>
            <a:ext cx="6519363" cy="5237162"/>
          </a:xfrm>
        </p:spPr>
      </p:pic>
    </p:spTree>
    <p:extLst>
      <p:ext uri="{BB962C8B-B14F-4D97-AF65-F5344CB8AC3E}">
        <p14:creationId xmlns:p14="http://schemas.microsoft.com/office/powerpoint/2010/main" val="3061317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CDFA-0E53-5D5D-D2A8-6C08E6ED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LEAVE-ONE-OUT CROSS VALIDATION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0B23C-4655-83ED-0F2B-C33FF8459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103" y="1554163"/>
            <a:ext cx="9842268" cy="5070475"/>
          </a:xfrm>
        </p:spPr>
      </p:pic>
    </p:spTree>
    <p:extLst>
      <p:ext uri="{BB962C8B-B14F-4D97-AF65-F5344CB8AC3E}">
        <p14:creationId xmlns:p14="http://schemas.microsoft.com/office/powerpoint/2010/main" val="1845105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4379-485B-724D-6597-58DA7510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Bootstrap Method</a:t>
            </a:r>
            <a:br>
              <a:rPr lang="en-IN" b="1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889B-114F-2974-91F4-80751878D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13" y="1246909"/>
            <a:ext cx="11330247" cy="5245966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The Bootstrap method can be applied to examine the hidden information and distribution of the data set. </a:t>
            </a:r>
          </a:p>
          <a:p>
            <a:pPr algn="l"/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When using the bootstrapping method, the samples that are drawn are replaced and the data that are not included in the samples are used to test the model. </a:t>
            </a:r>
          </a:p>
          <a:p>
            <a:pPr algn="l"/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It is a flexible statistical method that can help data scientists and machine learning engineers quantify uncertainty. 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The process includes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Repeatedly drawing sample observations from the dataset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Replacing these samples to ensure the original data set stays at the same size.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</a:rPr>
              <a:t>An observation can either appear more than once or not at all.</a:t>
            </a:r>
          </a:p>
          <a:p>
            <a:pPr marL="0" indent="0" algn="l">
              <a:buNone/>
            </a:pPr>
            <a:endParaRPr lang="en-US" b="0" i="0" dirty="0">
              <a:solidFill>
                <a:srgbClr val="111111"/>
              </a:solidFill>
              <a:effectLst/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598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4F4B-A24A-9AA8-9B9E-470ADA0C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5" y="365125"/>
            <a:ext cx="11745883" cy="1325563"/>
          </a:xfrm>
        </p:spPr>
        <p:txBody>
          <a:bodyPr/>
          <a:lstStyle/>
          <a:p>
            <a:pPr algn="ctr"/>
            <a:r>
              <a:rPr lang="en-US" b="1" dirty="0"/>
              <a:t>BOOTSTRAPPING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671FA-8EA9-5AD7-31B4-DD8A5DABD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5" y="1825624"/>
            <a:ext cx="11745883" cy="496587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97EAD-E56F-27FB-77B6-46ED33BE5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022" y="1996216"/>
            <a:ext cx="5445955" cy="420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72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8C65DD-5434-F026-B47C-9A262F439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788" y="405988"/>
            <a:ext cx="11406187" cy="5870649"/>
          </a:xfrm>
        </p:spPr>
      </p:pic>
    </p:spTree>
    <p:extLst>
      <p:ext uri="{BB962C8B-B14F-4D97-AF65-F5344CB8AC3E}">
        <p14:creationId xmlns:p14="http://schemas.microsoft.com/office/powerpoint/2010/main" val="1312594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68326B-B63E-4BD0-60FD-7E0F1A99A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949" y="368360"/>
            <a:ext cx="11529753" cy="180957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6BF8B9-D30B-5B42-CD0B-B3E264F3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9" y="2422731"/>
            <a:ext cx="11529752" cy="336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63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695010-E643-E094-7BF5-827C25B98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249" y="584519"/>
            <a:ext cx="10874507" cy="3296110"/>
          </a:xfrm>
        </p:spPr>
      </p:pic>
    </p:spTree>
    <p:extLst>
      <p:ext uri="{BB962C8B-B14F-4D97-AF65-F5344CB8AC3E}">
        <p14:creationId xmlns:p14="http://schemas.microsoft.com/office/powerpoint/2010/main" val="3363156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B80B8A-929F-BCB8-619E-3535F6D87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788" y="433077"/>
            <a:ext cx="11451030" cy="5768218"/>
          </a:xfrm>
        </p:spPr>
      </p:pic>
    </p:spTree>
    <p:extLst>
      <p:ext uri="{BB962C8B-B14F-4D97-AF65-F5344CB8AC3E}">
        <p14:creationId xmlns:p14="http://schemas.microsoft.com/office/powerpoint/2010/main" val="748526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D529B-924F-01EC-DE3D-78B8E30C5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24" y="315884"/>
            <a:ext cx="10946476" cy="586107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101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1386</Words>
  <Application>Microsoft Office PowerPoint</Application>
  <PresentationFormat>Widescreen</PresentationFormat>
  <Paragraphs>103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inter-regular</vt:lpstr>
      <vt:lpstr>Nunito</vt:lpstr>
      <vt:lpstr>open sans</vt:lpstr>
      <vt:lpstr>Office Theme</vt:lpstr>
      <vt:lpstr>MODEL TUNING</vt:lpstr>
      <vt:lpstr>PowerPoint Presentation</vt:lpstr>
      <vt:lpstr>Bias and Variance </vt:lpstr>
      <vt:lpstr>PowerPoint Presentation</vt:lpstr>
      <vt:lpstr>PowerPoint Presentation</vt:lpstr>
      <vt:lpstr>Underfitting in Machine Learning </vt:lpstr>
      <vt:lpstr>PowerPoint Presentation</vt:lpstr>
      <vt:lpstr>Overfitting in Machine Learning</vt:lpstr>
      <vt:lpstr>PowerPoint Presentation</vt:lpstr>
      <vt:lpstr> Good Fit in a Statistical Model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TUNING</vt:lpstr>
      <vt:lpstr>PowerPoint Presentation</vt:lpstr>
      <vt:lpstr>PowerPoint Presentation</vt:lpstr>
      <vt:lpstr>RESAMPLING TECHNIQUES</vt:lpstr>
      <vt:lpstr>CROSS VALIDATION</vt:lpstr>
      <vt:lpstr>PowerPoint Presentation</vt:lpstr>
      <vt:lpstr>K-FOLD CROSS VALIDATION</vt:lpstr>
      <vt:lpstr>LEAVE-ONE-OUT CROSS VALIDATION</vt:lpstr>
      <vt:lpstr>Bootstrap Method </vt:lpstr>
      <vt:lpstr>BOOTSTRAPPING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8</cp:revision>
  <dcterms:created xsi:type="dcterms:W3CDTF">2024-08-13T04:59:41Z</dcterms:created>
  <dcterms:modified xsi:type="dcterms:W3CDTF">2024-08-21T08:12:55Z</dcterms:modified>
</cp:coreProperties>
</file>