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EC13D-A00A-4636-3FD8-A2E803B81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6D034-B486-B1BC-7B5B-927BEAC93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C2DC2-D8C5-000A-01ED-69AB25DC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08C4C-D604-13E7-FE08-CAB7F2C4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D1374-51AC-881E-1050-88652300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44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0B92-29AA-0410-70F6-4F670EC09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D7E01-A00D-6146-A8AE-E1EB3D789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18A02-395E-584A-469E-00CBB75B3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1658-B140-9FF8-8088-EFDC73358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DBB8A-02E4-5902-3F6D-804F1032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44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9174-6369-2376-D254-053225A8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7F14D-B3BF-CD6F-A108-02B46004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9C6A7-422B-62D9-C0E7-22CEFC7C5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55C41-71A5-E318-68ED-B44B7ECD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9F66F-47CF-5010-3BBF-58082F8A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A9E91-65FB-F9AA-464A-05887E99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F44B7-E0C5-5AF7-7148-1BB505059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0CE99-B377-8D3B-F3F9-B19CD73D0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3CE3C-767E-E90F-A178-2B47A8EDF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8A877-2C47-D9CC-1BB9-9B737013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45863-A99E-40DF-63B3-A263977C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69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94406-B3EB-8BD8-54A1-2A4A8FFB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42659-CE11-16B7-20F9-522C82531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0BAF5-8770-3107-F456-A11603F88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A7626-BE40-09F3-0E90-6EB1491BB8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24919-4D71-3227-6CBC-44D71073C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C572C-6805-850C-E48C-CBEB89247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E5A1D0-73FA-C978-62AB-8C06D5B71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47F7F-2238-5BB8-7F99-4DDEFE99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480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FB1E-A1A3-A70F-863C-959C95D0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B3D83E-1E99-C5A4-DD40-C184340C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4A769-E892-AA73-2A47-17AC3D59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D20A1-DB14-6141-7310-F633F86E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74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7D6B45-064C-47ED-BD68-1B85CF8F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48CEAE-6328-4137-FCBB-C0F2B8F5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AACBD-56C6-4CE8-D2AE-EAC79AF0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85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819F0-AF7F-66E4-49FD-CFD6D1A3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0B6C9-7EFE-1732-AB5B-7AFFF0A57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4EBA2-7576-896F-17CC-B69F3207D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DC0FF-8EBE-05AA-5FDE-A5D81A87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8998D-75B7-C109-5348-DCC4AF98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0969A-959B-D5D9-374B-3AD9D7A39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06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D1E0-9496-5780-F4D2-1EEDACF20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2A6E6-1124-C98A-B373-60C7FBA21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D06DB-BC8F-49DB-A256-0AF4E0371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6B7EE-AF99-2D6D-4CA9-E8EF7327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4DB81-AE92-9F0D-4B3B-EF2669CF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E8082-41E4-C879-7D99-6EF769CF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452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7B97-74BC-BCBC-675E-99C70DC7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4ED88-216E-CD5C-790C-997E44E9D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A5F1F-91EA-0AEE-282D-78FAF03D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6FE23-1D1C-682C-749C-A78AD91C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54E37-9D05-6203-F204-324DA06E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00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40A1FE-95D5-C33A-B3E8-71504AA2F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BD219-6859-6397-2ED6-8A747CB48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825BF-FD77-65B8-0AD2-9D610742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7D6AB-6A4C-6228-A0D3-03BCCA6E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8698C-70D2-6308-D126-0A4B79C68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98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5B2E02-78D3-F856-48DC-39BD0DA4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B0A97-C670-E26F-E41B-4A9F83ECE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071B1-F0D8-0B56-A472-979972582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DDEFE-7433-41A3-A3D4-9FC4016C0456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ED7CC-14DF-635A-4563-40AEB5118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4CCBC-3CFA-B3C8-EB36-AA18E179A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D3111-3D5A-4436-B282-747E44977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BA89-7D69-3443-E70C-FC05095C9F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NON LINEAR REGRESSION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13590-C9FB-944C-B475-2DED07FC5C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44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2951C-1814-A830-01BB-4968317F9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3" y="339364"/>
            <a:ext cx="11265031" cy="6221691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u="none" strike="noStrike" baseline="0" dirty="0"/>
              <a:t>There are numerous regression models that are inherently nonlinear in nature. </a:t>
            </a:r>
          </a:p>
          <a:p>
            <a:pPr marL="0" indent="0" algn="l">
              <a:buNone/>
            </a:pPr>
            <a:r>
              <a:rPr lang="en-US" dirty="0"/>
              <a:t>Non Linear </a:t>
            </a:r>
            <a:r>
              <a:rPr lang="en-US" b="0" i="0" u="none" strike="noStrike" baseline="0" dirty="0"/>
              <a:t>models are :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200" dirty="0"/>
              <a:t>N</a:t>
            </a:r>
            <a:r>
              <a:rPr lang="en-US" sz="3200" b="0" i="0" u="none" strike="noStrike" baseline="0" dirty="0"/>
              <a:t>eural networks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/>
              <a:t> Multivariate adaptive regression splines (MARS)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/>
              <a:t> Support vector machines (SVMs)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/>
              <a:t> </a:t>
            </a:r>
            <a:r>
              <a:rPr lang="en-US" sz="3200" b="0" i="1" u="none" strike="noStrike" baseline="0" dirty="0"/>
              <a:t>K</a:t>
            </a:r>
            <a:r>
              <a:rPr lang="en-US" sz="3200" b="0" i="0" u="none" strike="noStrike" baseline="0" dirty="0"/>
              <a:t>-nearest neighbors   (</a:t>
            </a:r>
            <a:r>
              <a:rPr lang="en-US" sz="3200" b="0" i="1" u="none" strike="noStrike" baseline="0" dirty="0"/>
              <a:t>K</a:t>
            </a:r>
            <a:r>
              <a:rPr lang="en-US" sz="3200" b="0" i="0" u="none" strike="noStrike" baseline="0" dirty="0"/>
              <a:t>NNs).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/>
              <a:t>Tree-based models are also nonlinear.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1283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72ED-97F1-1FEA-8C88-A0E4D85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/>
              <a:t>N</a:t>
            </a:r>
            <a:r>
              <a:rPr lang="en-US" sz="4400" b="0" i="0" u="none" strike="noStrike" baseline="0" dirty="0"/>
              <a:t>eural networks</a:t>
            </a:r>
            <a:br>
              <a:rPr lang="en-US" sz="4400" b="0" i="0" u="none" strike="noStrike" baseline="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E51AC-1D40-67CE-B567-5F88D0C45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779" y="1825625"/>
            <a:ext cx="11378153" cy="466725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</a:t>
            </a:r>
            <a:r>
              <a:rPr lang="en-US" b="0" i="0" u="none" strike="noStrike" baseline="0" dirty="0"/>
              <a:t>he outcome is modeled by an intermediary set of unobserved variables (called </a:t>
            </a:r>
            <a:r>
              <a:rPr lang="en-US" b="0" i="1" u="none" strike="noStrike" baseline="0" dirty="0"/>
              <a:t>hidden variables </a:t>
            </a:r>
            <a:r>
              <a:rPr lang="en-US" b="0" i="0" u="none" strike="noStrike" baseline="0" dirty="0"/>
              <a:t>or </a:t>
            </a:r>
            <a:r>
              <a:rPr lang="en-US" b="0" i="1" u="none" strike="noStrike" baseline="0" dirty="0"/>
              <a:t>hidden units </a:t>
            </a:r>
            <a:r>
              <a:rPr lang="en-US" b="0" i="0" u="none" strike="noStrike" baseline="0" dirty="0"/>
              <a:t>here).</a:t>
            </a:r>
          </a:p>
          <a:p>
            <a:pPr algn="l"/>
            <a:r>
              <a:rPr lang="en-US" b="0" i="0" u="none" strike="noStrike" baseline="0" dirty="0"/>
              <a:t>These hidden units are linear combinations of the original predictors.</a:t>
            </a:r>
          </a:p>
          <a:p>
            <a:pPr algn="l"/>
            <a:endParaRPr lang="en-IN" dirty="0"/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344BDF1-E294-105F-CF97-AD9DCAAE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17" y="3552534"/>
            <a:ext cx="6161741" cy="2693987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21EFAAB4-88F5-CC55-2E9F-E162BE9C2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800" y="3509989"/>
            <a:ext cx="4273000" cy="298288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28291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90112F-D550-A318-E6CD-FD5CA303F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753" y="318855"/>
            <a:ext cx="9992412" cy="6364368"/>
          </a:xfrm>
        </p:spPr>
      </p:pic>
    </p:spTree>
    <p:extLst>
      <p:ext uri="{BB962C8B-B14F-4D97-AF65-F5344CB8AC3E}">
        <p14:creationId xmlns:p14="http://schemas.microsoft.com/office/powerpoint/2010/main" val="9647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CEA2-95CC-7C56-082E-BC24E9C06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2" y="301658"/>
            <a:ext cx="11415860" cy="6344239"/>
          </a:xfrm>
        </p:spPr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</a:rPr>
              <a:t>Treating this model as a nonlinear regression model, the parameters are usually optimized to minimize the sum of the squared residuals. </a:t>
            </a:r>
          </a:p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</a:rPr>
              <a:t>This can be a challenging numerical optimization problem.</a:t>
            </a:r>
          </a:p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</a:rPr>
              <a:t> The parameters are usually initialized to random values and then specialized algorithms for solving the equations are used. </a:t>
            </a:r>
          </a:p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</a:rPr>
              <a:t>The back-propagation algorithm is a highly efficient methodology that works with derivatives to find the optimal parameters. </a:t>
            </a:r>
          </a:p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</a:rPr>
              <a:t>However, it is common that a solution to this equation is not a </a:t>
            </a:r>
            <a:r>
              <a:rPr lang="en-US" sz="3200" b="0" i="1" u="none" strike="noStrike" baseline="0" dirty="0">
                <a:solidFill>
                  <a:srgbClr val="000000"/>
                </a:solidFill>
              </a:rPr>
              <a:t>global </a:t>
            </a:r>
            <a:r>
              <a:rPr lang="en-US" sz="3200" b="0" i="0" u="none" strike="noStrike" baseline="0" dirty="0">
                <a:solidFill>
                  <a:srgbClr val="000000"/>
                </a:solidFill>
              </a:rPr>
              <a:t>solution, meaning that we cannot guarantee that the resulting set of parameters are uniformly better than any other set.</a:t>
            </a:r>
          </a:p>
          <a:p>
            <a:pPr algn="l"/>
            <a:endParaRPr lang="en-US" b="0" i="0" u="none" strike="noStrike" baseline="0" dirty="0">
              <a:solidFill>
                <a:srgbClr val="000000"/>
              </a:solidFill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91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E962-705E-7E29-C49B-E3262186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7" y="273376"/>
            <a:ext cx="11519554" cy="6193411"/>
          </a:xfrm>
        </p:spPr>
        <p:txBody>
          <a:bodyPr/>
          <a:lstStyle/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  <a:latin typeface="CMR10"/>
              </a:rPr>
              <a:t>Also, neural networks have a tendency to over-fit the relationship between the predictors and the response due to the large number of regression coefficients.</a:t>
            </a:r>
          </a:p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  <a:latin typeface="CMR10"/>
              </a:rPr>
              <a:t>To combat this issue, several different approaches have been proposed.</a:t>
            </a:r>
          </a:p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  <a:latin typeface="CMR10"/>
              </a:rPr>
              <a:t>First, the iterative algorithms for solving for the regression equations can be prematurely halted . This approach is referred to as </a:t>
            </a:r>
            <a:r>
              <a:rPr lang="en-US" sz="3200" b="0" i="1" u="none" strike="noStrike" baseline="0" dirty="0">
                <a:solidFill>
                  <a:srgbClr val="000000"/>
                </a:solidFill>
                <a:latin typeface="CMTI10"/>
              </a:rPr>
              <a:t>early stopping 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CMR10"/>
              </a:rPr>
              <a:t>and would stop the optimization procedure when some estimate of the error rate starts to increase </a:t>
            </a:r>
          </a:p>
          <a:p>
            <a:pPr marL="0" indent="0" algn="l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054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BF5A-4A42-8D80-06BC-A07B3F6E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0" i="0" u="none" strike="noStrike" baseline="0" dirty="0"/>
              <a:t>Multivariate adaptive regression splines (MARS)</a:t>
            </a:r>
            <a:br>
              <a:rPr lang="en-US" sz="4400" b="0" i="0" u="none" strike="noStrike" baseline="0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B150E4-68CF-1D2C-1769-BCF1DA80AA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8290" y="1825625"/>
            <a:ext cx="9634192" cy="4351338"/>
          </a:xfrm>
        </p:spPr>
      </p:pic>
    </p:spTree>
    <p:extLst>
      <p:ext uri="{BB962C8B-B14F-4D97-AF65-F5344CB8AC3E}">
        <p14:creationId xmlns:p14="http://schemas.microsoft.com/office/powerpoint/2010/main" val="2058197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A8233-948E-384E-5E88-781618668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982" y="405352"/>
            <a:ext cx="9672428" cy="5976593"/>
          </a:xfrm>
        </p:spPr>
      </p:pic>
    </p:spTree>
    <p:extLst>
      <p:ext uri="{BB962C8B-B14F-4D97-AF65-F5344CB8AC3E}">
        <p14:creationId xmlns:p14="http://schemas.microsoft.com/office/powerpoint/2010/main" val="968396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148F-9B88-E731-A264-FD9A7D11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2D952-D979-61DD-54AB-D1505AA2D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463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CMR10</vt:lpstr>
      <vt:lpstr>CMTI10</vt:lpstr>
      <vt:lpstr>Wingdings</vt:lpstr>
      <vt:lpstr>Office Theme</vt:lpstr>
      <vt:lpstr>NON LINEAR REGRESSION MODELS</vt:lpstr>
      <vt:lpstr>PowerPoint Presentation</vt:lpstr>
      <vt:lpstr>Neural networks </vt:lpstr>
      <vt:lpstr>PowerPoint Presentation</vt:lpstr>
      <vt:lpstr>PowerPoint Presentation</vt:lpstr>
      <vt:lpstr>PowerPoint Presentation</vt:lpstr>
      <vt:lpstr>Multivariate adaptive regression splines (MARS)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1</cp:revision>
  <dcterms:created xsi:type="dcterms:W3CDTF">2024-09-04T06:39:28Z</dcterms:created>
  <dcterms:modified xsi:type="dcterms:W3CDTF">2024-09-04T06:39:39Z</dcterms:modified>
</cp:coreProperties>
</file>