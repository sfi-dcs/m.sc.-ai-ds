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5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67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1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1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4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4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2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19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88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2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56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1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02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80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79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7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A6D11-4466-488B-9B01-7644800BF27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3A8E73B-1993-403D-8731-BCA1E2209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01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79C8-36EE-BC1B-D6B6-F7A12C97B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90" y="1673352"/>
            <a:ext cx="10060094" cy="2999276"/>
          </a:xfrm>
        </p:spPr>
        <p:txBody>
          <a:bodyPr/>
          <a:lstStyle/>
          <a:p>
            <a:r>
              <a:rPr lang="en-IN" dirty="0"/>
              <a:t>ISOMAP and UMAP: Non-linear Dimensionality Reduction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01480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D3B0D11-6A64-8B53-9F58-E7EB30D6AA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159" y="1353371"/>
            <a:ext cx="140183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High-dimensional data is difficult to interpret, visualize, and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effectively in machine learning models due to the "curse of dimensionality.“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the number of features (dimensions) while preserving the meaningful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structure of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Matters: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Dimensionality reduction enables: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-Visualization: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Seeing the shape of your data in 2D or 3D.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-Preprocessing: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Improving the performance and speed of ML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-Noise Reduction: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Focusing on the most important signals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28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B20D2-E7D5-A47C-1438-D1956E8F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392021" cy="631371"/>
          </a:xfrm>
        </p:spPr>
        <p:txBody>
          <a:bodyPr>
            <a:normAutofit fontScale="90000"/>
          </a:bodyPr>
          <a:lstStyle/>
          <a:p>
            <a:r>
              <a:rPr lang="en-IN" dirty="0"/>
              <a:t>Dimensionality Reduction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9EBD-7A64-3ADB-CC2E-479E750DC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4279"/>
            <a:ext cx="8596668" cy="470708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</a:t>
            </a:r>
            <a:r>
              <a:rPr lang="en-US" sz="2000" b="1" dirty="0"/>
              <a:t>Linear vs. Non-Linear Approaches</a:t>
            </a:r>
          </a:p>
          <a:p>
            <a:endParaRPr lang="en-US" b="1" dirty="0"/>
          </a:p>
          <a:p>
            <a:r>
              <a:rPr lang="en-US" b="1" dirty="0"/>
              <a:t>Linear Methods (e.g., PCA):</a:t>
            </a:r>
            <a:r>
              <a:rPr lang="en-US" dirty="0"/>
              <a:t> Assume the data lies on a flat, linear subspace. They project data onto a lower-dimensional plane. This is fast but fails for complex, curved data.</a:t>
            </a:r>
          </a:p>
          <a:p>
            <a:endParaRPr lang="en-US" dirty="0"/>
          </a:p>
          <a:p>
            <a:r>
              <a:rPr lang="en-US" b="1" dirty="0"/>
              <a:t>Non-Linear Methods (Manifold Learning):</a:t>
            </a:r>
            <a:r>
              <a:rPr lang="en-US" dirty="0"/>
              <a:t> Assume the data lies on a low-dimensional, curved surface called a </a:t>
            </a:r>
            <a:r>
              <a:rPr lang="en-US" b="1" dirty="0"/>
              <a:t>manifold</a:t>
            </a:r>
            <a:r>
              <a:rPr lang="en-US" dirty="0"/>
              <a:t>, which is embedded in the high-dimensional space.</a:t>
            </a:r>
          </a:p>
          <a:p>
            <a:endParaRPr lang="en-US" dirty="0"/>
          </a:p>
          <a:p>
            <a:r>
              <a:rPr lang="en-US" b="1" dirty="0"/>
              <a:t>Our Focus:</a:t>
            </a:r>
            <a:r>
              <a:rPr lang="en-US" dirty="0"/>
              <a:t> </a:t>
            </a:r>
            <a:r>
              <a:rPr lang="en-US" b="1" dirty="0" err="1"/>
              <a:t>Isomap</a:t>
            </a:r>
            <a:r>
              <a:rPr lang="en-US" dirty="0"/>
              <a:t> and </a:t>
            </a:r>
            <a:r>
              <a:rPr lang="en-US" b="1" dirty="0"/>
              <a:t>UMAP</a:t>
            </a:r>
            <a:r>
              <a:rPr lang="en-US" dirty="0"/>
              <a:t> are two manifold learning techniques designed to "unfold" these complex structures.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1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83F0-4104-9FEB-EE66-4FE57C79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084111" cy="734008"/>
          </a:xfrm>
        </p:spPr>
        <p:txBody>
          <a:bodyPr/>
          <a:lstStyle/>
          <a:p>
            <a:r>
              <a:rPr lang="en-IN" dirty="0"/>
              <a:t>Understanding Manifold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6AF71D-D72A-44D6-B1A5-83736BD6D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543" y="1859340"/>
            <a:ext cx="977607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Idea: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dataset that looks complex in 3D (like a Swiss roll) is intrinsically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simple—it's just a 2D sheet that has been rolled 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Euclidean Distance: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straight-line distance between two points. This can be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misleading as it cuts "through" the manifold.</a:t>
            </a:r>
            <a:r>
              <a:rPr lang="en-US" dirty="0"/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Geodesic Distance: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shortest path between two points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along the surface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manifold.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represents the true relationship between the 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Manifold learning techniques aim to create a low-dimensional view of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that preserves the geodesic distances.</a:t>
            </a:r>
          </a:p>
        </p:txBody>
      </p:sp>
    </p:spTree>
    <p:extLst>
      <p:ext uri="{BB962C8B-B14F-4D97-AF65-F5344CB8AC3E}">
        <p14:creationId xmlns:p14="http://schemas.microsoft.com/office/powerpoint/2010/main" val="422172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6B6D-AF4A-5528-AAC9-5C4D922C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6535229" cy="622041"/>
          </a:xfrm>
        </p:spPr>
        <p:txBody>
          <a:bodyPr>
            <a:normAutofit fontScale="90000"/>
          </a:bodyPr>
          <a:lstStyle/>
          <a:p>
            <a:r>
              <a:rPr lang="en-IN" dirty="0"/>
              <a:t>Isometric Mapping (</a:t>
            </a:r>
            <a:r>
              <a:rPr lang="en-IN" dirty="0" err="1"/>
              <a:t>Isomap</a:t>
            </a:r>
            <a:r>
              <a:rPr lang="en-IN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CAE5CF-0921-260D-3E66-756DFD51B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3" y="1693876"/>
            <a:ext cx="91486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non-linear dimensionality reduction technique that preserves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geodesic distances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all data 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Principle: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provides a simple way to estimate the intrinsic geometry of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dataset by treating data points as nodes in a graph.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combines the strengths of two classical algorithms: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graph-based method (like Dijkstra's or Floyd-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Warshall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approximate geodesic distances.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2. Classical Multidimensional Scaling (MDS)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find a low-dimensional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that preserves those distances.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51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624A-16FA-49BA-6A86-8ACC9FFC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533978" cy="6156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How Does </a:t>
            </a:r>
            <a:r>
              <a:rPr lang="en-IN" b="1" dirty="0" err="1"/>
              <a:t>Isomap</a:t>
            </a:r>
            <a:r>
              <a:rPr lang="en-IN" b="1" dirty="0"/>
              <a:t> Work?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49058-62EB-BE0D-8BC6-9A4E9475A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05585"/>
            <a:ext cx="8596668" cy="4651474"/>
          </a:xfrm>
        </p:spPr>
        <p:txBody>
          <a:bodyPr/>
          <a:lstStyle/>
          <a:p>
            <a:pPr fontAlgn="base"/>
            <a:r>
              <a:rPr lang="en-US" b="1" dirty="0"/>
              <a:t>Calculate Pairwise Distances:</a:t>
            </a:r>
            <a:r>
              <a:rPr lang="en-US" dirty="0"/>
              <a:t> First we find the Euclidean distances between all pairs of data points.</a:t>
            </a:r>
          </a:p>
          <a:p>
            <a:pPr fontAlgn="base"/>
            <a:r>
              <a:rPr lang="en-US" b="1" dirty="0"/>
              <a:t>Find Nearest Neighbors:</a:t>
            </a:r>
            <a:r>
              <a:rPr lang="en-US" dirty="0"/>
              <a:t> For each point find the closest other points based on distance.</a:t>
            </a:r>
          </a:p>
          <a:p>
            <a:pPr fontAlgn="base"/>
            <a:r>
              <a:rPr lang="en-US" b="1" dirty="0"/>
              <a:t>Create a Neighborhood Graph:</a:t>
            </a:r>
            <a:r>
              <a:rPr lang="en-US" dirty="0"/>
              <a:t> Connect each point to its nearest neighbors to form a graph.</a:t>
            </a:r>
          </a:p>
          <a:p>
            <a:pPr fontAlgn="base"/>
            <a:r>
              <a:rPr lang="en-US" b="1" dirty="0"/>
              <a:t>Calculate Geodesic Distances:</a:t>
            </a:r>
            <a:r>
              <a:rPr lang="en-US" dirty="0"/>
              <a:t> Use algorithms like Floyd-</a:t>
            </a:r>
            <a:r>
              <a:rPr lang="en-US" dirty="0" err="1"/>
              <a:t>Warshall</a:t>
            </a:r>
            <a:r>
              <a:rPr lang="en-US" dirty="0"/>
              <a:t> to measure the shortest paths between points by following the graph connections.</a:t>
            </a:r>
          </a:p>
          <a:p>
            <a:pPr fontAlgn="base"/>
            <a:r>
              <a:rPr lang="en-US" b="1" dirty="0"/>
              <a:t>Perform Dimensional Reduction:</a:t>
            </a:r>
            <a:r>
              <a:rPr lang="en-US" dirty="0"/>
              <a:t> Move points into a simpler space while keeping their distances as accurate as possible.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16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2F90-8C27-0FB3-7195-32273ED1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164914" cy="64312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Multidimensional Scaling (MDS)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42C0FD-1E96-E5FE-BB27-6C5291808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60589"/>
                <a:ext cx="10524066" cy="388077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matrix of squared geodesic distances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    Double Centering:</a:t>
                </a:r>
                <a:r>
                  <a:rPr lang="en-US" dirty="0"/>
                  <a:t> Create a Gram matrix B which centers the data.</a:t>
                </a:r>
              </a:p>
              <a:p>
                <a:pPr marL="0" indent="0">
                  <a:buNone/>
                </a:pPr>
                <a:r>
                  <a:rPr lang="nl-NL" dirty="0"/>
                  <a:t>                                   B= </a:t>
                </a:r>
                <a14:m>
                  <m:oMath xmlns:m="http://schemas.openxmlformats.org/officeDocument/2006/math">
                    <m:r>
                      <a:rPr lang="nl-NL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nl-NL" dirty="0"/>
                  <a:t>​J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l-NL" dirty="0"/>
                  <a:t>J where </a:t>
                </a:r>
                <a:r>
                  <a:rPr lang="en-IN" dirty="0"/>
                  <a:t>J=I−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     Eigen decomposition:</a:t>
                </a:r>
                <a:r>
                  <a:rPr lang="en-US" dirty="0"/>
                  <a:t> Compute the eigenvalues (Λ) and eigenvectors (V) of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the matrix B.</a:t>
                </a:r>
              </a:p>
              <a:p>
                <a:pPr marL="0" indent="0">
                  <a:buNone/>
                </a:pPr>
                <a:r>
                  <a:rPr lang="en-US" b="0" dirty="0"/>
                  <a:t>                          </a:t>
                </a:r>
                <a:r>
                  <a:rPr lang="en-IN" dirty="0"/>
                  <a:t>B=V</a:t>
                </a:r>
                <a:r>
                  <a:rPr lang="el-GR" dirty="0"/>
                  <a:t>Λ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     Compute Embedding:</a:t>
                </a:r>
                <a:r>
                  <a:rPr lang="en-US" dirty="0"/>
                  <a:t> The final coordinates (Y) in 'k' dimensions are found by taking 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the top 'k' eigenvectors and scaling them by the square root of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their corresponding eigenvalues.</a:t>
                </a:r>
                <a:endParaRPr lang="en-IN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42C0FD-1E96-E5FE-BB27-6C5291808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60589"/>
                <a:ext cx="10524066" cy="3880773"/>
              </a:xfrm>
              <a:blipFill>
                <a:blip r:embed="rId2"/>
                <a:stretch>
                  <a:fillRect l="-116" t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2">
            <a:extLst>
              <a:ext uri="{FF2B5EF4-FFF2-40B4-BE49-F238E27FC236}">
                <a16:creationId xmlns:a16="http://schemas.microsoft.com/office/drawing/2014/main" id="{E4EA4956-7350-9468-3F2B-CEA5820D3D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6150" y="5413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CA591AE-3041-7592-8D07-2BDFE2A4FA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61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42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5A85-B3CD-0B49-594B-E157C1FF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5424"/>
          </a:xfrm>
        </p:spPr>
        <p:txBody>
          <a:bodyPr/>
          <a:lstStyle/>
          <a:p>
            <a:r>
              <a:rPr lang="en-IN" dirty="0" err="1"/>
              <a:t>Isomap</a:t>
            </a:r>
            <a:r>
              <a:rPr lang="en-IN" dirty="0"/>
              <a:t> – Pros &amp; Cons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04FC3E-999C-0CAA-FD2B-C179FC44B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40" y="1308587"/>
            <a:ext cx="1189021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Captures Non-Linearity: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Effectively finds and preserves global non-linear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Preserves Global Geometry: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Excels at retaining the overall shape and arrangement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Globally Optimal: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Guarantees an optimal solution for the given neighborhood graph.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Computationally Expensive: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Calculating all-pairs shortest paths is slow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         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e.g.,O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(N2logN)).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Sensitive to Parameters: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choice of neighbors ('k') can significantly impact the result.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Topological Instability: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fail if the manifold has "holes" or is not well-connected.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79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83E5-787C-4A1B-7D9E-4839A24BB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790010" cy="67056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of </a:t>
            </a:r>
            <a:r>
              <a:rPr lang="en-IN" b="1" dirty="0" err="1"/>
              <a:t>Isomap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D8C5-77D5-F80B-D90F-0EFA8EFE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18" y="1749109"/>
            <a:ext cx="12416874" cy="3880773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Visualization:</a:t>
            </a:r>
            <a:r>
              <a:rPr lang="en-US" dirty="0"/>
              <a:t> It makes it easier to see complex data like face images by  turning it </a:t>
            </a:r>
          </a:p>
          <a:p>
            <a:pPr marL="0" indent="0" fontAlgn="base">
              <a:buNone/>
            </a:pPr>
            <a:r>
              <a:rPr lang="en-US" dirty="0"/>
              <a:t>                           into 2D or 3D form so we can understand it better with plots or graphs.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Data Exploration:</a:t>
            </a:r>
            <a:r>
              <a:rPr lang="en-US" dirty="0"/>
              <a:t> It helps to find groups or patterns in the data that might be hidden when</a:t>
            </a:r>
          </a:p>
          <a:p>
            <a:pPr marL="0" indent="0" fontAlgn="base">
              <a:buNone/>
            </a:pPr>
            <a:r>
              <a:rPr lang="en-US" dirty="0"/>
              <a:t>                                  the data has too many features or dimensions.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Anomaly Detection:</a:t>
            </a:r>
            <a:r>
              <a:rPr lang="en-US" dirty="0"/>
              <a:t> Outliers or anomalies in the data can be identified by understanding </a:t>
            </a:r>
          </a:p>
          <a:p>
            <a:pPr marL="0" indent="0" fontAlgn="base">
              <a:buNone/>
            </a:pPr>
            <a:r>
              <a:rPr lang="en-US" dirty="0"/>
              <a:t>                                     how they deviate from the manifold.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Pre-processing for Machine Learning:</a:t>
            </a:r>
            <a:r>
              <a:rPr lang="en-US" dirty="0"/>
              <a:t> It can be used as a pre-processing step before applying</a:t>
            </a:r>
          </a:p>
          <a:p>
            <a:pPr marL="0" indent="0" fontAlgn="base">
              <a:buNone/>
            </a:pPr>
            <a:r>
              <a:rPr lang="en-US" dirty="0"/>
              <a:t>                                             other machine learning techniques improve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120631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D69A-D801-A1D4-800C-A26CFCB6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98" y="490728"/>
            <a:ext cx="8375226" cy="688848"/>
          </a:xfrm>
        </p:spPr>
        <p:txBody>
          <a:bodyPr/>
          <a:lstStyle/>
          <a:p>
            <a:r>
              <a:rPr lang="en-IN" dirty="0"/>
              <a:t>UMAP –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81C26-D0AD-743A-FE39-40BB2F58D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998" y="1611949"/>
            <a:ext cx="10770954" cy="388077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 it is:</a:t>
            </a:r>
            <a:r>
              <a:rPr lang="en-US" dirty="0"/>
              <a:t> A novel manifold learning technique for general-purpose, non-linear </a:t>
            </a:r>
          </a:p>
          <a:p>
            <a:pPr marL="0" indent="0">
              <a:buNone/>
            </a:pPr>
            <a:r>
              <a:rPr lang="en-US" dirty="0"/>
              <a:t>                     dimensionality reduction.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Mathematical Foundation:</a:t>
            </a:r>
            <a:r>
              <a:rPr lang="en-US" dirty="0"/>
              <a:t> Grounded in </a:t>
            </a:r>
            <a:r>
              <a:rPr lang="en-US" b="1" dirty="0"/>
              <a:t>Riemannian geometry</a:t>
            </a:r>
            <a:r>
              <a:rPr lang="en-US" dirty="0"/>
              <a:t> and </a:t>
            </a:r>
            <a:r>
              <a:rPr lang="en-US" b="1" dirty="0"/>
              <a:t>algebraic topology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Core Principle:</a:t>
            </a:r>
            <a:r>
              <a:rPr lang="en-US" dirty="0"/>
              <a:t> UMAP builds a fuzzy topological representation of the data and then </a:t>
            </a:r>
          </a:p>
          <a:p>
            <a:pPr marL="0" indent="0">
              <a:buNone/>
            </a:pPr>
            <a:r>
              <a:rPr lang="en-US" dirty="0"/>
              <a:t>               optimizes a low-dimensional embedding to be as structurally similar as possible.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Key Advantage:</a:t>
            </a:r>
            <a:r>
              <a:rPr lang="en-US" dirty="0"/>
              <a:t> It is extremely fast and excels at preserving both </a:t>
            </a:r>
            <a:r>
              <a:rPr lang="en-US" b="1" dirty="0"/>
              <a:t>local neighborhood </a:t>
            </a:r>
          </a:p>
          <a:p>
            <a:pPr marL="0" indent="0">
              <a:buNone/>
            </a:pPr>
            <a:r>
              <a:rPr lang="en-US" b="1" dirty="0"/>
              <a:t>                            structure</a:t>
            </a:r>
            <a:r>
              <a:rPr lang="en-US" dirty="0"/>
              <a:t> and </a:t>
            </a:r>
            <a:r>
              <a:rPr lang="en-US" b="1" dirty="0"/>
              <a:t>global data structure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42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82C1-BE9D-2600-DE6A-6A0C06BA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UMAP – Step-by-Step Algorithm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1642F9B-97DA-B700-E5BE-B62D9B6E8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884988"/>
            <a:ext cx="970009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 High-Dimensional Graph: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nearest neighbors for each data point (can use fast approximation methods).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fuzzy simplicial 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a weighted graph representing the topological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 of the data in high dimensions.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Low-Dimensional Embedding: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Initialize points randomly in the low-dimensional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the positions of these points to make their fuzzy topological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match the high-dimensional one. This is done by minimizing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cross-entropy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Stochastic Gradient Descent (SGD)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76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670C-BA26-6827-84C5-42F0F6C9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204026" cy="1100328"/>
          </a:xfrm>
        </p:spPr>
        <p:txBody>
          <a:bodyPr>
            <a:normAutofit fontScale="90000"/>
          </a:bodyPr>
          <a:lstStyle/>
          <a:p>
            <a:r>
              <a:rPr lang="en-IN" dirty="0"/>
              <a:t>UMAP – Mathematics : Topological </a:t>
            </a:r>
            <a:r>
              <a:rPr lang="en-IN" dirty="0" err="1"/>
              <a:t>Modeling</a:t>
            </a:r>
            <a:r>
              <a:rPr lang="en-IN" dirty="0"/>
              <a:t> &amp;  </a:t>
            </a:r>
            <a:br>
              <a:rPr lang="en-IN" dirty="0"/>
            </a:br>
            <a:r>
              <a:rPr lang="en-IN" dirty="0"/>
              <a:t>                                                   Cross-Entropy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D8A87-866C-C990-3F52-90029FB36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892365"/>
                <a:ext cx="8596668" cy="3880773"/>
              </a:xfrm>
            </p:spPr>
            <p:txBody>
              <a:bodyPr/>
              <a:lstStyle/>
              <a:p>
                <a:r>
                  <a:rPr lang="en-US" b="1" dirty="0"/>
                  <a:t>High-Dimensional Similarity:</a:t>
                </a:r>
                <a:r>
                  <a:rPr lang="en-US" dirty="0"/>
                  <a:t> A fuzzy "membership strength"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​is calculated for each pair of points, representing the probability of a connection.</a:t>
                </a:r>
              </a:p>
              <a:p>
                <a:endParaRPr lang="en-US" dirty="0"/>
              </a:p>
              <a:p>
                <a:r>
                  <a:rPr lang="en-US" b="1" dirty="0"/>
                  <a:t>Low-Dimensional Similarity:</a:t>
                </a:r>
                <a:r>
                  <a:rPr lang="en-US" dirty="0"/>
                  <a:t> A similar probability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​ is calculated for the points in the low-dimensional space.</a:t>
                </a:r>
              </a:p>
              <a:p>
                <a:endParaRPr lang="en-US" dirty="0"/>
              </a:p>
              <a:p>
                <a:r>
                  <a:rPr lang="en-US" b="1" dirty="0"/>
                  <a:t>Optimization:</a:t>
                </a:r>
                <a:r>
                  <a:rPr lang="en-US" dirty="0"/>
                  <a:t> The layout is optimized by minimizing the </a:t>
                </a:r>
                <a:r>
                  <a:rPr lang="en-US" b="1" dirty="0"/>
                  <a:t>cross-entropy (CE)</a:t>
                </a:r>
                <a:r>
                  <a:rPr lang="en-US" dirty="0"/>
                  <a:t> loss between the two distributions, which pushes the low-dimensional structure to match the high-dimensional one.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D8A87-866C-C990-3F52-90029FB36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892365"/>
                <a:ext cx="8596668" cy="3880773"/>
              </a:xfrm>
              <a:blipFill>
                <a:blip r:embed="rId2"/>
                <a:stretch>
                  <a:fillRect l="-142" t="-942" r="-12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6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0DE1-7617-7E14-1187-DEDB2F96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26" y="481584"/>
            <a:ext cx="8596668" cy="670560"/>
          </a:xfrm>
        </p:spPr>
        <p:txBody>
          <a:bodyPr/>
          <a:lstStyle/>
          <a:p>
            <a:r>
              <a:rPr lang="en-IN" dirty="0"/>
              <a:t>UMAP – Pros &amp; Cons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361CE5-A980-92C3-84C2-C34BA0D75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126" y="1585585"/>
            <a:ext cx="969579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Fast &amp; Scalable: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efficient and can run on datasets with millions of 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Excellent Structural Preservation: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Balances local and global structure better than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alternatives (like t-SNE).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Flexible: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various distance metrics, supervised, and semi-supervised modes.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Non-Deterministic: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can vary slightly between runs due to its stochastic nature.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Hyperparameter Tuning: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Requires tuning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n_neighbours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min_dist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for optimal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8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68282-F719-3F20-D351-90004314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247210" cy="597408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Isomap</a:t>
            </a:r>
            <a:r>
              <a:rPr lang="en-IN" dirty="0"/>
              <a:t> vs. UMAP –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A429F55-E62A-72DE-44D3-B52CFC632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190650"/>
              </p:ext>
            </p:extLst>
          </p:nvPr>
        </p:nvGraphicFramePr>
        <p:xfrm>
          <a:off x="612511" y="1481328"/>
          <a:ext cx="8596311" cy="23774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60647810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32181747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572414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Isomap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UMAP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09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Core Principle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Preserving Geodesic Distance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Preserving Topological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33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Focus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Global</a:t>
                      </a:r>
                      <a:r>
                        <a:rPr lang="en-IN"/>
                        <a:t>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Local</a:t>
                      </a:r>
                      <a:r>
                        <a:rPr lang="en-IN"/>
                        <a:t> and </a:t>
                      </a:r>
                      <a:r>
                        <a:rPr lang="en-IN" b="1"/>
                        <a:t>Global</a:t>
                      </a:r>
                      <a:r>
                        <a:rPr lang="en-IN"/>
                        <a:t>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71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Scalability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Poor (does not scale well past ~10k points)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 (scales to millions of points)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350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Speed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 (</a:t>
                      </a:r>
                      <a:r>
                        <a:rPr lang="en-IN" dirty="0">
                          <a:effectLst/>
                        </a:rPr>
                        <a:t>O</a:t>
                      </a:r>
                      <a:r>
                        <a:rPr lang="en-IN" dirty="0"/>
                        <a:t>(            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Fast (</a:t>
                      </a:r>
                      <a:r>
                        <a:rPr lang="en-IN" dirty="0">
                          <a:effectLst/>
                        </a:rPr>
                        <a:t>O</a:t>
                      </a:r>
                      <a:r>
                        <a:rPr lang="en-IN" dirty="0"/>
                        <a:t>(</a:t>
                      </a:r>
                      <a:r>
                        <a:rPr lang="en-IN" dirty="0" err="1">
                          <a:effectLst/>
                        </a:rPr>
                        <a:t>N</a:t>
                      </a:r>
                      <a:r>
                        <a:rPr lang="en-IN" dirty="0" err="1"/>
                        <a:t>lo</a:t>
                      </a:r>
                      <a:r>
                        <a:rPr lang="en-IN" dirty="0" err="1">
                          <a:effectLst/>
                        </a:rPr>
                        <a:t>gN</a:t>
                      </a:r>
                      <a:r>
                        <a:rPr lang="en-IN" dirty="0"/>
                        <a:t>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26142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E0C6BC28-3A3E-4324-9B40-074CB656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" y="4377298"/>
            <a:ext cx="136320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Isomap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have a small-to-medium dataset and preserving the true global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geometric distances is the top priority.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UMAP when: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need fast, scalable visualization or preprocessing for a large dataset,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a balance between local and global structure is desired.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8565EA-AA3D-BFCF-5ADC-FF11D11F1C36}"/>
                  </a:ext>
                </a:extLst>
              </p:cNvPr>
              <p:cNvSpPr txBox="1"/>
              <p:nvPr/>
            </p:nvSpPr>
            <p:spPr>
              <a:xfrm>
                <a:off x="4357836" y="3581769"/>
                <a:ext cx="100816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2  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logN</m:t>
                      </m:r>
                    </m:oMath>
                  </m:oMathPara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8565EA-AA3D-BFCF-5ADC-FF11D11F1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836" y="3581769"/>
                <a:ext cx="1008161" cy="553998"/>
              </a:xfrm>
              <a:prstGeom prst="rect">
                <a:avLst/>
              </a:prstGeom>
              <a:blipFill>
                <a:blip r:embed="rId2"/>
                <a:stretch>
                  <a:fillRect t="-1111" r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37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C49F-D515-B922-2EE9-05A5B31E0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927170" cy="615696"/>
          </a:xfrm>
        </p:spPr>
        <p:txBody>
          <a:bodyPr>
            <a:normAutofit fontScale="90000"/>
          </a:bodyPr>
          <a:lstStyle/>
          <a:p>
            <a:r>
              <a:rPr lang="en-IN" dirty="0"/>
              <a:t>Real-World Use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2B54AB-5EEE-244F-D438-98CCCF577A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0990" y="1638623"/>
            <a:ext cx="933140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Creating insightful 2D/3D plots from high-dimensional data,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- Image datasets (e.g., MNIST, Fashion-MNIST).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- Text embeddings from models like Word2Vec or BERT.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- Genomic or single-cell RNA sequencing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Exploration &amp; Clustering: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natural groupings, patterns, and outliers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datasets before formal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for Machine Learning: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low-dimensional output as features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faster and sometimes more accurate downstream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points that are far from the main data manifold,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often represent anomalies.</a:t>
            </a:r>
          </a:p>
        </p:txBody>
      </p:sp>
    </p:spTree>
    <p:extLst>
      <p:ext uri="{BB962C8B-B14F-4D97-AF65-F5344CB8AC3E}">
        <p14:creationId xmlns:p14="http://schemas.microsoft.com/office/powerpoint/2010/main" val="137080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428C-0401-6357-46A9-78F47958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6" y="1304544"/>
            <a:ext cx="8596668" cy="78028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95ABB2-6CD2-66F4-219C-4F2975B49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726" y="2648093"/>
            <a:ext cx="1008481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Isomap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Original Paper: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Tenenbaum, J. B., de Silva, V., &amp; Langford, J. C. (2000).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A global geometric framework for nonlinear dimensionality reduction.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Science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290(5500), 2319-2323.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UMAP Original Paper: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McInnes, L., Healy, J., &amp; Melville, J. (2018).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Uniform manifold approximation and projection for dimension reduction.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arXiv:1802.03426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20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1DE7-662D-D82B-56CB-B46E643C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895600"/>
            <a:ext cx="8596668" cy="1320800"/>
          </a:xfrm>
        </p:spPr>
        <p:txBody>
          <a:bodyPr>
            <a:normAutofit/>
          </a:bodyPr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52601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256</TotalTime>
  <Words>1498</Words>
  <Application>Microsoft Office PowerPoint</Application>
  <PresentationFormat>Widescreen</PresentationFormat>
  <Paragraphs>186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Trebuchet MS</vt:lpstr>
      <vt:lpstr>Wingdings 3</vt:lpstr>
      <vt:lpstr>Facet</vt:lpstr>
      <vt:lpstr>ISOMAP and UMAP: Non-linear Dimensionality Reduction Techniques</vt:lpstr>
      <vt:lpstr>PowerPoint Presentation</vt:lpstr>
      <vt:lpstr>Dimensionality Reduction Overview</vt:lpstr>
      <vt:lpstr>Understanding Manifold Learning</vt:lpstr>
      <vt:lpstr>Isometric Mapping (Isomap)</vt:lpstr>
      <vt:lpstr>How Does Isomap Work? </vt:lpstr>
      <vt:lpstr>Multidimensional Scaling (MDS) </vt:lpstr>
      <vt:lpstr>Isomap – Pros &amp; Cons</vt:lpstr>
      <vt:lpstr>Applications of Isomap </vt:lpstr>
      <vt:lpstr>UMAP – Introduction</vt:lpstr>
      <vt:lpstr>UMAP – Step-by-Step Algorithm</vt:lpstr>
      <vt:lpstr>UMAP – Mathematics : Topological Modeling &amp;                                                      Cross-Entropy</vt:lpstr>
      <vt:lpstr>UMAP – Pros &amp; Cons</vt:lpstr>
      <vt:lpstr>Isomap vs. UMAP – Comparison</vt:lpstr>
      <vt:lpstr>Real-World Use Cases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KUMAR</dc:creator>
  <cp:lastModifiedBy>GANESH KUMAR</cp:lastModifiedBy>
  <cp:revision>6</cp:revision>
  <dcterms:created xsi:type="dcterms:W3CDTF">2025-09-28T13:39:53Z</dcterms:created>
  <dcterms:modified xsi:type="dcterms:W3CDTF">2025-09-29T04:49:52Z</dcterms:modified>
</cp:coreProperties>
</file>