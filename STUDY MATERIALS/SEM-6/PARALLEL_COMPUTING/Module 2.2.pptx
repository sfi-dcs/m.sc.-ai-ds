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2" r:id="rId5"/>
    <p:sldId id="260"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D1531-CCB5-70C4-5E76-ABB7DC63E2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AD42D0-DB4F-C373-4FC4-0B2BAAFA2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06CD93-EE19-5473-508E-CAFFD671B259}"/>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5" name="Footer Placeholder 4">
            <a:extLst>
              <a:ext uri="{FF2B5EF4-FFF2-40B4-BE49-F238E27FC236}">
                <a16:creationId xmlns:a16="http://schemas.microsoft.com/office/drawing/2014/main" id="{FE4F861A-6C79-194E-E158-19CFBE2A6F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8BE314-3A8F-28E9-2970-1E014AC381DD}"/>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73996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7309-8201-DBFB-3A8F-4BC72217C7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45DF69-A9A5-EB0F-A909-D17060EC99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86C55C-5BE7-C7DF-A092-BBE5AC39EA39}"/>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5" name="Footer Placeholder 4">
            <a:extLst>
              <a:ext uri="{FF2B5EF4-FFF2-40B4-BE49-F238E27FC236}">
                <a16:creationId xmlns:a16="http://schemas.microsoft.com/office/drawing/2014/main" id="{46332F78-2A91-9C1A-3556-A2ECA3F687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D8B58E-7503-9CA8-F679-0C6E1311782C}"/>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1484392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ADFF8-6169-2B50-AEB3-1A0AFACBB4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7B719A-4F33-1055-5F9F-3A29F7D4D0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3B0DE4-16A7-C180-9ADA-557825832153}"/>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5" name="Footer Placeholder 4">
            <a:extLst>
              <a:ext uri="{FF2B5EF4-FFF2-40B4-BE49-F238E27FC236}">
                <a16:creationId xmlns:a16="http://schemas.microsoft.com/office/drawing/2014/main" id="{102E46ED-94D2-6509-FE86-B33A90749E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AE811-57FF-5F1E-FF5C-A28D84F56A4D}"/>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1363541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76F6-4A66-567B-7DCC-FB96E4B876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C87BF1-A9D8-D901-F6A8-07F1EBC078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E517AB-C048-8274-732D-9E3800DE0C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AEFBA5-B5D0-0984-6440-EA31705500C1}"/>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6" name="Footer Placeholder 5">
            <a:extLst>
              <a:ext uri="{FF2B5EF4-FFF2-40B4-BE49-F238E27FC236}">
                <a16:creationId xmlns:a16="http://schemas.microsoft.com/office/drawing/2014/main" id="{6CC6CE7B-F97A-1D50-26CF-BD3E9947B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38E4CE-CD9C-A9C8-A6D7-F936203D7E62}"/>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2480855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35E73-0627-ADF9-6679-38C0C59BA9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4312C7-86C2-B7B2-A734-84397307C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82F284-F079-A5BF-16BC-F30D4BC9DD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C7818A-E746-91C3-8621-2E79E78F47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3FBD04-9C03-2830-C184-B760A22D2E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FF396D-AB5F-E39F-5935-D8A6CA9C9AE2}"/>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8" name="Footer Placeholder 7">
            <a:extLst>
              <a:ext uri="{FF2B5EF4-FFF2-40B4-BE49-F238E27FC236}">
                <a16:creationId xmlns:a16="http://schemas.microsoft.com/office/drawing/2014/main" id="{64C48843-87A8-8093-7176-7FB28A7161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681CB8-4219-8572-4538-3D63175C2BC3}"/>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1848524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F49-F420-3ACB-2DB0-2C18A6163A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24D612-39D0-E604-C9B4-F4A18A85F6D6}"/>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4" name="Footer Placeholder 3">
            <a:extLst>
              <a:ext uri="{FF2B5EF4-FFF2-40B4-BE49-F238E27FC236}">
                <a16:creationId xmlns:a16="http://schemas.microsoft.com/office/drawing/2014/main" id="{B4DD5A56-AB88-AB32-84FF-39A3A4CC1E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CF197B-24F4-F133-9C0E-250091BFEF13}"/>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2881934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3B065E-6997-36B9-F5DB-E4D58DCD473E}"/>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3" name="Footer Placeholder 2">
            <a:extLst>
              <a:ext uri="{FF2B5EF4-FFF2-40B4-BE49-F238E27FC236}">
                <a16:creationId xmlns:a16="http://schemas.microsoft.com/office/drawing/2014/main" id="{077207A5-6124-E56C-7B5A-42B7DA2B53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8F8930-C767-6456-8A5E-A1C4D61BCB3F}"/>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563755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E5A86-C716-7261-A7EE-CAADCE9FDC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61C041-E41A-04B3-2772-EF60011E35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2A02F6-5433-3CFA-D811-D19C5F1E4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3F5650-5F67-16BD-3353-B29B8BEA5303}"/>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6" name="Footer Placeholder 5">
            <a:extLst>
              <a:ext uri="{FF2B5EF4-FFF2-40B4-BE49-F238E27FC236}">
                <a16:creationId xmlns:a16="http://schemas.microsoft.com/office/drawing/2014/main" id="{F220924D-4427-6EF8-8FF6-F77A1ECC23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0D69DD-1471-565F-EF65-CC029D461877}"/>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325901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6BCE1-5107-D6C9-781F-56CA91692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C16322-6D0F-54F2-0FF2-BA7FA99AD5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87D339-5782-EF1E-1CB5-1F514C754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5C50A4-F480-A1F8-EF47-76B8BF04FA0B}"/>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6" name="Footer Placeholder 5">
            <a:extLst>
              <a:ext uri="{FF2B5EF4-FFF2-40B4-BE49-F238E27FC236}">
                <a16:creationId xmlns:a16="http://schemas.microsoft.com/office/drawing/2014/main" id="{09B36ECE-2DC5-EF67-1E7A-1978A2E813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AB063D-051F-7ECD-D844-F0583D29E456}"/>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891492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EA96-ED2E-810E-2CF5-D78BC01990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A372DC-CA79-AA66-892F-FD81DB470F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575D7F-7343-6328-B2A5-0AFBCF7D6631}"/>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5" name="Footer Placeholder 4">
            <a:extLst>
              <a:ext uri="{FF2B5EF4-FFF2-40B4-BE49-F238E27FC236}">
                <a16:creationId xmlns:a16="http://schemas.microsoft.com/office/drawing/2014/main" id="{4A2234D9-229D-38EE-E88E-FAAE822FA2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EA0E4D-8338-B45D-F33F-BB7E25DDE257}"/>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3453618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7DECC-5297-111C-C75D-A9131D18EF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38F7FF-1C53-C141-63C8-44D9798523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7A1B05-25D4-5A3D-542B-4C49628994D4}"/>
              </a:ext>
            </a:extLst>
          </p:cNvPr>
          <p:cNvSpPr>
            <a:spLocks noGrp="1"/>
          </p:cNvSpPr>
          <p:nvPr>
            <p:ph type="dt" sz="half" idx="10"/>
          </p:nvPr>
        </p:nvSpPr>
        <p:spPr/>
        <p:txBody>
          <a:bodyPr/>
          <a:lstStyle/>
          <a:p>
            <a:fld id="{83B08977-09A0-440C-B14D-50BDEEACD552}" type="datetimeFigureOut">
              <a:rPr lang="en-IN" smtClean="0"/>
              <a:t>30-01-2024</a:t>
            </a:fld>
            <a:endParaRPr lang="en-IN"/>
          </a:p>
        </p:txBody>
      </p:sp>
      <p:sp>
        <p:nvSpPr>
          <p:cNvPr id="5" name="Footer Placeholder 4">
            <a:extLst>
              <a:ext uri="{FF2B5EF4-FFF2-40B4-BE49-F238E27FC236}">
                <a16:creationId xmlns:a16="http://schemas.microsoft.com/office/drawing/2014/main" id="{EB7CBD7F-510C-D082-8A0C-E02B8E26ED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004327-A537-FF6F-BEB0-EFECFCF2FC63}"/>
              </a:ext>
            </a:extLst>
          </p:cNvPr>
          <p:cNvSpPr>
            <a:spLocks noGrp="1"/>
          </p:cNvSpPr>
          <p:nvPr>
            <p:ph type="sldNum" sz="quarter" idx="12"/>
          </p:nvPr>
        </p:nvSpPr>
        <p:spPr/>
        <p:txBody>
          <a:bodyPr/>
          <a:lstStyle/>
          <a:p>
            <a:fld id="{6E4A4B23-F45D-4709-905A-E526D87D1537}" type="slidenum">
              <a:rPr lang="en-IN" smtClean="0"/>
              <a:t>‹#›</a:t>
            </a:fld>
            <a:endParaRPr lang="en-IN"/>
          </a:p>
        </p:txBody>
      </p:sp>
    </p:spTree>
    <p:extLst>
      <p:ext uri="{BB962C8B-B14F-4D97-AF65-F5344CB8AC3E}">
        <p14:creationId xmlns:p14="http://schemas.microsoft.com/office/powerpoint/2010/main" val="151925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DD37CA-5BA3-B278-B392-CD4AB07509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46D830-C7EF-3B17-5111-B15BA2DE67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9975D-6F9B-884A-5882-BD71992F2D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08977-09A0-440C-B14D-50BDEEACD552}" type="datetimeFigureOut">
              <a:rPr lang="en-IN" smtClean="0"/>
              <a:t>30-01-2024</a:t>
            </a:fld>
            <a:endParaRPr lang="en-IN"/>
          </a:p>
        </p:txBody>
      </p:sp>
      <p:sp>
        <p:nvSpPr>
          <p:cNvPr id="5" name="Footer Placeholder 4">
            <a:extLst>
              <a:ext uri="{FF2B5EF4-FFF2-40B4-BE49-F238E27FC236}">
                <a16:creationId xmlns:a16="http://schemas.microsoft.com/office/drawing/2014/main" id="{C77AD492-7E39-E96E-AD2C-71E96B1BD6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F62324-D07B-DDD7-BF68-991EDD697B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4A4B23-F45D-4709-905A-E526D87D1537}" type="slidenum">
              <a:rPr lang="en-IN" smtClean="0"/>
              <a:t>‹#›</a:t>
            </a:fld>
            <a:endParaRPr lang="en-IN"/>
          </a:p>
        </p:txBody>
      </p:sp>
    </p:spTree>
    <p:extLst>
      <p:ext uri="{BB962C8B-B14F-4D97-AF65-F5344CB8AC3E}">
        <p14:creationId xmlns:p14="http://schemas.microsoft.com/office/powerpoint/2010/main" val="412441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85EB2-F3AF-A0EC-A10D-0D9180CA3CA0}"/>
              </a:ext>
            </a:extLst>
          </p:cNvPr>
          <p:cNvSpPr>
            <a:spLocks noGrp="1"/>
          </p:cNvSpPr>
          <p:nvPr>
            <p:ph type="ctrTitle"/>
          </p:nvPr>
        </p:nvSpPr>
        <p:spPr/>
        <p:txBody>
          <a:bodyPr>
            <a:normAutofit fontScale="90000"/>
          </a:bodyPr>
          <a:lstStyle/>
          <a:p>
            <a:r>
              <a:rPr lang="en-IN" b="0" i="0" dirty="0">
                <a:solidFill>
                  <a:srgbClr val="212529"/>
                </a:solidFill>
                <a:effectLst/>
                <a:latin typeface="Open Sans" panose="020B0606030504020204" pitchFamily="34" charset="0"/>
              </a:rPr>
              <a:t>Designing Parallel Programs</a:t>
            </a:r>
            <a:br>
              <a:rPr lang="en-IN" b="0" i="0" dirty="0">
                <a:solidFill>
                  <a:srgbClr val="212529"/>
                </a:solidFill>
                <a:effectLst/>
                <a:latin typeface="Open Sans" panose="020B0606030504020204" pitchFamily="34" charset="0"/>
              </a:rPr>
            </a:br>
            <a:endParaRPr lang="en-IN" dirty="0"/>
          </a:p>
        </p:txBody>
      </p:sp>
      <p:sp>
        <p:nvSpPr>
          <p:cNvPr id="3" name="Subtitle 2">
            <a:extLst>
              <a:ext uri="{FF2B5EF4-FFF2-40B4-BE49-F238E27FC236}">
                <a16:creationId xmlns:a16="http://schemas.microsoft.com/office/drawing/2014/main" id="{4F5FE903-AC6A-D5F8-1D8A-DA3E08B31C3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49510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7CCC4-5775-868E-954D-FC4A21CA0A42}"/>
              </a:ext>
            </a:extLst>
          </p:cNvPr>
          <p:cNvSpPr>
            <a:spLocks noGrp="1"/>
          </p:cNvSpPr>
          <p:nvPr>
            <p:ph type="title"/>
          </p:nvPr>
        </p:nvSpPr>
        <p:spPr/>
        <p:txBody>
          <a:bodyPr/>
          <a:lstStyle/>
          <a:p>
            <a:r>
              <a:rPr lang="en-IN" b="0" i="0" dirty="0">
                <a:solidFill>
                  <a:srgbClr val="5D5D5D"/>
                </a:solidFill>
                <a:effectLst/>
                <a:latin typeface="Open Sans" panose="020B0606030504020204" pitchFamily="34" charset="0"/>
              </a:rPr>
              <a:t>Automatic vs. Manual Parallelization</a:t>
            </a:r>
            <a:br>
              <a:rPr lang="en-IN"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BEA54F7E-F708-F349-0C5C-785ECDD4D552}"/>
              </a:ext>
            </a:extLst>
          </p:cNvPr>
          <p:cNvSpPr>
            <a:spLocks noGrp="1"/>
          </p:cNvSpPr>
          <p:nvPr>
            <p:ph idx="1"/>
          </p:nvPr>
        </p:nvSpPr>
        <p:spPr>
          <a:xfrm>
            <a:off x="412376" y="1371599"/>
            <a:ext cx="11331389" cy="5121275"/>
          </a:xfrm>
        </p:spPr>
        <p:txBody>
          <a:bodyPr>
            <a:normAutofit/>
          </a:bodyPr>
          <a:lstStyle/>
          <a:p>
            <a:pPr algn="l">
              <a:buFont typeface="Arial" panose="020B0604020202020204" pitchFamily="34" charset="0"/>
              <a:buChar char="•"/>
            </a:pPr>
            <a:r>
              <a:rPr lang="en-US" b="0" i="0" dirty="0">
                <a:solidFill>
                  <a:srgbClr val="212529"/>
                </a:solidFill>
                <a:effectLst/>
              </a:rPr>
              <a:t>Designing and developing parallel programs has characteristically been a very manual process. The programmer is typically responsible for both identifying and actually implementing parallelism.</a:t>
            </a:r>
          </a:p>
          <a:p>
            <a:pPr algn="l">
              <a:buFont typeface="Arial" panose="020B0604020202020204" pitchFamily="34" charset="0"/>
              <a:buChar char="•"/>
            </a:pPr>
            <a:r>
              <a:rPr lang="en-US" b="0" i="0" dirty="0">
                <a:solidFill>
                  <a:srgbClr val="212529"/>
                </a:solidFill>
                <a:effectLst/>
              </a:rPr>
              <a:t>Very often, manually developing parallel codes is a time consuming, complex, error-prone and iterative process.</a:t>
            </a:r>
          </a:p>
          <a:p>
            <a:pPr algn="l">
              <a:buFont typeface="Arial" panose="020B0604020202020204" pitchFamily="34" charset="0"/>
              <a:buChar char="•"/>
            </a:pPr>
            <a:r>
              <a:rPr lang="en-US" b="0" i="0" dirty="0">
                <a:solidFill>
                  <a:srgbClr val="212529"/>
                </a:solidFill>
                <a:effectLst/>
              </a:rPr>
              <a:t>For a number of years now, various tools have been available to assist the programmer with converting serial programs into parallel programs. The most common type of tool used to automatically parallelize a serial program is a parallelizing compiler or pre-processor.</a:t>
            </a:r>
          </a:p>
          <a:p>
            <a:pPr marL="0" indent="0">
              <a:buNone/>
            </a:pPr>
            <a:endParaRPr lang="en-IN" dirty="0"/>
          </a:p>
        </p:txBody>
      </p:sp>
    </p:spTree>
    <p:extLst>
      <p:ext uri="{BB962C8B-B14F-4D97-AF65-F5344CB8AC3E}">
        <p14:creationId xmlns:p14="http://schemas.microsoft.com/office/powerpoint/2010/main" val="410496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1B72D-CE7B-527B-D01B-AE71BE16599D}"/>
              </a:ext>
            </a:extLst>
          </p:cNvPr>
          <p:cNvSpPr>
            <a:spLocks noGrp="1"/>
          </p:cNvSpPr>
          <p:nvPr>
            <p:ph idx="1"/>
          </p:nvPr>
        </p:nvSpPr>
        <p:spPr>
          <a:xfrm>
            <a:off x="358588" y="394447"/>
            <a:ext cx="11421036" cy="5970494"/>
          </a:xfrm>
        </p:spPr>
        <p:txBody>
          <a:bodyPr>
            <a:normAutofit/>
          </a:bodyPr>
          <a:lstStyle/>
          <a:p>
            <a:r>
              <a:rPr lang="en-US" b="0" i="0" dirty="0">
                <a:solidFill>
                  <a:srgbClr val="212529"/>
                </a:solidFill>
                <a:effectLst/>
              </a:rPr>
              <a:t>A parallelizing compiler generally works in two different ways:</a:t>
            </a:r>
          </a:p>
          <a:p>
            <a:pPr marL="514350" indent="-514350">
              <a:buFont typeface="+mj-lt"/>
              <a:buAutoNum type="arabicPeriod"/>
            </a:pPr>
            <a:r>
              <a:rPr lang="en-IN" b="0" i="0" dirty="0">
                <a:solidFill>
                  <a:srgbClr val="212529"/>
                </a:solidFill>
                <a:effectLst/>
                <a:latin typeface="Open Sans" panose="020B0606030504020204" pitchFamily="34" charset="0"/>
              </a:rPr>
              <a:t>Fully Automatic</a:t>
            </a:r>
          </a:p>
          <a:p>
            <a:pPr marL="514350" indent="-514350">
              <a:buFont typeface="+mj-lt"/>
              <a:buAutoNum type="arabicPeriod"/>
            </a:pPr>
            <a:r>
              <a:rPr lang="en-IN" b="0" i="0" dirty="0">
                <a:solidFill>
                  <a:srgbClr val="212529"/>
                </a:solidFill>
                <a:effectLst/>
                <a:latin typeface="Open Sans" panose="020B0606030504020204" pitchFamily="34" charset="0"/>
              </a:rPr>
              <a:t>Programmer Directed</a:t>
            </a:r>
          </a:p>
          <a:p>
            <a:pPr marL="0" indent="0">
              <a:buNone/>
            </a:pPr>
            <a:r>
              <a:rPr lang="en-IN" b="1" dirty="0">
                <a:solidFill>
                  <a:srgbClr val="212529"/>
                </a:solidFill>
                <a:latin typeface="Open Sans" panose="020B0606030504020204" pitchFamily="34" charset="0"/>
              </a:rPr>
              <a:t>Programmer Directed</a:t>
            </a:r>
            <a:endParaRPr lang="en-IN" b="1" i="0" dirty="0">
              <a:solidFill>
                <a:srgbClr val="212529"/>
              </a:solidFill>
              <a:effectLst/>
              <a:latin typeface="Open Sans" panose="020B0606030504020204" pitchFamily="34" charset="0"/>
            </a:endParaRPr>
          </a:p>
          <a:p>
            <a:pPr algn="l">
              <a:buFont typeface="Arial" panose="020B0604020202020204" pitchFamily="34" charset="0"/>
              <a:buChar char="•"/>
            </a:pPr>
            <a:r>
              <a:rPr lang="en-US" b="0" i="0" dirty="0">
                <a:solidFill>
                  <a:srgbClr val="212529"/>
                </a:solidFill>
                <a:effectLst/>
                <a:latin typeface="Open Sans" panose="020B0606030504020204" pitchFamily="34" charset="0"/>
              </a:rPr>
              <a:t>Using "compiler directives" or possibly compiler flags, the programmer explicitly tells the compiler how to parallelize the code.</a:t>
            </a:r>
          </a:p>
          <a:p>
            <a:pPr algn="l">
              <a:buFont typeface="Arial" panose="020B0604020202020204" pitchFamily="34" charset="0"/>
              <a:buChar char="•"/>
            </a:pPr>
            <a:r>
              <a:rPr lang="en-US" b="0" i="0" dirty="0">
                <a:solidFill>
                  <a:srgbClr val="212529"/>
                </a:solidFill>
                <a:effectLst/>
                <a:latin typeface="Open Sans" panose="020B0606030504020204" pitchFamily="34" charset="0"/>
              </a:rPr>
              <a:t>Characteristically been a very manual process</a:t>
            </a:r>
          </a:p>
          <a:p>
            <a:pPr algn="l">
              <a:buFont typeface="Arial" panose="020B0604020202020204" pitchFamily="34" charset="0"/>
              <a:buChar char="•"/>
            </a:pPr>
            <a:r>
              <a:rPr lang="en-US" dirty="0">
                <a:solidFill>
                  <a:srgbClr val="212529"/>
                </a:solidFill>
                <a:latin typeface="Open Sans" panose="020B0606030504020204" pitchFamily="34" charset="0"/>
              </a:rPr>
              <a:t>Programmer’s responsibility.</a:t>
            </a: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0" i="0" dirty="0">
                <a:solidFill>
                  <a:srgbClr val="212529"/>
                </a:solidFill>
                <a:effectLst/>
                <a:latin typeface="Open Sans" panose="020B0606030504020204" pitchFamily="34" charset="0"/>
              </a:rPr>
              <a:t>The most common compiler generated parallelization is done using on-node shared memory and threads (such as OpenMP).</a:t>
            </a:r>
          </a:p>
          <a:p>
            <a:pPr marL="0" indent="0">
              <a:buNone/>
            </a:pPr>
            <a:endParaRPr lang="en-IN" b="0" i="0" dirty="0">
              <a:solidFill>
                <a:srgbClr val="212529"/>
              </a:solidFill>
              <a:effectLst/>
              <a:latin typeface="Open Sans" panose="020B0606030504020204" pitchFamily="34" charset="0"/>
            </a:endParaRPr>
          </a:p>
          <a:p>
            <a:pPr marL="0" indent="0">
              <a:buNone/>
            </a:pPr>
            <a:endParaRPr lang="en-IN" dirty="0"/>
          </a:p>
        </p:txBody>
      </p:sp>
    </p:spTree>
    <p:extLst>
      <p:ext uri="{BB962C8B-B14F-4D97-AF65-F5344CB8AC3E}">
        <p14:creationId xmlns:p14="http://schemas.microsoft.com/office/powerpoint/2010/main" val="3556750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5A2C8D-4030-329A-FB23-54CAA1493FC7}"/>
              </a:ext>
            </a:extLst>
          </p:cNvPr>
          <p:cNvSpPr>
            <a:spLocks noGrp="1"/>
          </p:cNvSpPr>
          <p:nvPr>
            <p:ph idx="1"/>
          </p:nvPr>
        </p:nvSpPr>
        <p:spPr>
          <a:xfrm>
            <a:off x="466165" y="519953"/>
            <a:ext cx="10887635" cy="5657010"/>
          </a:xfrm>
        </p:spPr>
        <p:txBody>
          <a:bodyPr>
            <a:normAutofit fontScale="92500"/>
          </a:bodyPr>
          <a:lstStyle/>
          <a:p>
            <a:pPr marL="0" indent="0" algn="l">
              <a:buNone/>
            </a:pPr>
            <a:r>
              <a:rPr lang="en-US" sz="3200" b="1" i="0" dirty="0">
                <a:solidFill>
                  <a:srgbClr val="212529"/>
                </a:solidFill>
                <a:effectLst/>
              </a:rPr>
              <a:t>Fully Automatic </a:t>
            </a:r>
          </a:p>
          <a:p>
            <a:r>
              <a:rPr lang="en-US" sz="3200" dirty="0">
                <a:solidFill>
                  <a:srgbClr val="212529"/>
                </a:solidFill>
              </a:rPr>
              <a:t>Various tools have been available to assist the programmer with converting serial programs and into parallel programs</a:t>
            </a:r>
            <a:endParaRPr lang="en-US" sz="3200" i="0" dirty="0">
              <a:solidFill>
                <a:srgbClr val="212529"/>
              </a:solidFill>
              <a:effectLst/>
            </a:endParaRPr>
          </a:p>
          <a:p>
            <a:pPr algn="l">
              <a:buFont typeface="Arial" panose="020B0604020202020204" pitchFamily="34" charset="0"/>
              <a:buChar char="•"/>
            </a:pPr>
            <a:r>
              <a:rPr lang="en-US" b="0" i="0" dirty="0">
                <a:solidFill>
                  <a:srgbClr val="212529"/>
                </a:solidFill>
                <a:effectLst/>
              </a:rPr>
              <a:t>If you are beginning with an existing serial code and have time or budget constraints, then automatic parallelization may be the answer. However, there are several important caveats that apply to automatic parallelization:</a:t>
            </a:r>
          </a:p>
          <a:p>
            <a:pPr marL="742950" lvl="1" indent="-285750" algn="l">
              <a:buFont typeface="Arial" panose="020B0604020202020204" pitchFamily="34" charset="0"/>
              <a:buChar char="•"/>
            </a:pPr>
            <a:r>
              <a:rPr lang="en-US" b="0" i="0" dirty="0">
                <a:solidFill>
                  <a:srgbClr val="212529"/>
                </a:solidFill>
                <a:effectLst/>
              </a:rPr>
              <a:t>Wrong results may be produced</a:t>
            </a:r>
          </a:p>
          <a:p>
            <a:pPr marL="742950" lvl="1" indent="-285750" algn="l">
              <a:buFont typeface="Arial" panose="020B0604020202020204" pitchFamily="34" charset="0"/>
              <a:buChar char="•"/>
            </a:pPr>
            <a:r>
              <a:rPr lang="en-US" b="0" i="0" dirty="0">
                <a:solidFill>
                  <a:srgbClr val="212529"/>
                </a:solidFill>
                <a:effectLst/>
              </a:rPr>
              <a:t>Performance may actually degrade</a:t>
            </a:r>
          </a:p>
          <a:p>
            <a:pPr marL="742950" lvl="1" indent="-285750" algn="l">
              <a:buFont typeface="Arial" panose="020B0604020202020204" pitchFamily="34" charset="0"/>
              <a:buChar char="•"/>
            </a:pPr>
            <a:r>
              <a:rPr lang="en-US" b="0" i="0" dirty="0">
                <a:solidFill>
                  <a:srgbClr val="212529"/>
                </a:solidFill>
                <a:effectLst/>
              </a:rPr>
              <a:t>Much less flexible than manual parallelization</a:t>
            </a:r>
          </a:p>
          <a:p>
            <a:pPr marL="742950" lvl="1" indent="-285750" algn="l">
              <a:buFont typeface="Arial" panose="020B0604020202020204" pitchFamily="34" charset="0"/>
              <a:buChar char="•"/>
            </a:pPr>
            <a:r>
              <a:rPr lang="en-US" b="0" i="0" dirty="0">
                <a:solidFill>
                  <a:srgbClr val="212529"/>
                </a:solidFill>
                <a:effectLst/>
              </a:rPr>
              <a:t>Limited to a subset (mostly loops) of code</a:t>
            </a:r>
          </a:p>
          <a:p>
            <a:pPr marL="742950" lvl="1" indent="-285750" algn="l">
              <a:buFont typeface="Arial" panose="020B0604020202020204" pitchFamily="34" charset="0"/>
              <a:buChar char="•"/>
            </a:pPr>
            <a:r>
              <a:rPr lang="en-US" b="0" i="0" dirty="0">
                <a:solidFill>
                  <a:srgbClr val="212529"/>
                </a:solidFill>
                <a:effectLst/>
              </a:rPr>
              <a:t>May actually not parallelize code if the compiler analysis suggests there are inhibitors or the code is too complex</a:t>
            </a:r>
          </a:p>
          <a:p>
            <a:pPr algn="l">
              <a:buFont typeface="Arial" panose="020B0604020202020204" pitchFamily="34" charset="0"/>
              <a:buChar char="•"/>
            </a:pPr>
            <a:r>
              <a:rPr lang="en-US" b="0" i="0" dirty="0">
                <a:solidFill>
                  <a:srgbClr val="212529"/>
                </a:solidFill>
                <a:effectLst/>
              </a:rPr>
              <a:t>The remainder of this section applies to the manual method of developing parallel codes.</a:t>
            </a:r>
          </a:p>
          <a:p>
            <a:endParaRPr lang="en-IN" dirty="0"/>
          </a:p>
        </p:txBody>
      </p:sp>
    </p:spTree>
    <p:extLst>
      <p:ext uri="{BB962C8B-B14F-4D97-AF65-F5344CB8AC3E}">
        <p14:creationId xmlns:p14="http://schemas.microsoft.com/office/powerpoint/2010/main" val="10867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5B912-65BE-6ECD-7F40-096AD3526AD0}"/>
              </a:ext>
            </a:extLst>
          </p:cNvPr>
          <p:cNvSpPr>
            <a:spLocks noGrp="1"/>
          </p:cNvSpPr>
          <p:nvPr>
            <p:ph type="title"/>
          </p:nvPr>
        </p:nvSpPr>
        <p:spPr>
          <a:xfrm>
            <a:off x="663388" y="365126"/>
            <a:ext cx="10690412" cy="378946"/>
          </a:xfrm>
        </p:spPr>
        <p:txBody>
          <a:bodyPr>
            <a:normAutofit fontScale="90000"/>
          </a:bodyPr>
          <a:lstStyle/>
          <a:p>
            <a:r>
              <a:rPr lang="en-US" sz="4400" b="0" i="0" dirty="0">
                <a:solidFill>
                  <a:srgbClr val="5D5D5D"/>
                </a:solidFill>
                <a:effectLst/>
              </a:rPr>
              <a:t>Understand the Problem and the Program</a:t>
            </a:r>
            <a:br>
              <a:rPr lang="en-US" sz="4400" b="0" i="0" dirty="0">
                <a:solidFill>
                  <a:srgbClr val="5D5D5D"/>
                </a:solidFill>
                <a:effectLst/>
              </a:rPr>
            </a:br>
            <a:endParaRPr lang="en-IN" dirty="0"/>
          </a:p>
        </p:txBody>
      </p:sp>
      <p:sp>
        <p:nvSpPr>
          <p:cNvPr id="3" name="Content Placeholder 2">
            <a:extLst>
              <a:ext uri="{FF2B5EF4-FFF2-40B4-BE49-F238E27FC236}">
                <a16:creationId xmlns:a16="http://schemas.microsoft.com/office/drawing/2014/main" id="{415D2EE9-C766-9AAB-A472-8EE4451B9A3F}"/>
              </a:ext>
            </a:extLst>
          </p:cNvPr>
          <p:cNvSpPr>
            <a:spLocks noGrp="1"/>
          </p:cNvSpPr>
          <p:nvPr>
            <p:ph idx="1"/>
          </p:nvPr>
        </p:nvSpPr>
        <p:spPr>
          <a:xfrm>
            <a:off x="457199" y="932329"/>
            <a:ext cx="10573871" cy="5307387"/>
          </a:xfrm>
        </p:spPr>
        <p:txBody>
          <a:bodyPr>
            <a:normAutofit fontScale="92500" lnSpcReduction="20000"/>
          </a:bodyPr>
          <a:lstStyle/>
          <a:p>
            <a:pPr algn="l">
              <a:buFont typeface="Arial" panose="020B0604020202020204" pitchFamily="34" charset="0"/>
              <a:buChar char="•"/>
            </a:pPr>
            <a:r>
              <a:rPr lang="en-US" sz="3300" b="0" i="0" dirty="0">
                <a:solidFill>
                  <a:srgbClr val="212529"/>
                </a:solidFill>
                <a:effectLst/>
              </a:rPr>
              <a:t>Undoubtedly, the first step in developing parallel software is to first understand the problem that you wish to solve in parallel. If you are starting with a serial program, this means understanding the existing code also.</a:t>
            </a:r>
          </a:p>
          <a:p>
            <a:pPr algn="l">
              <a:buFont typeface="Arial" panose="020B0604020202020204" pitchFamily="34" charset="0"/>
              <a:buChar char="•"/>
            </a:pPr>
            <a:r>
              <a:rPr lang="en-US" sz="3300" b="0" i="0" dirty="0">
                <a:solidFill>
                  <a:srgbClr val="212529"/>
                </a:solidFill>
                <a:effectLst/>
              </a:rPr>
              <a:t>Before spending time in an attempt to develop a parallel solution for a problem, determine whether or not the problem is one that can actually be parallelized.</a:t>
            </a:r>
          </a:p>
          <a:p>
            <a:pPr marL="742950" lvl="1" indent="-285750" algn="l">
              <a:buFont typeface="Arial" panose="020B0604020202020204" pitchFamily="34" charset="0"/>
              <a:buChar char="•"/>
            </a:pPr>
            <a:r>
              <a:rPr lang="en-US" sz="3300" b="0" i="0" dirty="0">
                <a:solidFill>
                  <a:srgbClr val="212529"/>
                </a:solidFill>
                <a:effectLst/>
              </a:rPr>
              <a:t>Example of an easy-to-parallelize problem:</a:t>
            </a:r>
          </a:p>
          <a:p>
            <a:pPr algn="l"/>
            <a:r>
              <a:rPr lang="en-US" sz="3300" b="1" i="0" dirty="0">
                <a:solidFill>
                  <a:srgbClr val="212529"/>
                </a:solidFill>
                <a:effectLst/>
              </a:rPr>
              <a:t>Calculation of the first 10,000 members of the Fibonacci series (0,1,1,2,3,5,8,13,21,...) by use of the formula:</a:t>
            </a:r>
            <a:br>
              <a:rPr lang="en-US" sz="3300" b="0" i="0" dirty="0">
                <a:solidFill>
                  <a:srgbClr val="212529"/>
                </a:solidFill>
                <a:effectLst/>
              </a:rPr>
            </a:br>
            <a:r>
              <a:rPr lang="en-US" sz="3300" b="1" i="0" dirty="0">
                <a:solidFill>
                  <a:srgbClr val="212529"/>
                </a:solidFill>
                <a:effectLst/>
              </a:rPr>
              <a:t>F(n) = F(n-1) + F(n-2)</a:t>
            </a:r>
            <a:endParaRPr lang="en-US" sz="3300" b="0" i="0" dirty="0">
              <a:solidFill>
                <a:srgbClr val="212529"/>
              </a:solidFill>
              <a:effectLst/>
            </a:endParaRPr>
          </a:p>
          <a:p>
            <a:pPr algn="l"/>
            <a:r>
              <a:rPr lang="en-US" sz="3300" b="0" i="0" dirty="0">
                <a:solidFill>
                  <a:srgbClr val="212529"/>
                </a:solidFill>
                <a:effectLst/>
              </a:rPr>
              <a:t>The calculation of the F(n) value uses those of both F(n-1) and F(n-2), which must be computed first.</a:t>
            </a:r>
          </a:p>
          <a:p>
            <a:endParaRPr lang="en-IN" dirty="0"/>
          </a:p>
        </p:txBody>
      </p:sp>
    </p:spTree>
    <p:extLst>
      <p:ext uri="{BB962C8B-B14F-4D97-AF65-F5344CB8AC3E}">
        <p14:creationId xmlns:p14="http://schemas.microsoft.com/office/powerpoint/2010/main" val="2481757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A0D8EC-82AB-9E5C-BCF3-72FFFA41517B}"/>
              </a:ext>
            </a:extLst>
          </p:cNvPr>
          <p:cNvSpPr>
            <a:spLocks noGrp="1"/>
          </p:cNvSpPr>
          <p:nvPr>
            <p:ph idx="1"/>
          </p:nvPr>
        </p:nvSpPr>
        <p:spPr>
          <a:xfrm>
            <a:off x="493059" y="304800"/>
            <a:ext cx="10860741" cy="5872163"/>
          </a:xfrm>
        </p:spPr>
        <p:txBody>
          <a:bodyPr>
            <a:normAutofit fontScale="92500" lnSpcReduction="20000"/>
          </a:bodyPr>
          <a:lstStyle/>
          <a:p>
            <a:pPr algn="l">
              <a:buFont typeface="Arial" panose="020B0604020202020204" pitchFamily="34" charset="0"/>
              <a:buChar char="•"/>
            </a:pPr>
            <a:r>
              <a:rPr lang="en-US" sz="2600" b="0" i="0" dirty="0">
                <a:solidFill>
                  <a:srgbClr val="212529"/>
                </a:solidFill>
                <a:effectLst/>
              </a:rPr>
              <a:t>Identify the program's </a:t>
            </a:r>
            <a:r>
              <a:rPr lang="en-US" sz="2600" b="1" i="1" dirty="0">
                <a:solidFill>
                  <a:srgbClr val="212529"/>
                </a:solidFill>
                <a:effectLst/>
              </a:rPr>
              <a:t>hotspots</a:t>
            </a:r>
            <a:r>
              <a:rPr lang="en-US" sz="2600" b="0" i="0" dirty="0">
                <a:solidFill>
                  <a:srgbClr val="212529"/>
                </a:solidFill>
                <a:effectLst/>
              </a:rPr>
              <a:t>:</a:t>
            </a:r>
          </a:p>
          <a:p>
            <a:pPr marL="742950" lvl="1" indent="-285750" algn="l">
              <a:buFont typeface="Arial" panose="020B0604020202020204" pitchFamily="34" charset="0"/>
              <a:buChar char="•"/>
            </a:pPr>
            <a:r>
              <a:rPr lang="en-US" sz="2600" b="0" i="0" dirty="0">
                <a:solidFill>
                  <a:srgbClr val="212529"/>
                </a:solidFill>
                <a:effectLst/>
              </a:rPr>
              <a:t>Know where most of the real work is being done. The majority of scientific and technical programs usually accomplish most of their work in a few places.</a:t>
            </a:r>
          </a:p>
          <a:p>
            <a:pPr marL="742950" lvl="1" indent="-285750" algn="l">
              <a:buFont typeface="Arial" panose="020B0604020202020204" pitchFamily="34" charset="0"/>
              <a:buChar char="•"/>
            </a:pPr>
            <a:r>
              <a:rPr lang="en-US" sz="2600" b="0" i="0" dirty="0">
                <a:solidFill>
                  <a:srgbClr val="212529"/>
                </a:solidFill>
                <a:effectLst/>
              </a:rPr>
              <a:t>Profilers and performance analysis tools can help here</a:t>
            </a:r>
          </a:p>
          <a:p>
            <a:pPr marL="742950" lvl="1" indent="-285750" algn="l">
              <a:buFont typeface="Arial" panose="020B0604020202020204" pitchFamily="34" charset="0"/>
              <a:buChar char="•"/>
            </a:pPr>
            <a:r>
              <a:rPr lang="en-US" sz="2600" b="0" i="0" dirty="0">
                <a:solidFill>
                  <a:srgbClr val="212529"/>
                </a:solidFill>
                <a:effectLst/>
              </a:rPr>
              <a:t>Focus on parallelizing the hotspots and ignore those sections of the program that account for little CPU usage.</a:t>
            </a:r>
          </a:p>
          <a:p>
            <a:pPr algn="l">
              <a:buFont typeface="Arial" panose="020B0604020202020204" pitchFamily="34" charset="0"/>
              <a:buChar char="•"/>
            </a:pPr>
            <a:r>
              <a:rPr lang="en-US" sz="2600" b="0" i="0" dirty="0">
                <a:solidFill>
                  <a:srgbClr val="212529"/>
                </a:solidFill>
                <a:effectLst/>
              </a:rPr>
              <a:t>Identify </a:t>
            </a:r>
            <a:r>
              <a:rPr lang="en-US" sz="2600" b="1" i="1" dirty="0">
                <a:solidFill>
                  <a:srgbClr val="212529"/>
                </a:solidFill>
                <a:effectLst/>
              </a:rPr>
              <a:t>bottlenecks</a:t>
            </a:r>
            <a:r>
              <a:rPr lang="en-US" sz="2600" b="0" i="0" dirty="0">
                <a:solidFill>
                  <a:srgbClr val="212529"/>
                </a:solidFill>
                <a:effectLst/>
              </a:rPr>
              <a:t> in the program:</a:t>
            </a:r>
          </a:p>
          <a:p>
            <a:pPr marL="742950" lvl="1" indent="-285750" algn="l">
              <a:buFont typeface="Arial" panose="020B0604020202020204" pitchFamily="34" charset="0"/>
              <a:buChar char="•"/>
            </a:pPr>
            <a:r>
              <a:rPr lang="en-US" sz="2600" b="0" i="0" dirty="0">
                <a:solidFill>
                  <a:srgbClr val="212529"/>
                </a:solidFill>
                <a:effectLst/>
              </a:rPr>
              <a:t>Are there areas that are disproportionately slow, or cause parallelizable work to halt or be deferred? For example, I/O is usually something that slows a program down.</a:t>
            </a:r>
          </a:p>
          <a:p>
            <a:pPr marL="742950" lvl="1" indent="-285750" algn="l">
              <a:buFont typeface="Arial" panose="020B0604020202020204" pitchFamily="34" charset="0"/>
              <a:buChar char="•"/>
            </a:pPr>
            <a:r>
              <a:rPr lang="en-US" sz="2600" b="0" i="0" dirty="0">
                <a:solidFill>
                  <a:srgbClr val="212529"/>
                </a:solidFill>
                <a:effectLst/>
              </a:rPr>
              <a:t>May be possible to restructure the program or use a different algorithm to reduce or eliminate unnecessary slow areas</a:t>
            </a:r>
          </a:p>
          <a:p>
            <a:pPr algn="l">
              <a:buFont typeface="Arial" panose="020B0604020202020204" pitchFamily="34" charset="0"/>
              <a:buChar char="•"/>
            </a:pPr>
            <a:r>
              <a:rPr lang="en-US" sz="2600" b="0" i="0" dirty="0">
                <a:solidFill>
                  <a:srgbClr val="212529"/>
                </a:solidFill>
                <a:effectLst/>
              </a:rPr>
              <a:t>Identify inhibitors to parallelism. One common class of inhibitor is </a:t>
            </a:r>
            <a:r>
              <a:rPr lang="en-US" sz="2600" b="0" i="1" dirty="0">
                <a:solidFill>
                  <a:srgbClr val="212529"/>
                </a:solidFill>
                <a:effectLst/>
              </a:rPr>
              <a:t>data dependence</a:t>
            </a:r>
            <a:r>
              <a:rPr lang="en-US" sz="2600" b="0" i="0" dirty="0">
                <a:solidFill>
                  <a:srgbClr val="212529"/>
                </a:solidFill>
                <a:effectLst/>
              </a:rPr>
              <a:t>, as demonstrated by the Fibonacci sequence above.</a:t>
            </a:r>
          </a:p>
          <a:p>
            <a:pPr algn="l">
              <a:buFont typeface="Arial" panose="020B0604020202020204" pitchFamily="34" charset="0"/>
              <a:buChar char="•"/>
            </a:pPr>
            <a:r>
              <a:rPr lang="en-US" sz="2600" b="0" i="0" dirty="0">
                <a:solidFill>
                  <a:srgbClr val="212529"/>
                </a:solidFill>
                <a:effectLst/>
              </a:rPr>
              <a:t>Investigate other algorithms if possible. This may be the single most important consideration when designing a parallel application.</a:t>
            </a:r>
          </a:p>
          <a:p>
            <a:pPr algn="l">
              <a:buFont typeface="Arial" panose="020B0604020202020204" pitchFamily="34" charset="0"/>
              <a:buChar char="•"/>
            </a:pPr>
            <a:r>
              <a:rPr lang="en-US" sz="2600" b="0" i="0" dirty="0">
                <a:solidFill>
                  <a:srgbClr val="212529"/>
                </a:solidFill>
                <a:effectLst/>
              </a:rPr>
              <a:t>Take advantage of optimized third party parallel software and highly optimized math libraries available from leading vendors (IBM's ESSL, Intel's MKL, AMD's AMCL, etc.).</a:t>
            </a:r>
          </a:p>
          <a:p>
            <a:endParaRPr lang="en-IN" dirty="0"/>
          </a:p>
        </p:txBody>
      </p:sp>
    </p:spTree>
    <p:extLst>
      <p:ext uri="{BB962C8B-B14F-4D97-AF65-F5344CB8AC3E}">
        <p14:creationId xmlns:p14="http://schemas.microsoft.com/office/powerpoint/2010/main" val="3211365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142B-7DC2-83F0-0CBB-940053BC060F}"/>
              </a:ext>
            </a:extLst>
          </p:cNvPr>
          <p:cNvSpPr>
            <a:spLocks noGrp="1"/>
          </p:cNvSpPr>
          <p:nvPr>
            <p:ph type="title"/>
          </p:nvPr>
        </p:nvSpPr>
        <p:spPr/>
        <p:txBody>
          <a:bodyPr/>
          <a:lstStyle/>
          <a:p>
            <a:pPr algn="ctr"/>
            <a:r>
              <a:rPr lang="en-IN" b="0" i="0" dirty="0">
                <a:solidFill>
                  <a:srgbClr val="5D5D5D"/>
                </a:solidFill>
                <a:effectLst/>
                <a:latin typeface="Open Sans" panose="020B0606030504020204" pitchFamily="34" charset="0"/>
              </a:rPr>
              <a:t>Partitioning</a:t>
            </a:r>
            <a:br>
              <a:rPr lang="en-IN" b="0" i="0" dirty="0">
                <a:solidFill>
                  <a:srgbClr val="5D5D5D"/>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899F1490-62A0-44DA-B1EA-CDF3DDD8476D}"/>
              </a:ext>
            </a:extLst>
          </p:cNvPr>
          <p:cNvSpPr>
            <a:spLocks noGrp="1"/>
          </p:cNvSpPr>
          <p:nvPr>
            <p:ph idx="1"/>
          </p:nvPr>
        </p:nvSpPr>
        <p:spPr>
          <a:xfrm>
            <a:off x="403412" y="1416424"/>
            <a:ext cx="11394141" cy="5076451"/>
          </a:xfrm>
        </p:spPr>
        <p:txBody>
          <a:bodyPr/>
          <a:lstStyle/>
          <a:p>
            <a:pPr algn="l">
              <a:buFont typeface="Arial" panose="020B0604020202020204" pitchFamily="34" charset="0"/>
              <a:buChar char="•"/>
            </a:pPr>
            <a:r>
              <a:rPr lang="en-US" b="0" i="0" dirty="0">
                <a:solidFill>
                  <a:srgbClr val="212529"/>
                </a:solidFill>
                <a:effectLst/>
              </a:rPr>
              <a:t>One of the first steps in designing a parallel program is to break the problem into discrete "chunks" of work that can be distributed to multiple tasks. This is known as decomposition or partitioning.</a:t>
            </a:r>
          </a:p>
          <a:p>
            <a:pPr algn="l">
              <a:buFont typeface="Arial" panose="020B0604020202020204" pitchFamily="34" charset="0"/>
              <a:buChar char="•"/>
            </a:pPr>
            <a:r>
              <a:rPr lang="en-US" b="0" i="0" dirty="0">
                <a:solidFill>
                  <a:srgbClr val="212529"/>
                </a:solidFill>
                <a:effectLst/>
              </a:rPr>
              <a:t>There are two basic ways to partition computational work among parallel tasks:</a:t>
            </a:r>
          </a:p>
          <a:p>
            <a:pPr lvl="1"/>
            <a:r>
              <a:rPr lang="en-US" b="0" i="0" dirty="0">
                <a:solidFill>
                  <a:srgbClr val="212529"/>
                </a:solidFill>
                <a:effectLst/>
              </a:rPr>
              <a:t> </a:t>
            </a:r>
            <a:r>
              <a:rPr lang="en-US" b="1" i="1" dirty="0">
                <a:solidFill>
                  <a:srgbClr val="212529"/>
                </a:solidFill>
              </a:rPr>
              <a:t>D</a:t>
            </a:r>
            <a:r>
              <a:rPr lang="en-US" b="1" i="1" dirty="0">
                <a:solidFill>
                  <a:srgbClr val="212529"/>
                </a:solidFill>
                <a:effectLst/>
              </a:rPr>
              <a:t>omain decomposition</a:t>
            </a:r>
            <a:r>
              <a:rPr lang="en-US" b="0" i="0" dirty="0">
                <a:solidFill>
                  <a:srgbClr val="212529"/>
                </a:solidFill>
                <a:effectLst/>
              </a:rPr>
              <a:t> </a:t>
            </a:r>
          </a:p>
          <a:p>
            <a:pPr lvl="1"/>
            <a:r>
              <a:rPr lang="en-US" b="0" i="0" dirty="0">
                <a:solidFill>
                  <a:srgbClr val="212529"/>
                </a:solidFill>
                <a:effectLst/>
              </a:rPr>
              <a:t> </a:t>
            </a:r>
            <a:r>
              <a:rPr lang="en-US" b="1" i="1" dirty="0">
                <a:solidFill>
                  <a:srgbClr val="212529"/>
                </a:solidFill>
              </a:rPr>
              <a:t>F</a:t>
            </a:r>
            <a:r>
              <a:rPr lang="en-US" b="1" i="1" dirty="0">
                <a:solidFill>
                  <a:srgbClr val="212529"/>
                </a:solidFill>
                <a:effectLst/>
              </a:rPr>
              <a:t>unctional decomposition</a:t>
            </a:r>
            <a:r>
              <a:rPr lang="en-US" b="0" i="0" dirty="0">
                <a:solidFill>
                  <a:srgbClr val="212529"/>
                </a:solidFill>
                <a:effectLst/>
              </a:rPr>
              <a:t>.</a:t>
            </a:r>
          </a:p>
          <a:p>
            <a:endParaRPr lang="en-IN" dirty="0"/>
          </a:p>
        </p:txBody>
      </p:sp>
    </p:spTree>
    <p:extLst>
      <p:ext uri="{BB962C8B-B14F-4D97-AF65-F5344CB8AC3E}">
        <p14:creationId xmlns:p14="http://schemas.microsoft.com/office/powerpoint/2010/main" val="3360639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8B641F-4310-DC93-9248-40C0DD74206B}"/>
              </a:ext>
            </a:extLst>
          </p:cNvPr>
          <p:cNvSpPr>
            <a:spLocks noGrp="1"/>
          </p:cNvSpPr>
          <p:nvPr>
            <p:ph idx="1"/>
          </p:nvPr>
        </p:nvSpPr>
        <p:spPr>
          <a:xfrm>
            <a:off x="385482" y="313765"/>
            <a:ext cx="10968318" cy="5863198"/>
          </a:xfrm>
        </p:spPr>
        <p:txBody>
          <a:bodyPr/>
          <a:lstStyle/>
          <a:p>
            <a:pPr marL="0" indent="0">
              <a:buNone/>
            </a:pPr>
            <a:r>
              <a:rPr lang="en-US" b="1" i="1" dirty="0">
                <a:solidFill>
                  <a:srgbClr val="212529"/>
                </a:solidFill>
                <a:latin typeface="Open Sans" panose="020B0606030504020204" pitchFamily="34" charset="0"/>
              </a:rPr>
              <a:t>D</a:t>
            </a:r>
            <a:r>
              <a:rPr lang="en-US" b="1" i="1" dirty="0">
                <a:solidFill>
                  <a:srgbClr val="212529"/>
                </a:solidFill>
                <a:effectLst/>
                <a:latin typeface="Open Sans" panose="020B0606030504020204" pitchFamily="34" charset="0"/>
              </a:rPr>
              <a:t>omain decomposition</a:t>
            </a:r>
            <a:r>
              <a:rPr lang="en-US" b="0" i="0" dirty="0">
                <a:solidFill>
                  <a:srgbClr val="212529"/>
                </a:solidFill>
                <a:effectLst/>
                <a:latin typeface="Open Sans" panose="020B0606030504020204" pitchFamily="34" charset="0"/>
              </a:rPr>
              <a:t> </a:t>
            </a:r>
          </a:p>
          <a:p>
            <a:pPr marL="0" indent="0">
              <a:buNone/>
            </a:pPr>
            <a:r>
              <a:rPr lang="en-US" b="0" i="0" dirty="0">
                <a:solidFill>
                  <a:srgbClr val="212529"/>
                </a:solidFill>
                <a:effectLst/>
              </a:rPr>
              <a:t>In this type of partitioning, the data associated with a problem is decomposed. Each parallel task then works on a portion of the data.</a:t>
            </a:r>
            <a:endParaRPr lang="en-IN" dirty="0"/>
          </a:p>
        </p:txBody>
      </p:sp>
      <p:pic>
        <p:nvPicPr>
          <p:cNvPr id="5" name="Picture 4">
            <a:extLst>
              <a:ext uri="{FF2B5EF4-FFF2-40B4-BE49-F238E27FC236}">
                <a16:creationId xmlns:a16="http://schemas.microsoft.com/office/drawing/2014/main" id="{BC8462CB-97B6-68C1-F9EF-0D208540EF46}"/>
              </a:ext>
            </a:extLst>
          </p:cNvPr>
          <p:cNvPicPr>
            <a:picLocks noChangeAspect="1"/>
          </p:cNvPicPr>
          <p:nvPr/>
        </p:nvPicPr>
        <p:blipFill>
          <a:blip r:embed="rId2"/>
          <a:stretch>
            <a:fillRect/>
          </a:stretch>
        </p:blipFill>
        <p:spPr>
          <a:xfrm>
            <a:off x="1972236" y="2495203"/>
            <a:ext cx="7458636" cy="3815950"/>
          </a:xfrm>
          <a:prstGeom prst="rect">
            <a:avLst/>
          </a:prstGeom>
        </p:spPr>
      </p:pic>
    </p:spTree>
    <p:extLst>
      <p:ext uri="{BB962C8B-B14F-4D97-AF65-F5344CB8AC3E}">
        <p14:creationId xmlns:p14="http://schemas.microsoft.com/office/powerpoint/2010/main" val="3116274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AA14F1-C4BB-5F43-411F-29C8A844F57F}"/>
              </a:ext>
            </a:extLst>
          </p:cNvPr>
          <p:cNvSpPr>
            <a:spLocks noGrp="1"/>
          </p:cNvSpPr>
          <p:nvPr>
            <p:ph idx="1"/>
          </p:nvPr>
        </p:nvSpPr>
        <p:spPr>
          <a:xfrm>
            <a:off x="448235" y="502024"/>
            <a:ext cx="10905565" cy="5674939"/>
          </a:xfrm>
        </p:spPr>
        <p:txBody>
          <a:bodyPr/>
          <a:lstStyle/>
          <a:p>
            <a:pPr marL="0" indent="0" algn="l">
              <a:buNone/>
            </a:pPr>
            <a:r>
              <a:rPr lang="en-US" b="0" i="0" dirty="0">
                <a:solidFill>
                  <a:srgbClr val="212529"/>
                </a:solidFill>
                <a:effectLst/>
                <a:latin typeface="Open Sans" panose="020B0606030504020204" pitchFamily="34" charset="0"/>
              </a:rPr>
              <a:t>There are different ways to partition data:</a:t>
            </a:r>
          </a:p>
          <a:p>
            <a:pPr marL="0" indent="0">
              <a:buNone/>
            </a:pPr>
            <a:br>
              <a:rPr lang="en-US" dirty="0">
                <a:effectLst/>
              </a:rPr>
            </a:br>
            <a:endParaRPr lang="en-IN" dirty="0"/>
          </a:p>
        </p:txBody>
      </p:sp>
      <p:pic>
        <p:nvPicPr>
          <p:cNvPr id="5" name="Picture 4">
            <a:extLst>
              <a:ext uri="{FF2B5EF4-FFF2-40B4-BE49-F238E27FC236}">
                <a16:creationId xmlns:a16="http://schemas.microsoft.com/office/drawing/2014/main" id="{7FFF6317-D769-6197-19C6-782428A343F2}"/>
              </a:ext>
            </a:extLst>
          </p:cNvPr>
          <p:cNvPicPr>
            <a:picLocks noChangeAspect="1"/>
          </p:cNvPicPr>
          <p:nvPr/>
        </p:nvPicPr>
        <p:blipFill>
          <a:blip r:embed="rId2"/>
          <a:stretch>
            <a:fillRect/>
          </a:stretch>
        </p:blipFill>
        <p:spPr>
          <a:xfrm>
            <a:off x="3146804" y="1062785"/>
            <a:ext cx="5898391" cy="4732430"/>
          </a:xfrm>
          <a:prstGeom prst="rect">
            <a:avLst/>
          </a:prstGeom>
        </p:spPr>
      </p:pic>
    </p:spTree>
    <p:extLst>
      <p:ext uri="{BB962C8B-B14F-4D97-AF65-F5344CB8AC3E}">
        <p14:creationId xmlns:p14="http://schemas.microsoft.com/office/powerpoint/2010/main" val="3341423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C6B3-8218-1CFF-8D16-546F5EFD0CE4}"/>
              </a:ext>
            </a:extLst>
          </p:cNvPr>
          <p:cNvSpPr>
            <a:spLocks noGrp="1"/>
          </p:cNvSpPr>
          <p:nvPr>
            <p:ph type="title"/>
          </p:nvPr>
        </p:nvSpPr>
        <p:spPr>
          <a:xfrm>
            <a:off x="564776" y="242047"/>
            <a:ext cx="10789023" cy="788895"/>
          </a:xfrm>
        </p:spPr>
        <p:txBody>
          <a:bodyPr>
            <a:normAutofit fontScale="90000"/>
          </a:bodyPr>
          <a:lstStyle/>
          <a:p>
            <a:r>
              <a:rPr lang="en-IN" b="0" i="0" dirty="0">
                <a:solidFill>
                  <a:srgbClr val="212529"/>
                </a:solidFill>
                <a:effectLst/>
                <a:latin typeface="Open Sans" panose="020B0606030504020204" pitchFamily="34" charset="0"/>
              </a:rPr>
              <a:t>Functional Decomposition</a:t>
            </a:r>
            <a:br>
              <a:rPr lang="en-IN"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BEFDB6E4-E85D-20E4-EF31-2F79B4656637}"/>
              </a:ext>
            </a:extLst>
          </p:cNvPr>
          <p:cNvSpPr>
            <a:spLocks noGrp="1"/>
          </p:cNvSpPr>
          <p:nvPr>
            <p:ph idx="1"/>
          </p:nvPr>
        </p:nvSpPr>
        <p:spPr>
          <a:xfrm>
            <a:off x="636495" y="753035"/>
            <a:ext cx="11161058" cy="5862918"/>
          </a:xfrm>
        </p:spPr>
        <p:txBody>
          <a:bodyPr/>
          <a:lstStyle/>
          <a:p>
            <a:r>
              <a:rPr lang="en-US" b="0" i="0" dirty="0">
                <a:solidFill>
                  <a:srgbClr val="212529"/>
                </a:solidFill>
                <a:effectLst/>
              </a:rPr>
              <a:t>In this approach, the focus is on the computation that is to be performed rather than on the data manipulated by the computation.</a:t>
            </a:r>
          </a:p>
          <a:p>
            <a:r>
              <a:rPr lang="en-US" b="0" i="0" dirty="0">
                <a:solidFill>
                  <a:srgbClr val="212529"/>
                </a:solidFill>
                <a:effectLst/>
              </a:rPr>
              <a:t>The problem is decomposed according to the work that must be done. Each task then performs a portion of the overall work.</a:t>
            </a:r>
          </a:p>
          <a:p>
            <a:endParaRPr lang="en-US" b="0" i="0" dirty="0">
              <a:solidFill>
                <a:srgbClr val="212529"/>
              </a:solidFill>
              <a:effectLst/>
            </a:endParaRPr>
          </a:p>
          <a:p>
            <a:endParaRPr lang="en-IN" dirty="0"/>
          </a:p>
        </p:txBody>
      </p:sp>
      <p:pic>
        <p:nvPicPr>
          <p:cNvPr id="5" name="Picture 4">
            <a:extLst>
              <a:ext uri="{FF2B5EF4-FFF2-40B4-BE49-F238E27FC236}">
                <a16:creationId xmlns:a16="http://schemas.microsoft.com/office/drawing/2014/main" id="{CE080624-5A37-2FE9-CE99-95272ADE5DAA}"/>
              </a:ext>
            </a:extLst>
          </p:cNvPr>
          <p:cNvPicPr>
            <a:picLocks noChangeAspect="1"/>
          </p:cNvPicPr>
          <p:nvPr/>
        </p:nvPicPr>
        <p:blipFill>
          <a:blip r:embed="rId2"/>
          <a:stretch>
            <a:fillRect/>
          </a:stretch>
        </p:blipFill>
        <p:spPr>
          <a:xfrm>
            <a:off x="2972572" y="2876799"/>
            <a:ext cx="5167381" cy="2933897"/>
          </a:xfrm>
          <a:prstGeom prst="rect">
            <a:avLst/>
          </a:prstGeom>
        </p:spPr>
      </p:pic>
    </p:spTree>
    <p:extLst>
      <p:ext uri="{BB962C8B-B14F-4D97-AF65-F5344CB8AC3E}">
        <p14:creationId xmlns:p14="http://schemas.microsoft.com/office/powerpoint/2010/main" val="1428136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652B4-B262-4FC6-31E8-F565E8A94FB6}"/>
              </a:ext>
            </a:extLst>
          </p:cNvPr>
          <p:cNvSpPr>
            <a:spLocks noGrp="1"/>
          </p:cNvSpPr>
          <p:nvPr>
            <p:ph idx="1"/>
          </p:nvPr>
        </p:nvSpPr>
        <p:spPr>
          <a:xfrm>
            <a:off x="331694" y="421341"/>
            <a:ext cx="11022106" cy="5755622"/>
          </a:xfrm>
        </p:spPr>
        <p:txBody>
          <a:bodyPr/>
          <a:lstStyle/>
          <a:p>
            <a:pPr marL="0" indent="0">
              <a:buNone/>
            </a:pPr>
            <a:r>
              <a:rPr lang="en-IN" b="0" i="0" dirty="0">
                <a:solidFill>
                  <a:srgbClr val="212529"/>
                </a:solidFill>
                <a:effectLst/>
              </a:rPr>
              <a:t>Ecosystem </a:t>
            </a:r>
            <a:r>
              <a:rPr lang="en-IN" b="0" i="0" dirty="0" err="1">
                <a:solidFill>
                  <a:srgbClr val="212529"/>
                </a:solidFill>
                <a:effectLst/>
              </a:rPr>
              <a:t>Modeling</a:t>
            </a:r>
            <a:endParaRPr lang="en-IN" b="0" i="0" dirty="0">
              <a:solidFill>
                <a:srgbClr val="212529"/>
              </a:solidFill>
              <a:effectLst/>
            </a:endParaRPr>
          </a:p>
          <a:p>
            <a:pPr algn="l"/>
            <a:r>
              <a:rPr lang="en-US" b="0" i="0" dirty="0">
                <a:solidFill>
                  <a:srgbClr val="212529"/>
                </a:solidFill>
                <a:effectLst/>
              </a:rPr>
              <a:t>Each program calculates the population of a given group, where each group's growth depends on that of its neighbors. As time progresses, each process calculates its current state, then exchanges information with the neighbor populations. All tasks then progress to calculate the state at the next time step.</a:t>
            </a:r>
          </a:p>
          <a:p>
            <a:pPr marL="0" indent="0">
              <a:buNone/>
            </a:pPr>
            <a:br>
              <a:rPr lang="en-US" dirty="0">
                <a:effectLst/>
              </a:rPr>
            </a:br>
            <a:endParaRPr lang="en-IN" b="0" i="0" dirty="0">
              <a:solidFill>
                <a:srgbClr val="212529"/>
              </a:solidFill>
              <a:effectLst/>
            </a:endParaRPr>
          </a:p>
          <a:p>
            <a:endParaRPr lang="en-IN" dirty="0"/>
          </a:p>
        </p:txBody>
      </p:sp>
      <p:pic>
        <p:nvPicPr>
          <p:cNvPr id="5" name="Picture 4">
            <a:extLst>
              <a:ext uri="{FF2B5EF4-FFF2-40B4-BE49-F238E27FC236}">
                <a16:creationId xmlns:a16="http://schemas.microsoft.com/office/drawing/2014/main" id="{2BA100D3-BC46-24C6-146E-E344ACFFEF86}"/>
              </a:ext>
            </a:extLst>
          </p:cNvPr>
          <p:cNvPicPr>
            <a:picLocks noChangeAspect="1"/>
          </p:cNvPicPr>
          <p:nvPr/>
        </p:nvPicPr>
        <p:blipFill>
          <a:blip r:embed="rId2"/>
          <a:stretch>
            <a:fillRect/>
          </a:stretch>
        </p:blipFill>
        <p:spPr>
          <a:xfrm>
            <a:off x="2104813" y="3125842"/>
            <a:ext cx="7475868" cy="3475021"/>
          </a:xfrm>
          <a:prstGeom prst="rect">
            <a:avLst/>
          </a:prstGeom>
        </p:spPr>
      </p:pic>
    </p:spTree>
    <p:extLst>
      <p:ext uri="{BB962C8B-B14F-4D97-AF65-F5344CB8AC3E}">
        <p14:creationId xmlns:p14="http://schemas.microsoft.com/office/powerpoint/2010/main" val="217262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448E5-50CF-61AD-6F0D-4E0E6FB1F87C}"/>
              </a:ext>
            </a:extLst>
          </p:cNvPr>
          <p:cNvSpPr>
            <a:spLocks noGrp="1"/>
          </p:cNvSpPr>
          <p:nvPr>
            <p:ph idx="1"/>
          </p:nvPr>
        </p:nvSpPr>
        <p:spPr>
          <a:xfrm>
            <a:off x="573741" y="322728"/>
            <a:ext cx="11205883" cy="6355977"/>
          </a:xfrm>
        </p:spPr>
        <p:txBody>
          <a:bodyPr/>
          <a:lstStyle/>
          <a:p>
            <a:pPr marL="0" indent="0">
              <a:buNone/>
            </a:pPr>
            <a:r>
              <a:rPr lang="en-IN" b="1" i="0" dirty="0">
                <a:solidFill>
                  <a:srgbClr val="212529"/>
                </a:solidFill>
                <a:effectLst/>
              </a:rPr>
              <a:t>Signal Processing</a:t>
            </a:r>
          </a:p>
          <a:p>
            <a:pPr algn="l"/>
            <a:r>
              <a:rPr lang="en-US" b="0" i="0" dirty="0">
                <a:solidFill>
                  <a:srgbClr val="212529"/>
                </a:solidFill>
                <a:effectLst/>
              </a:rPr>
              <a:t>An audio signal data set is passed through four distinct computational filters. Each filter is a separate process. </a:t>
            </a:r>
          </a:p>
          <a:p>
            <a:pPr algn="l"/>
            <a:r>
              <a:rPr lang="en-US" b="0" i="0" dirty="0">
                <a:solidFill>
                  <a:srgbClr val="212529"/>
                </a:solidFill>
                <a:effectLst/>
              </a:rPr>
              <a:t>The first segment of data must pass through the first filter before progressing to the second.</a:t>
            </a:r>
          </a:p>
          <a:p>
            <a:pPr algn="l"/>
            <a:r>
              <a:rPr lang="en-US" b="0" i="0" dirty="0">
                <a:solidFill>
                  <a:srgbClr val="212529"/>
                </a:solidFill>
                <a:effectLst/>
              </a:rPr>
              <a:t> When it does, the second segment of data passes through the first filter. By the time the fourth segment of data is in the first filter, all four tasks are busy.</a:t>
            </a:r>
          </a:p>
          <a:p>
            <a:pPr marL="0" indent="0">
              <a:buNone/>
            </a:pPr>
            <a:br>
              <a:rPr lang="en-US" dirty="0">
                <a:effectLst/>
              </a:rPr>
            </a:br>
            <a:endParaRPr lang="en-IN" dirty="0"/>
          </a:p>
        </p:txBody>
      </p:sp>
      <p:pic>
        <p:nvPicPr>
          <p:cNvPr id="5" name="Picture 4">
            <a:extLst>
              <a:ext uri="{FF2B5EF4-FFF2-40B4-BE49-F238E27FC236}">
                <a16:creationId xmlns:a16="http://schemas.microsoft.com/office/drawing/2014/main" id="{17E04A17-463B-2A6F-00EE-A5FC3BAC7B8A}"/>
              </a:ext>
            </a:extLst>
          </p:cNvPr>
          <p:cNvPicPr>
            <a:picLocks noChangeAspect="1"/>
          </p:cNvPicPr>
          <p:nvPr/>
        </p:nvPicPr>
        <p:blipFill>
          <a:blip r:embed="rId2"/>
          <a:stretch>
            <a:fillRect/>
          </a:stretch>
        </p:blipFill>
        <p:spPr>
          <a:xfrm>
            <a:off x="3962400" y="3941002"/>
            <a:ext cx="5795353" cy="2594270"/>
          </a:xfrm>
          <a:prstGeom prst="rect">
            <a:avLst/>
          </a:prstGeom>
        </p:spPr>
      </p:pic>
    </p:spTree>
    <p:extLst>
      <p:ext uri="{BB962C8B-B14F-4D97-AF65-F5344CB8AC3E}">
        <p14:creationId xmlns:p14="http://schemas.microsoft.com/office/powerpoint/2010/main" val="4099762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37054F-0F7E-6BFA-5474-75470552AA2A}"/>
              </a:ext>
            </a:extLst>
          </p:cNvPr>
          <p:cNvSpPr>
            <a:spLocks noGrp="1"/>
          </p:cNvSpPr>
          <p:nvPr>
            <p:ph idx="1"/>
          </p:nvPr>
        </p:nvSpPr>
        <p:spPr>
          <a:xfrm>
            <a:off x="537881" y="340659"/>
            <a:ext cx="11259671" cy="6373906"/>
          </a:xfrm>
        </p:spPr>
        <p:txBody>
          <a:bodyPr/>
          <a:lstStyle/>
          <a:p>
            <a:pPr marL="0" indent="0">
              <a:buNone/>
            </a:pPr>
            <a:r>
              <a:rPr lang="en-IN" b="1" i="0" dirty="0">
                <a:solidFill>
                  <a:srgbClr val="212529"/>
                </a:solidFill>
                <a:effectLst/>
              </a:rPr>
              <a:t>Climate Modelling</a:t>
            </a:r>
          </a:p>
          <a:p>
            <a:r>
              <a:rPr lang="en-US" b="0" i="0" dirty="0">
                <a:solidFill>
                  <a:srgbClr val="212529"/>
                </a:solidFill>
                <a:effectLst/>
              </a:rPr>
              <a:t>Each model component can be thought of as a separate task. </a:t>
            </a:r>
          </a:p>
          <a:p>
            <a:r>
              <a:rPr lang="en-US" b="0" i="0" dirty="0">
                <a:solidFill>
                  <a:srgbClr val="212529"/>
                </a:solidFill>
                <a:effectLst/>
              </a:rPr>
              <a:t>Arrows represent exchanges of data between components during computation: the atmosphere model generates wind velocity data that are used by the ocean model, the ocean model generates sea surface temperature data that are used by the atmosphere model, and so on.</a:t>
            </a:r>
            <a:endParaRPr lang="en-IN" b="0" i="0" dirty="0">
              <a:solidFill>
                <a:srgbClr val="212529"/>
              </a:solidFill>
              <a:effectLst/>
            </a:endParaRPr>
          </a:p>
          <a:p>
            <a:pPr marL="0" indent="0">
              <a:buNone/>
            </a:pPr>
            <a:endParaRPr lang="en-IN" dirty="0"/>
          </a:p>
        </p:txBody>
      </p:sp>
      <p:pic>
        <p:nvPicPr>
          <p:cNvPr id="5" name="Picture 4">
            <a:extLst>
              <a:ext uri="{FF2B5EF4-FFF2-40B4-BE49-F238E27FC236}">
                <a16:creationId xmlns:a16="http://schemas.microsoft.com/office/drawing/2014/main" id="{5DEA2EF5-5808-565C-CF6F-9B93538CCB77}"/>
              </a:ext>
            </a:extLst>
          </p:cNvPr>
          <p:cNvPicPr>
            <a:picLocks noChangeAspect="1"/>
          </p:cNvPicPr>
          <p:nvPr/>
        </p:nvPicPr>
        <p:blipFill>
          <a:blip r:embed="rId2"/>
          <a:stretch>
            <a:fillRect/>
          </a:stretch>
        </p:blipFill>
        <p:spPr>
          <a:xfrm>
            <a:off x="2989098" y="3191435"/>
            <a:ext cx="5686065" cy="3593655"/>
          </a:xfrm>
          <a:prstGeom prst="rect">
            <a:avLst/>
          </a:prstGeom>
        </p:spPr>
      </p:pic>
    </p:spTree>
    <p:extLst>
      <p:ext uri="{BB962C8B-B14F-4D97-AF65-F5344CB8AC3E}">
        <p14:creationId xmlns:p14="http://schemas.microsoft.com/office/powerpoint/2010/main" val="3589631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BBC1B2-E1BF-A4BC-F6AB-F8BDDE825CC0}"/>
              </a:ext>
            </a:extLst>
          </p:cNvPr>
          <p:cNvSpPr>
            <a:spLocks noGrp="1"/>
          </p:cNvSpPr>
          <p:nvPr>
            <p:ph idx="1"/>
          </p:nvPr>
        </p:nvSpPr>
        <p:spPr>
          <a:xfrm>
            <a:off x="546847" y="367553"/>
            <a:ext cx="10806953" cy="5809410"/>
          </a:xfrm>
        </p:spPr>
        <p:txBody>
          <a:bodyPr/>
          <a:lstStyle/>
          <a:p>
            <a:r>
              <a:rPr lang="en-US" b="0" i="0" dirty="0">
                <a:solidFill>
                  <a:srgbClr val="212529"/>
                </a:solidFill>
                <a:effectLst/>
                <a:latin typeface="Open Sans" panose="020B0606030504020204" pitchFamily="34" charset="0"/>
              </a:rPr>
              <a:t>Combining these two types of problem decomposition is common and natural.</a:t>
            </a:r>
          </a:p>
          <a:p>
            <a:pPr marL="0" indent="0">
              <a:buNone/>
            </a:pPr>
            <a:endParaRPr lang="en-IN" dirty="0"/>
          </a:p>
        </p:txBody>
      </p:sp>
      <p:pic>
        <p:nvPicPr>
          <p:cNvPr id="7" name="Picture 6">
            <a:extLst>
              <a:ext uri="{FF2B5EF4-FFF2-40B4-BE49-F238E27FC236}">
                <a16:creationId xmlns:a16="http://schemas.microsoft.com/office/drawing/2014/main" id="{CA7C0649-549A-E318-71F4-23C8BF57872B}"/>
              </a:ext>
            </a:extLst>
          </p:cNvPr>
          <p:cNvPicPr>
            <a:picLocks noChangeAspect="1"/>
          </p:cNvPicPr>
          <p:nvPr/>
        </p:nvPicPr>
        <p:blipFill>
          <a:blip r:embed="rId2"/>
          <a:stretch>
            <a:fillRect/>
          </a:stretch>
        </p:blipFill>
        <p:spPr>
          <a:xfrm>
            <a:off x="2196353" y="1619808"/>
            <a:ext cx="6631015" cy="4655486"/>
          </a:xfrm>
          <a:prstGeom prst="rect">
            <a:avLst/>
          </a:prstGeom>
        </p:spPr>
      </p:pic>
    </p:spTree>
    <p:extLst>
      <p:ext uri="{BB962C8B-B14F-4D97-AF65-F5344CB8AC3E}">
        <p14:creationId xmlns:p14="http://schemas.microsoft.com/office/powerpoint/2010/main" val="2494920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6B0E-BD57-8F87-B1D9-AB7EE21FE6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D282CC-548B-260D-EF4A-F9E20CAF4C1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5488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987</TotalTime>
  <Words>968</Words>
  <Application>Microsoft Office PowerPoint</Application>
  <PresentationFormat>Widescreen</PresentationFormat>
  <Paragraphs>62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Open Sans</vt:lpstr>
      <vt:lpstr>Office Theme</vt:lpstr>
      <vt:lpstr>Designing Parallel Programs </vt:lpstr>
      <vt:lpstr>Automatic vs. Manual Parallelization </vt:lpstr>
      <vt:lpstr>PowerPoint Presentation</vt:lpstr>
      <vt:lpstr>PowerPoint Presentation</vt:lpstr>
      <vt:lpstr>Understand the Problem and the Program </vt:lpstr>
      <vt:lpstr>PowerPoint Presentation</vt:lpstr>
      <vt:lpstr>Partitioning </vt:lpstr>
      <vt:lpstr>PowerPoint Presentation</vt:lpstr>
      <vt:lpstr>PowerPoint Presentation</vt:lpstr>
      <vt:lpstr>Functional Decomposition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Parallel Programs </dc:title>
  <dc:creator>Anjaly Aneesh</dc:creator>
  <cp:lastModifiedBy>Anjaly Aneesh</cp:lastModifiedBy>
  <cp:revision>3</cp:revision>
  <dcterms:created xsi:type="dcterms:W3CDTF">2024-01-24T09:39:50Z</dcterms:created>
  <dcterms:modified xsi:type="dcterms:W3CDTF">2024-01-31T04:31:16Z</dcterms:modified>
</cp:coreProperties>
</file>