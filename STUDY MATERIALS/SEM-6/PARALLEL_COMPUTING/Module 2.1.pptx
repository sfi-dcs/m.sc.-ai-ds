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6" r:id="rId7"/>
    <p:sldId id="277" r:id="rId8"/>
    <p:sldId id="269" r:id="rId9"/>
    <p:sldId id="261" r:id="rId10"/>
    <p:sldId id="265" r:id="rId11"/>
    <p:sldId id="262" r:id="rId12"/>
    <p:sldId id="263" r:id="rId13"/>
    <p:sldId id="270" r:id="rId14"/>
    <p:sldId id="271" r:id="rId15"/>
    <p:sldId id="281" r:id="rId16"/>
    <p:sldId id="282" r:id="rId17"/>
    <p:sldId id="272" r:id="rId18"/>
    <p:sldId id="273" r:id="rId19"/>
    <p:sldId id="274" r:id="rId20"/>
    <p:sldId id="275" r:id="rId21"/>
    <p:sldId id="276" r:id="rId22"/>
    <p:sldId id="278" r:id="rId23"/>
    <p:sldId id="279"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29" autoAdjust="0"/>
    <p:restoredTop sz="94660"/>
  </p:normalViewPr>
  <p:slideViewPr>
    <p:cSldViewPr snapToGrid="0">
      <p:cViewPr varScale="1">
        <p:scale>
          <a:sx n="85" d="100"/>
          <a:sy n="85" d="100"/>
        </p:scale>
        <p:origin x="63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7A600-5716-9C44-CFCC-1DBE28B232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9CE4D8-19BB-1BDE-7528-2E41B36772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A85388-5371-77E9-96B5-A3498A5B7E29}"/>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5" name="Footer Placeholder 4">
            <a:extLst>
              <a:ext uri="{FF2B5EF4-FFF2-40B4-BE49-F238E27FC236}">
                <a16:creationId xmlns:a16="http://schemas.microsoft.com/office/drawing/2014/main" id="{BD6454F3-9355-2DB4-871D-C66C71D86B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916398-F9C7-A882-88F4-8E8AD5DFCAEF}"/>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2440202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6E148-CA41-F788-620F-4409C0D271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712A91-C240-DB7D-0DF5-495E43BC6F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0C27F3-AB86-8EE8-142C-8D37A5D2F6D6}"/>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5" name="Footer Placeholder 4">
            <a:extLst>
              <a:ext uri="{FF2B5EF4-FFF2-40B4-BE49-F238E27FC236}">
                <a16:creationId xmlns:a16="http://schemas.microsoft.com/office/drawing/2014/main" id="{4C679B6B-35AA-BB44-404F-21CBDC7D27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FCE548-D9A2-6CFF-668D-70F70ADFD897}"/>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355143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6070E-C226-1D87-CCF0-94041D85CD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2F4CE0-7647-D23A-F4A9-F57D317B5B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EA5AD-074A-3622-137B-620B12EC669C}"/>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5" name="Footer Placeholder 4">
            <a:extLst>
              <a:ext uri="{FF2B5EF4-FFF2-40B4-BE49-F238E27FC236}">
                <a16:creationId xmlns:a16="http://schemas.microsoft.com/office/drawing/2014/main" id="{E446C7A1-D253-2B4F-FB6F-E2AEF511D2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7EDCDA-4538-8F2B-700E-21B717109DA0}"/>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424347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C1087-DD05-2035-DB9D-B638898A64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570E89-5CBB-4A2F-F2C0-87461934A9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C045AE1-339C-EFA7-B50B-5E56F5864A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39DDD3-163E-D0EA-430C-C06AD6C98214}"/>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6" name="Footer Placeholder 5">
            <a:extLst>
              <a:ext uri="{FF2B5EF4-FFF2-40B4-BE49-F238E27FC236}">
                <a16:creationId xmlns:a16="http://schemas.microsoft.com/office/drawing/2014/main" id="{7C4B7784-7A4E-9F6D-E9C4-3ACE7E36B3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5787F9-7734-81CA-1102-986FD1114A0B}"/>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3574988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9AFDB-92A4-DF20-FA36-149B95CCBC0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82C789-E5DC-3D1F-7E5B-732DE8BD21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DF059F-6570-016A-0BBE-8437750164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DC54E4-130B-6C7B-14D5-6EB9903690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2757EA-2E3B-8273-8467-B81B0CB914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373B50-D3E3-6E35-B8D8-9DF2562ABD7B}"/>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8" name="Footer Placeholder 7">
            <a:extLst>
              <a:ext uri="{FF2B5EF4-FFF2-40B4-BE49-F238E27FC236}">
                <a16:creationId xmlns:a16="http://schemas.microsoft.com/office/drawing/2014/main" id="{FE5F516B-9F4F-E545-944A-351E832940F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E11D5C5-CE40-21AB-A53D-50CE4C190184}"/>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3661956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B951D-8414-59B1-9145-A32360AE648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C2FC3B-8AC3-3EFB-741E-B0129813002E}"/>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4" name="Footer Placeholder 3">
            <a:extLst>
              <a:ext uri="{FF2B5EF4-FFF2-40B4-BE49-F238E27FC236}">
                <a16:creationId xmlns:a16="http://schemas.microsoft.com/office/drawing/2014/main" id="{BA5C4B70-89F3-1A0F-C46A-2803FAB690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EAD88E-2359-C53D-7F24-6F48FEA6393F}"/>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1689463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408010-E1BB-10A8-56D0-196398E0985F}"/>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3" name="Footer Placeholder 2">
            <a:extLst>
              <a:ext uri="{FF2B5EF4-FFF2-40B4-BE49-F238E27FC236}">
                <a16:creationId xmlns:a16="http://schemas.microsoft.com/office/drawing/2014/main" id="{9902A479-CFD3-9336-A969-8FACDE4B4A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0188B45-DDF0-9B2E-2FB6-2DBF264BFA7F}"/>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311807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94BA-3EB5-A266-F82C-53B5AF645F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D3B7E7-F390-C4F4-5404-DF5F99CCC7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2FE610-D536-2DCC-7B28-A001E5253E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B65EB-6B10-FA3D-830F-774FB9228596}"/>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6" name="Footer Placeholder 5">
            <a:extLst>
              <a:ext uri="{FF2B5EF4-FFF2-40B4-BE49-F238E27FC236}">
                <a16:creationId xmlns:a16="http://schemas.microsoft.com/office/drawing/2014/main" id="{EB9B60EF-9951-83F9-8CFF-589CDF70F7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9E185E-5C44-DB17-5077-4EBF13B4E369}"/>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764411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60C8-01B2-83B1-08FE-356D3D5A19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42275F-A9D0-0A34-AC04-BB32D0EF18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76C1BC3-6AC8-1D88-45D1-D6ADF0AD3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665A6-04AC-3FE9-8978-8A5B68E6E1AD}"/>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6" name="Footer Placeholder 5">
            <a:extLst>
              <a:ext uri="{FF2B5EF4-FFF2-40B4-BE49-F238E27FC236}">
                <a16:creationId xmlns:a16="http://schemas.microsoft.com/office/drawing/2014/main" id="{0CF73CD6-2604-6B3D-7447-F328C23135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9D1D95-6767-E865-7734-A0B9B1B68287}"/>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14427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C287-9DB6-DF46-0F8C-778A5F3CD3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94EC52-5327-7AF5-2770-55C535EBF5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97B7DA-D138-CEEB-D17C-16856F7BA9F5}"/>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5" name="Footer Placeholder 4">
            <a:extLst>
              <a:ext uri="{FF2B5EF4-FFF2-40B4-BE49-F238E27FC236}">
                <a16:creationId xmlns:a16="http://schemas.microsoft.com/office/drawing/2014/main" id="{C854F13C-1664-2F7D-E742-15ED054993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1B9908-D273-59F6-EE19-8D4BB3C559E0}"/>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3037795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BDE7A7-B46E-0EA8-7CA3-18C188C5BF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316CA4-86B1-9C88-A18E-A60EB19E5D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34AA68-29AA-D6B7-0A97-FE7ABD0722A9}"/>
              </a:ext>
            </a:extLst>
          </p:cNvPr>
          <p:cNvSpPr>
            <a:spLocks noGrp="1"/>
          </p:cNvSpPr>
          <p:nvPr>
            <p:ph type="dt" sz="half" idx="10"/>
          </p:nvPr>
        </p:nvSpPr>
        <p:spPr/>
        <p:txBody>
          <a:bodyPr/>
          <a:lstStyle/>
          <a:p>
            <a:fld id="{B194ED1E-7A18-4745-9B5B-4142F402201D}" type="datetimeFigureOut">
              <a:rPr lang="en-IN" smtClean="0"/>
              <a:t>29-01-2024</a:t>
            </a:fld>
            <a:endParaRPr lang="en-IN"/>
          </a:p>
        </p:txBody>
      </p:sp>
      <p:sp>
        <p:nvSpPr>
          <p:cNvPr id="5" name="Footer Placeholder 4">
            <a:extLst>
              <a:ext uri="{FF2B5EF4-FFF2-40B4-BE49-F238E27FC236}">
                <a16:creationId xmlns:a16="http://schemas.microsoft.com/office/drawing/2014/main" id="{60E69494-E809-ACE5-0E98-875CC1B41E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122D6D-96DF-F1B6-7F72-28FEC4981349}"/>
              </a:ext>
            </a:extLst>
          </p:cNvPr>
          <p:cNvSpPr>
            <a:spLocks noGrp="1"/>
          </p:cNvSpPr>
          <p:nvPr>
            <p:ph type="sldNum" sz="quarter" idx="12"/>
          </p:nvPr>
        </p:nvSpPr>
        <p:spPr/>
        <p:txBody>
          <a:bodyPr/>
          <a:lstStyle/>
          <a:p>
            <a:fld id="{45C2D858-1537-4C91-B120-8C5332A17031}" type="slidenum">
              <a:rPr lang="en-IN" smtClean="0"/>
              <a:t>‹#›</a:t>
            </a:fld>
            <a:endParaRPr lang="en-IN"/>
          </a:p>
        </p:txBody>
      </p:sp>
    </p:spTree>
    <p:extLst>
      <p:ext uri="{BB962C8B-B14F-4D97-AF65-F5344CB8AC3E}">
        <p14:creationId xmlns:p14="http://schemas.microsoft.com/office/powerpoint/2010/main" val="114567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1E69DC-B0DF-7D2F-A4DE-6A7B02125E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BBE7C8-3349-04DF-F89C-A05FE2AED4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6ED335-68A5-C076-2156-C54A2AED39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94ED1E-7A18-4745-9B5B-4142F402201D}" type="datetimeFigureOut">
              <a:rPr lang="en-IN" smtClean="0"/>
              <a:t>29-01-2024</a:t>
            </a:fld>
            <a:endParaRPr lang="en-IN"/>
          </a:p>
        </p:txBody>
      </p:sp>
      <p:sp>
        <p:nvSpPr>
          <p:cNvPr id="5" name="Footer Placeholder 4">
            <a:extLst>
              <a:ext uri="{FF2B5EF4-FFF2-40B4-BE49-F238E27FC236}">
                <a16:creationId xmlns:a16="http://schemas.microsoft.com/office/drawing/2014/main" id="{D7814CA9-8E4D-3D37-99D1-4492A961A2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A1855F1-DBAC-8727-5DE1-7CED9F2855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2D858-1537-4C91-B120-8C5332A17031}" type="slidenum">
              <a:rPr lang="en-IN" smtClean="0"/>
              <a:t>‹#›</a:t>
            </a:fld>
            <a:endParaRPr lang="en-IN"/>
          </a:p>
        </p:txBody>
      </p:sp>
    </p:spTree>
    <p:extLst>
      <p:ext uri="{BB962C8B-B14F-4D97-AF65-F5344CB8AC3E}">
        <p14:creationId xmlns:p14="http://schemas.microsoft.com/office/powerpoint/2010/main" val="2329179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09B2E-B36C-EF44-DF0B-DF253967F964}"/>
              </a:ext>
            </a:extLst>
          </p:cNvPr>
          <p:cNvSpPr>
            <a:spLocks noGrp="1"/>
          </p:cNvSpPr>
          <p:nvPr>
            <p:ph type="ctrTitle"/>
          </p:nvPr>
        </p:nvSpPr>
        <p:spPr/>
        <p:txBody>
          <a:bodyPr>
            <a:normAutofit fontScale="90000"/>
          </a:bodyPr>
          <a:lstStyle/>
          <a:p>
            <a:r>
              <a:rPr lang="en-IN" b="0" i="0" dirty="0">
                <a:solidFill>
                  <a:srgbClr val="212529"/>
                </a:solidFill>
                <a:effectLst/>
                <a:latin typeface="Open Sans" panose="020B0606030504020204" pitchFamily="34" charset="0"/>
              </a:rPr>
              <a:t>Parallel Programming Models</a:t>
            </a:r>
            <a:br>
              <a:rPr lang="en-IN" b="0" i="0" dirty="0">
                <a:solidFill>
                  <a:srgbClr val="212529"/>
                </a:solidFill>
                <a:effectLst/>
                <a:latin typeface="Open Sans" panose="020B0606030504020204" pitchFamily="34" charset="0"/>
              </a:rPr>
            </a:br>
            <a:endParaRPr lang="en-IN" dirty="0"/>
          </a:p>
        </p:txBody>
      </p:sp>
      <p:sp>
        <p:nvSpPr>
          <p:cNvPr id="3" name="Subtitle 2">
            <a:extLst>
              <a:ext uri="{FF2B5EF4-FFF2-40B4-BE49-F238E27FC236}">
                <a16:creationId xmlns:a16="http://schemas.microsoft.com/office/drawing/2014/main" id="{CE02B103-8F52-7CF3-C597-B79F5EC1FBF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80321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2DC1-7DFC-D22A-D5CB-717F34140BB2}"/>
              </a:ext>
            </a:extLst>
          </p:cNvPr>
          <p:cNvSpPr>
            <a:spLocks noGrp="1"/>
          </p:cNvSpPr>
          <p:nvPr>
            <p:ph type="title"/>
          </p:nvPr>
        </p:nvSpPr>
        <p:spPr>
          <a:xfrm>
            <a:off x="430306" y="365125"/>
            <a:ext cx="10923494" cy="1325563"/>
          </a:xfrm>
        </p:spPr>
        <p:txBody>
          <a:bodyPr/>
          <a:lstStyle/>
          <a:p>
            <a:r>
              <a:rPr lang="en-IN" b="0" i="0" dirty="0">
                <a:solidFill>
                  <a:srgbClr val="212529"/>
                </a:solidFill>
                <a:effectLst/>
                <a:latin typeface="Open Sans" panose="020B0606030504020204" pitchFamily="34" charset="0"/>
              </a:rPr>
              <a:t>Parallel Programming Models</a:t>
            </a:r>
            <a:br>
              <a:rPr lang="en-IN" b="0" i="0" dirty="0">
                <a:solidFill>
                  <a:srgbClr val="212529"/>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0E33FF80-AC40-EDDD-BB6B-13D3F6A305F2}"/>
              </a:ext>
            </a:extLst>
          </p:cNvPr>
          <p:cNvSpPr>
            <a:spLocks noGrp="1"/>
          </p:cNvSpPr>
          <p:nvPr>
            <p:ph idx="1"/>
          </p:nvPr>
        </p:nvSpPr>
        <p:spPr>
          <a:xfrm>
            <a:off x="430306" y="1828799"/>
            <a:ext cx="11564469" cy="4733366"/>
          </a:xfrm>
        </p:spPr>
        <p:txBody>
          <a:bodyPr/>
          <a:lstStyle/>
          <a:p>
            <a:pPr algn="l">
              <a:buFont typeface="Arial" panose="020B0604020202020204" pitchFamily="34" charset="0"/>
              <a:buChar char="•"/>
            </a:pPr>
            <a:r>
              <a:rPr lang="en-US" b="1" i="0" dirty="0">
                <a:solidFill>
                  <a:srgbClr val="212529"/>
                </a:solidFill>
                <a:effectLst/>
                <a:latin typeface="Open Sans" panose="020B0606030504020204" pitchFamily="34" charset="0"/>
              </a:rPr>
              <a:t>Shared Memory Model </a:t>
            </a:r>
            <a:r>
              <a:rPr lang="en-US" b="0" i="0" dirty="0">
                <a:solidFill>
                  <a:srgbClr val="212529"/>
                </a:solidFill>
                <a:effectLst/>
                <a:latin typeface="Open Sans" panose="020B0606030504020204" pitchFamily="34" charset="0"/>
              </a:rPr>
              <a:t>(without threads): Multiple processes sharing common memory space.</a:t>
            </a:r>
          </a:p>
          <a:p>
            <a:pPr algn="l">
              <a:buFont typeface="Arial" panose="020B0604020202020204" pitchFamily="34" charset="0"/>
              <a:buChar char="•"/>
            </a:pPr>
            <a:r>
              <a:rPr lang="en-US" b="1" i="0" dirty="0">
                <a:solidFill>
                  <a:srgbClr val="212529"/>
                </a:solidFill>
                <a:effectLst/>
                <a:latin typeface="Open Sans" panose="020B0606030504020204" pitchFamily="34" charset="0"/>
              </a:rPr>
              <a:t>Threads Model </a:t>
            </a:r>
            <a:r>
              <a:rPr lang="en-US" b="0" i="0" dirty="0">
                <a:solidFill>
                  <a:srgbClr val="212529"/>
                </a:solidFill>
                <a:effectLst/>
                <a:latin typeface="Open Sans" panose="020B0606030504020204" pitchFamily="34" charset="0"/>
              </a:rPr>
              <a:t>: A single process having multiple (concurrent) execution paths</a:t>
            </a:r>
          </a:p>
          <a:p>
            <a:pPr algn="l">
              <a:buFont typeface="Arial" panose="020B0604020202020204" pitchFamily="34" charset="0"/>
              <a:buChar char="•"/>
            </a:pPr>
            <a:r>
              <a:rPr lang="en-US" b="1" i="0" dirty="0">
                <a:solidFill>
                  <a:srgbClr val="212529"/>
                </a:solidFill>
                <a:effectLst/>
                <a:latin typeface="Open Sans" panose="020B0606030504020204" pitchFamily="34" charset="0"/>
              </a:rPr>
              <a:t>Distributed Memory / Message Passing </a:t>
            </a:r>
            <a:r>
              <a:rPr lang="en-US" b="0" i="0" dirty="0">
                <a:solidFill>
                  <a:srgbClr val="212529"/>
                </a:solidFill>
                <a:effectLst/>
                <a:latin typeface="Open Sans" panose="020B0606030504020204" pitchFamily="34" charset="0"/>
              </a:rPr>
              <a:t>: The user makes calls to libraries to explicitly share information between processors</a:t>
            </a:r>
          </a:p>
          <a:p>
            <a:pPr algn="l">
              <a:buFont typeface="Arial" panose="020B0604020202020204" pitchFamily="34" charset="0"/>
              <a:buChar char="•"/>
            </a:pPr>
            <a:r>
              <a:rPr lang="en-US" b="1" i="0" dirty="0">
                <a:solidFill>
                  <a:srgbClr val="212529"/>
                </a:solidFill>
                <a:effectLst/>
                <a:latin typeface="Open Sans" panose="020B0606030504020204" pitchFamily="34" charset="0"/>
              </a:rPr>
              <a:t>Data Parallel model </a:t>
            </a:r>
            <a:r>
              <a:rPr lang="en-US" b="0" i="0" dirty="0">
                <a:solidFill>
                  <a:srgbClr val="212529"/>
                </a:solidFill>
                <a:effectLst/>
                <a:latin typeface="Open Sans" panose="020B0606030504020204" pitchFamily="34" charset="0"/>
              </a:rPr>
              <a:t>: Data partitioning determines parallelism</a:t>
            </a:r>
          </a:p>
          <a:p>
            <a:pPr algn="l">
              <a:buFont typeface="Arial" panose="020B0604020202020204" pitchFamily="34" charset="0"/>
              <a:buChar char="•"/>
            </a:pPr>
            <a:r>
              <a:rPr lang="en-US" b="1" i="0" dirty="0">
                <a:solidFill>
                  <a:srgbClr val="212529"/>
                </a:solidFill>
                <a:effectLst/>
                <a:latin typeface="Open Sans" panose="020B0606030504020204" pitchFamily="34" charset="0"/>
              </a:rPr>
              <a:t>Hybrid Model</a:t>
            </a:r>
          </a:p>
          <a:p>
            <a:pPr algn="l">
              <a:buFont typeface="Arial" panose="020B0604020202020204" pitchFamily="34" charset="0"/>
              <a:buChar char="•"/>
            </a:pPr>
            <a:r>
              <a:rPr lang="en-US" b="1" i="0" dirty="0">
                <a:solidFill>
                  <a:srgbClr val="212529"/>
                </a:solidFill>
                <a:effectLst/>
                <a:latin typeface="Open Sans" panose="020B0606030504020204" pitchFamily="34" charset="0"/>
              </a:rPr>
              <a:t>Single Program Multiple Data (SPMD)</a:t>
            </a:r>
          </a:p>
          <a:p>
            <a:pPr algn="l">
              <a:buFont typeface="Arial" panose="020B0604020202020204" pitchFamily="34" charset="0"/>
              <a:buChar char="•"/>
            </a:pPr>
            <a:r>
              <a:rPr lang="en-US" b="1" i="0" dirty="0">
                <a:solidFill>
                  <a:srgbClr val="212529"/>
                </a:solidFill>
                <a:effectLst/>
                <a:latin typeface="Open Sans" panose="020B0606030504020204" pitchFamily="34" charset="0"/>
              </a:rPr>
              <a:t>Multiple Program Multiple Data (MPMD)</a:t>
            </a:r>
          </a:p>
          <a:p>
            <a:pPr marL="0" indent="0">
              <a:buNone/>
            </a:pPr>
            <a:endParaRPr lang="en-IN" dirty="0"/>
          </a:p>
        </p:txBody>
      </p:sp>
    </p:spTree>
    <p:extLst>
      <p:ext uri="{BB962C8B-B14F-4D97-AF65-F5344CB8AC3E}">
        <p14:creationId xmlns:p14="http://schemas.microsoft.com/office/powerpoint/2010/main" val="713661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5E5F6-6C01-34CD-52C7-4A2B69680B94}"/>
              </a:ext>
            </a:extLst>
          </p:cNvPr>
          <p:cNvSpPr>
            <a:spLocks noGrp="1"/>
          </p:cNvSpPr>
          <p:nvPr>
            <p:ph type="title"/>
          </p:nvPr>
        </p:nvSpPr>
        <p:spPr/>
        <p:txBody>
          <a:bodyPr>
            <a:normAutofit fontScale="90000"/>
          </a:bodyPr>
          <a:lstStyle/>
          <a:p>
            <a:r>
              <a:rPr lang="en-US" b="0" i="0" dirty="0">
                <a:solidFill>
                  <a:srgbClr val="5D5D5D"/>
                </a:solidFill>
                <a:effectLst/>
                <a:latin typeface="Open Sans" panose="020B0606030504020204" pitchFamily="34" charset="0"/>
              </a:rPr>
              <a:t>Shared Memory Model (without threads)</a:t>
            </a:r>
            <a:br>
              <a:rPr lang="en-US" b="0" i="0" dirty="0">
                <a:solidFill>
                  <a:srgbClr val="5D5D5D"/>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87F896C4-1C8C-BE05-1E0F-B6C8623F7433}"/>
              </a:ext>
            </a:extLst>
          </p:cNvPr>
          <p:cNvSpPr>
            <a:spLocks noGrp="1"/>
          </p:cNvSpPr>
          <p:nvPr>
            <p:ph idx="1"/>
          </p:nvPr>
        </p:nvSpPr>
        <p:spPr>
          <a:xfrm>
            <a:off x="430307" y="1461247"/>
            <a:ext cx="11474822" cy="5118847"/>
          </a:xfrm>
        </p:spPr>
        <p:txBody>
          <a:bodyPr>
            <a:normAutofit/>
          </a:bodyPr>
          <a:lstStyle/>
          <a:p>
            <a:pPr algn="l">
              <a:buFont typeface="Arial" panose="020B0604020202020204" pitchFamily="34" charset="0"/>
              <a:buChar char="•"/>
            </a:pPr>
            <a:r>
              <a:rPr lang="en-US" b="0" i="0" dirty="0">
                <a:solidFill>
                  <a:srgbClr val="212529"/>
                </a:solidFill>
                <a:effectLst/>
              </a:rPr>
              <a:t>In this programming model, processes/tasks share a common address space, which they read and write to asynchronously.</a:t>
            </a:r>
          </a:p>
          <a:p>
            <a:pPr algn="l">
              <a:buFont typeface="Arial" panose="020B0604020202020204" pitchFamily="34" charset="0"/>
              <a:buChar char="•"/>
            </a:pPr>
            <a:r>
              <a:rPr lang="en-US" b="0" i="0" dirty="0">
                <a:solidFill>
                  <a:srgbClr val="212529"/>
                </a:solidFill>
                <a:effectLst/>
              </a:rPr>
              <a:t>Various mechanisms such as locks / semaphores are used to control access to the shared memory, resolve contentions and to prevent race conditions and deadlocks.</a:t>
            </a:r>
          </a:p>
          <a:p>
            <a:pPr algn="l">
              <a:buFont typeface="Arial" panose="020B0604020202020204" pitchFamily="34" charset="0"/>
              <a:buChar char="•"/>
            </a:pPr>
            <a:r>
              <a:rPr lang="en-US" b="0" i="0" dirty="0">
                <a:solidFill>
                  <a:srgbClr val="212529"/>
                </a:solidFill>
                <a:effectLst/>
              </a:rPr>
              <a:t>This is perhaps the simplest parallel programming model.</a:t>
            </a:r>
          </a:p>
          <a:p>
            <a:pPr algn="l">
              <a:buFont typeface="Arial" panose="020B0604020202020204" pitchFamily="34" charset="0"/>
              <a:buChar char="•"/>
            </a:pPr>
            <a:r>
              <a:rPr lang="en-US" b="0" i="0" dirty="0">
                <a:solidFill>
                  <a:srgbClr val="212529"/>
                </a:solidFill>
                <a:effectLst/>
              </a:rPr>
              <a:t>An advantage of this model from the programmer's point of view is that the notion of data "ownership" is lacking, so there is no need to specify explicitly the communication of data between tasks. </a:t>
            </a:r>
          </a:p>
          <a:p>
            <a:pPr algn="l">
              <a:buFont typeface="Arial" panose="020B0604020202020204" pitchFamily="34" charset="0"/>
              <a:buChar char="•"/>
            </a:pPr>
            <a:r>
              <a:rPr lang="en-US" b="0" i="0" dirty="0">
                <a:solidFill>
                  <a:srgbClr val="212529"/>
                </a:solidFill>
                <a:effectLst/>
              </a:rPr>
              <a:t>All processes see and have equal access to shared memory. Program development can often be simplified.</a:t>
            </a:r>
          </a:p>
          <a:p>
            <a:endParaRPr lang="en-IN" dirty="0"/>
          </a:p>
        </p:txBody>
      </p:sp>
    </p:spTree>
    <p:extLst>
      <p:ext uri="{BB962C8B-B14F-4D97-AF65-F5344CB8AC3E}">
        <p14:creationId xmlns:p14="http://schemas.microsoft.com/office/powerpoint/2010/main" val="470237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06B15-E181-B745-DE1A-0EFACA316800}"/>
              </a:ext>
            </a:extLst>
          </p:cNvPr>
          <p:cNvSpPr>
            <a:spLocks noGrp="1"/>
          </p:cNvSpPr>
          <p:nvPr>
            <p:ph idx="1"/>
          </p:nvPr>
        </p:nvSpPr>
        <p:spPr>
          <a:xfrm>
            <a:off x="259975" y="457199"/>
            <a:ext cx="11636189" cy="6158754"/>
          </a:xfrm>
        </p:spPr>
        <p:txBody>
          <a:bodyPr>
            <a:normAutofit/>
          </a:bodyPr>
          <a:lstStyle/>
          <a:p>
            <a:pPr algn="l">
              <a:buFont typeface="Arial" panose="020B0604020202020204" pitchFamily="34" charset="0"/>
              <a:buChar char="•"/>
            </a:pPr>
            <a:r>
              <a:rPr lang="en-US" b="0" i="0" dirty="0">
                <a:solidFill>
                  <a:srgbClr val="212529"/>
                </a:solidFill>
                <a:effectLst/>
              </a:rPr>
              <a:t>An important disadvantage in terms of performance is that it becomes more difficult to understand and manage </a:t>
            </a:r>
            <a:r>
              <a:rPr lang="en-US" b="1" i="1" dirty="0">
                <a:solidFill>
                  <a:srgbClr val="212529"/>
                </a:solidFill>
                <a:effectLst/>
              </a:rPr>
              <a:t>data locality</a:t>
            </a:r>
            <a:r>
              <a:rPr lang="en-US" b="0" i="0" dirty="0">
                <a:solidFill>
                  <a:srgbClr val="212529"/>
                </a:solidFill>
                <a:effectLst/>
              </a:rPr>
              <a:t>:</a:t>
            </a:r>
          </a:p>
          <a:p>
            <a:pPr marL="742950" lvl="1" indent="-285750" algn="l">
              <a:buFont typeface="Arial" panose="020B0604020202020204" pitchFamily="34" charset="0"/>
              <a:buChar char="•"/>
            </a:pPr>
            <a:r>
              <a:rPr lang="en-US" b="0" i="0" dirty="0">
                <a:solidFill>
                  <a:srgbClr val="212529"/>
                </a:solidFill>
                <a:effectLst/>
              </a:rPr>
              <a:t>Keeping data local to the process that works on it conserves memory accesses, cache refreshes and bus traffic that occurs when multiple processes use the same data.</a:t>
            </a:r>
          </a:p>
          <a:p>
            <a:pPr marL="742950" lvl="1" indent="-285750" algn="l">
              <a:buFont typeface="Arial" panose="020B0604020202020204" pitchFamily="34" charset="0"/>
              <a:buChar char="•"/>
            </a:pPr>
            <a:r>
              <a:rPr lang="en-US" b="0" i="0" dirty="0">
                <a:solidFill>
                  <a:srgbClr val="212529"/>
                </a:solidFill>
                <a:effectLst/>
              </a:rPr>
              <a:t>Unfortunately, controlling data locality is hard to understand and may be beyond the control of the average user.</a:t>
            </a:r>
          </a:p>
          <a:p>
            <a:pPr marL="0" indent="0" algn="l">
              <a:buNone/>
            </a:pPr>
            <a:r>
              <a:rPr lang="en-US" b="1" i="0" dirty="0">
                <a:solidFill>
                  <a:srgbClr val="212529"/>
                </a:solidFill>
                <a:effectLst/>
              </a:rPr>
              <a:t>Implementations</a:t>
            </a:r>
            <a:endParaRPr lang="en-US" b="0" i="0" dirty="0">
              <a:solidFill>
                <a:srgbClr val="212529"/>
              </a:solidFill>
              <a:effectLst/>
            </a:endParaRPr>
          </a:p>
          <a:p>
            <a:pPr algn="l">
              <a:buFont typeface="Arial" panose="020B0604020202020204" pitchFamily="34" charset="0"/>
              <a:buChar char="•"/>
            </a:pPr>
            <a:r>
              <a:rPr lang="en-US" b="0" i="0" dirty="0">
                <a:solidFill>
                  <a:srgbClr val="212529"/>
                </a:solidFill>
                <a:effectLst/>
              </a:rPr>
              <a:t>On stand-alone shared memory machines, native operating systems, compilers and/or hardware provide support for shared memory programming. For example, the POSIX standard provides an API for using shared memory, and UNIX provides shared memory segments (</a:t>
            </a:r>
            <a:r>
              <a:rPr lang="en-US" b="0" i="0" dirty="0" err="1">
                <a:solidFill>
                  <a:srgbClr val="212529"/>
                </a:solidFill>
                <a:effectLst/>
              </a:rPr>
              <a:t>shmget</a:t>
            </a:r>
            <a:r>
              <a:rPr lang="en-US" b="0" i="0" dirty="0">
                <a:solidFill>
                  <a:srgbClr val="212529"/>
                </a:solidFill>
                <a:effectLst/>
              </a:rPr>
              <a:t>, </a:t>
            </a:r>
            <a:r>
              <a:rPr lang="en-US" b="0" i="0" dirty="0" err="1">
                <a:solidFill>
                  <a:srgbClr val="212529"/>
                </a:solidFill>
                <a:effectLst/>
              </a:rPr>
              <a:t>shmat</a:t>
            </a:r>
            <a:r>
              <a:rPr lang="en-US" b="0" i="0" dirty="0">
                <a:solidFill>
                  <a:srgbClr val="212529"/>
                </a:solidFill>
                <a:effectLst/>
              </a:rPr>
              <a:t>, </a:t>
            </a:r>
            <a:r>
              <a:rPr lang="en-US" b="0" i="0" dirty="0" err="1">
                <a:solidFill>
                  <a:srgbClr val="212529"/>
                </a:solidFill>
                <a:effectLst/>
              </a:rPr>
              <a:t>shmctl</a:t>
            </a:r>
            <a:r>
              <a:rPr lang="en-US" b="0" i="0" dirty="0">
                <a:solidFill>
                  <a:srgbClr val="212529"/>
                </a:solidFill>
                <a:effectLst/>
              </a:rPr>
              <a:t>, etc.).</a:t>
            </a:r>
          </a:p>
          <a:p>
            <a:pPr algn="l">
              <a:buFont typeface="Arial" panose="020B0604020202020204" pitchFamily="34" charset="0"/>
              <a:buChar char="•"/>
            </a:pPr>
            <a:r>
              <a:rPr lang="en-US" b="0" i="0" dirty="0">
                <a:solidFill>
                  <a:srgbClr val="212529"/>
                </a:solidFill>
                <a:effectLst/>
              </a:rPr>
              <a:t>On distributed memory machines, memory is physically distributed across a network of machines, but made global through specialized hardware and software.</a:t>
            </a:r>
          </a:p>
          <a:p>
            <a:endParaRPr lang="en-IN" dirty="0"/>
          </a:p>
        </p:txBody>
      </p:sp>
    </p:spTree>
    <p:extLst>
      <p:ext uri="{BB962C8B-B14F-4D97-AF65-F5344CB8AC3E}">
        <p14:creationId xmlns:p14="http://schemas.microsoft.com/office/powerpoint/2010/main" val="3223010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47CDB0-D963-9993-F91F-0EA414CCB769}"/>
              </a:ext>
            </a:extLst>
          </p:cNvPr>
          <p:cNvPicPr>
            <a:picLocks noGrp="1" noChangeAspect="1"/>
          </p:cNvPicPr>
          <p:nvPr>
            <p:ph idx="1"/>
          </p:nvPr>
        </p:nvPicPr>
        <p:blipFill>
          <a:blip r:embed="rId2"/>
          <a:stretch>
            <a:fillRect/>
          </a:stretch>
        </p:blipFill>
        <p:spPr>
          <a:xfrm>
            <a:off x="3511801" y="895604"/>
            <a:ext cx="5204911" cy="5128704"/>
          </a:xfrm>
        </p:spPr>
      </p:pic>
    </p:spTree>
    <p:extLst>
      <p:ext uri="{BB962C8B-B14F-4D97-AF65-F5344CB8AC3E}">
        <p14:creationId xmlns:p14="http://schemas.microsoft.com/office/powerpoint/2010/main" val="2402999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1D515-0DFA-665B-7493-6FA5E3D31115}"/>
              </a:ext>
            </a:extLst>
          </p:cNvPr>
          <p:cNvSpPr>
            <a:spLocks noGrp="1"/>
          </p:cNvSpPr>
          <p:nvPr>
            <p:ph type="title"/>
          </p:nvPr>
        </p:nvSpPr>
        <p:spPr>
          <a:xfrm>
            <a:off x="838200" y="430307"/>
            <a:ext cx="10515600" cy="1260382"/>
          </a:xfrm>
        </p:spPr>
        <p:txBody>
          <a:bodyPr>
            <a:normAutofit fontScale="90000"/>
          </a:bodyPr>
          <a:lstStyle/>
          <a:p>
            <a:r>
              <a:rPr lang="en-US" b="0" i="0" dirty="0">
                <a:solidFill>
                  <a:srgbClr val="5D5D5D"/>
                </a:solidFill>
                <a:effectLst/>
                <a:latin typeface="Open Sans" panose="020B0606030504020204" pitchFamily="34" charset="0"/>
              </a:rPr>
              <a:t>Distributed Memory / Message Passing Model</a:t>
            </a:r>
            <a:br>
              <a:rPr lang="en-US" b="0" i="0" dirty="0">
                <a:solidFill>
                  <a:srgbClr val="5D5D5D"/>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203D4D7A-3532-C857-78D3-076C6677BF57}"/>
              </a:ext>
            </a:extLst>
          </p:cNvPr>
          <p:cNvSpPr>
            <a:spLocks noGrp="1"/>
          </p:cNvSpPr>
          <p:nvPr>
            <p:ph idx="1"/>
          </p:nvPr>
        </p:nvSpPr>
        <p:spPr>
          <a:xfrm>
            <a:off x="421341" y="1825624"/>
            <a:ext cx="11107271" cy="4835151"/>
          </a:xfrm>
        </p:spPr>
        <p:txBody>
          <a:bodyPr>
            <a:normAutofit fontScale="92500"/>
          </a:bodyPr>
          <a:lstStyle/>
          <a:p>
            <a:pPr marL="0" indent="0" algn="l">
              <a:buNone/>
            </a:pPr>
            <a:r>
              <a:rPr lang="en-US" b="0" i="0" dirty="0">
                <a:solidFill>
                  <a:srgbClr val="212529"/>
                </a:solidFill>
                <a:effectLst/>
              </a:rPr>
              <a:t>This model demonstrates the following characteristics:</a:t>
            </a:r>
          </a:p>
          <a:p>
            <a:pPr marL="742950" lvl="1" indent="-285750" algn="l">
              <a:buFont typeface="Arial" panose="020B0604020202020204" pitchFamily="34" charset="0"/>
              <a:buChar char="•"/>
            </a:pPr>
            <a:r>
              <a:rPr lang="en-US" sz="2800" b="0" i="0" dirty="0">
                <a:solidFill>
                  <a:srgbClr val="212529"/>
                </a:solidFill>
                <a:effectLst/>
              </a:rPr>
              <a:t>A set of tasks that use their own local memory during computation.</a:t>
            </a:r>
          </a:p>
          <a:p>
            <a:pPr marL="742950" lvl="1" indent="-285750" algn="l">
              <a:buFont typeface="Arial" panose="020B0604020202020204" pitchFamily="34" charset="0"/>
              <a:buChar char="•"/>
            </a:pPr>
            <a:r>
              <a:rPr lang="en-US" sz="2800" b="0" i="0" dirty="0">
                <a:solidFill>
                  <a:srgbClr val="212529"/>
                </a:solidFill>
                <a:effectLst/>
              </a:rPr>
              <a:t> Multiple tasks can reside on the same physical machine and/or across an arbitrary number of machines.</a:t>
            </a:r>
          </a:p>
          <a:p>
            <a:pPr marL="742950" lvl="1" indent="-285750" algn="l">
              <a:buFont typeface="Arial" panose="020B0604020202020204" pitchFamily="34" charset="0"/>
              <a:buChar char="•"/>
            </a:pPr>
            <a:r>
              <a:rPr lang="en-US" sz="2800" b="0" i="0" dirty="0">
                <a:solidFill>
                  <a:srgbClr val="212529"/>
                </a:solidFill>
                <a:effectLst/>
              </a:rPr>
              <a:t>Tasks exchange data through communications by sending and receiving messages.</a:t>
            </a:r>
          </a:p>
          <a:p>
            <a:pPr marL="742950" lvl="1" indent="-285750" algn="l">
              <a:buFont typeface="Arial" panose="020B0604020202020204" pitchFamily="34" charset="0"/>
              <a:buChar char="•"/>
            </a:pPr>
            <a:r>
              <a:rPr lang="en-US" sz="2800" b="0" i="0" dirty="0">
                <a:solidFill>
                  <a:srgbClr val="212529"/>
                </a:solidFill>
                <a:effectLst/>
              </a:rPr>
              <a:t>Data transfer usually requires cooperative operations to be performed by each process.</a:t>
            </a:r>
          </a:p>
          <a:p>
            <a:pPr marL="742950" lvl="1" indent="-285750" algn="l">
              <a:buFont typeface="Arial" panose="020B0604020202020204" pitchFamily="34" charset="0"/>
              <a:buChar char="•"/>
            </a:pPr>
            <a:r>
              <a:rPr lang="en-US" sz="2800" b="0" i="0" dirty="0">
                <a:solidFill>
                  <a:srgbClr val="212529"/>
                </a:solidFill>
                <a:effectLst/>
              </a:rPr>
              <a:t> For example, a send operation must have a matching receive operation.</a:t>
            </a:r>
          </a:p>
          <a:p>
            <a:pPr marL="742950" lvl="1" indent="-285750" algn="l">
              <a:buFont typeface="Arial" panose="020B0604020202020204" pitchFamily="34" charset="0"/>
              <a:buChar char="•"/>
            </a:pPr>
            <a:r>
              <a:rPr lang="en-US" sz="2800" dirty="0">
                <a:solidFill>
                  <a:srgbClr val="212529"/>
                </a:solidFill>
              </a:rPr>
              <a:t>Programming with message passing is done by linking with and making calls to libraries which manage the data exchange between processors.</a:t>
            </a:r>
            <a:endParaRPr lang="en-US" sz="2800" b="0" i="0" dirty="0">
              <a:solidFill>
                <a:srgbClr val="212529"/>
              </a:solidFill>
              <a:effectLst/>
            </a:endParaRPr>
          </a:p>
          <a:p>
            <a:endParaRPr lang="en-IN" dirty="0"/>
          </a:p>
        </p:txBody>
      </p:sp>
    </p:spTree>
    <p:extLst>
      <p:ext uri="{BB962C8B-B14F-4D97-AF65-F5344CB8AC3E}">
        <p14:creationId xmlns:p14="http://schemas.microsoft.com/office/powerpoint/2010/main" val="1578094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153E9-E876-938B-1CA1-83457604F76C}"/>
              </a:ext>
            </a:extLst>
          </p:cNvPr>
          <p:cNvSpPr>
            <a:spLocks noGrp="1"/>
          </p:cNvSpPr>
          <p:nvPr>
            <p:ph type="title"/>
          </p:nvPr>
        </p:nvSpPr>
        <p:spPr/>
        <p:txBody>
          <a:bodyPr/>
          <a:lstStyle/>
          <a:p>
            <a:r>
              <a:rPr lang="en-US" b="1" i="0" dirty="0">
                <a:solidFill>
                  <a:srgbClr val="212529"/>
                </a:solidFill>
                <a:effectLst/>
                <a:latin typeface="Open Sans" panose="020B0606030504020204" pitchFamily="34" charset="0"/>
              </a:rPr>
              <a:t>Implementations</a:t>
            </a:r>
            <a:br>
              <a:rPr lang="en-US" b="0" i="0" dirty="0">
                <a:solidFill>
                  <a:srgbClr val="212529"/>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61DFB430-E623-40B9-9B4E-F3772191992E}"/>
              </a:ext>
            </a:extLst>
          </p:cNvPr>
          <p:cNvSpPr>
            <a:spLocks noGrp="1"/>
          </p:cNvSpPr>
          <p:nvPr>
            <p:ph idx="1"/>
          </p:nvPr>
        </p:nvSpPr>
        <p:spPr>
          <a:xfrm>
            <a:off x="409433" y="1690688"/>
            <a:ext cx="11477767" cy="4901181"/>
          </a:xfrm>
        </p:spPr>
        <p:txBody>
          <a:bodyPr/>
          <a:lstStyle/>
          <a:p>
            <a:pPr algn="l">
              <a:buFont typeface="Arial" panose="020B0604020202020204" pitchFamily="34" charset="0"/>
              <a:buChar char="•"/>
            </a:pPr>
            <a:r>
              <a:rPr lang="en-US" b="0" i="0" dirty="0">
                <a:solidFill>
                  <a:srgbClr val="212529"/>
                </a:solidFill>
                <a:effectLst/>
              </a:rPr>
              <a:t>From a programming perspective, message passing implementations usually comprise a library of subroutines. Calls to these subroutines are imbedded in source code. </a:t>
            </a:r>
          </a:p>
          <a:p>
            <a:pPr algn="l">
              <a:buFont typeface="Arial" panose="020B0604020202020204" pitchFamily="34" charset="0"/>
              <a:buChar char="•"/>
            </a:pPr>
            <a:r>
              <a:rPr lang="en-US" b="0" i="0" dirty="0">
                <a:solidFill>
                  <a:srgbClr val="212529"/>
                </a:solidFill>
                <a:effectLst/>
              </a:rPr>
              <a:t>The programmer is responsible for determining all parallelism.</a:t>
            </a:r>
          </a:p>
          <a:p>
            <a:endParaRPr lang="en-IN" dirty="0"/>
          </a:p>
        </p:txBody>
      </p:sp>
      <p:pic>
        <p:nvPicPr>
          <p:cNvPr id="5" name="Content Placeholder 4">
            <a:extLst>
              <a:ext uri="{FF2B5EF4-FFF2-40B4-BE49-F238E27FC236}">
                <a16:creationId xmlns:a16="http://schemas.microsoft.com/office/drawing/2014/main" id="{6D3F7FC7-BCF3-ED3E-7830-3C5D89D51674}"/>
              </a:ext>
            </a:extLst>
          </p:cNvPr>
          <p:cNvPicPr>
            <a:picLocks noChangeAspect="1"/>
          </p:cNvPicPr>
          <p:nvPr/>
        </p:nvPicPr>
        <p:blipFill>
          <a:blip r:embed="rId2"/>
          <a:stretch>
            <a:fillRect/>
          </a:stretch>
        </p:blipFill>
        <p:spPr>
          <a:xfrm>
            <a:off x="2129052" y="3513363"/>
            <a:ext cx="7014948" cy="2979511"/>
          </a:xfrm>
          <a:prstGeom prst="rect">
            <a:avLst/>
          </a:prstGeom>
        </p:spPr>
      </p:pic>
    </p:spTree>
    <p:extLst>
      <p:ext uri="{BB962C8B-B14F-4D97-AF65-F5344CB8AC3E}">
        <p14:creationId xmlns:p14="http://schemas.microsoft.com/office/powerpoint/2010/main" val="1968669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6CD665-0259-C829-09AA-D7F36CB9287D}"/>
              </a:ext>
            </a:extLst>
          </p:cNvPr>
          <p:cNvSpPr>
            <a:spLocks noGrp="1"/>
          </p:cNvSpPr>
          <p:nvPr>
            <p:ph idx="1"/>
          </p:nvPr>
        </p:nvSpPr>
        <p:spPr>
          <a:xfrm>
            <a:off x="472440" y="518160"/>
            <a:ext cx="10881360" cy="5658803"/>
          </a:xfrm>
        </p:spPr>
        <p:txBody>
          <a:bodyPr>
            <a:normAutofit lnSpcReduction="10000"/>
          </a:bodyPr>
          <a:lstStyle/>
          <a:p>
            <a:pPr marL="0" indent="0">
              <a:buNone/>
            </a:pPr>
            <a:r>
              <a:rPr lang="en-US" b="1" dirty="0"/>
              <a:t>Implementation</a:t>
            </a:r>
          </a:p>
          <a:p>
            <a:r>
              <a:rPr lang="en-US" dirty="0"/>
              <a:t>The MPI (Message Passing Interface) is a message passing library standard.</a:t>
            </a:r>
          </a:p>
          <a:p>
            <a:pPr marL="0" indent="0">
              <a:buNone/>
            </a:pPr>
            <a:r>
              <a:rPr lang="en-US" b="1" dirty="0"/>
              <a:t>Advantages</a:t>
            </a:r>
          </a:p>
          <a:p>
            <a:r>
              <a:rPr lang="en-US" dirty="0"/>
              <a:t>The data can be stored any where</a:t>
            </a:r>
          </a:p>
          <a:p>
            <a:r>
              <a:rPr lang="en-US" dirty="0"/>
              <a:t>Communication between processes is simple</a:t>
            </a:r>
          </a:p>
          <a:p>
            <a:r>
              <a:rPr lang="en-US" dirty="0"/>
              <a:t>Many Manage Passing Interfaces( MPI) are available</a:t>
            </a:r>
          </a:p>
          <a:p>
            <a:pPr marL="0" indent="0">
              <a:buNone/>
            </a:pPr>
            <a:r>
              <a:rPr lang="en-US" b="1" dirty="0"/>
              <a:t>Disadvantage</a:t>
            </a:r>
            <a:r>
              <a:rPr lang="en-US" dirty="0"/>
              <a:t> </a:t>
            </a:r>
          </a:p>
          <a:p>
            <a:r>
              <a:rPr lang="en-US" dirty="0"/>
              <a:t>Programmers should take care that there is a receive function for every send function</a:t>
            </a:r>
          </a:p>
          <a:p>
            <a:r>
              <a:rPr lang="en-US" dirty="0"/>
              <a:t>If any of the process, quite, others also will stop working, as they are dependent</a:t>
            </a:r>
            <a:endParaRPr lang="en-IN" dirty="0"/>
          </a:p>
        </p:txBody>
      </p:sp>
    </p:spTree>
    <p:extLst>
      <p:ext uri="{BB962C8B-B14F-4D97-AF65-F5344CB8AC3E}">
        <p14:creationId xmlns:p14="http://schemas.microsoft.com/office/powerpoint/2010/main" val="1421904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75094-348F-CF72-F19E-8A41237C18E9}"/>
              </a:ext>
            </a:extLst>
          </p:cNvPr>
          <p:cNvSpPr>
            <a:spLocks noGrp="1"/>
          </p:cNvSpPr>
          <p:nvPr>
            <p:ph type="title"/>
          </p:nvPr>
        </p:nvSpPr>
        <p:spPr>
          <a:xfrm>
            <a:off x="838200" y="365126"/>
            <a:ext cx="10869706" cy="916828"/>
          </a:xfrm>
        </p:spPr>
        <p:txBody>
          <a:bodyPr>
            <a:normAutofit fontScale="90000"/>
          </a:bodyPr>
          <a:lstStyle/>
          <a:p>
            <a:pPr algn="ctr"/>
            <a:r>
              <a:rPr lang="en-IN" b="0" i="0" dirty="0">
                <a:solidFill>
                  <a:srgbClr val="5D5D5D"/>
                </a:solidFill>
                <a:effectLst/>
                <a:latin typeface="Open Sans" panose="020B0606030504020204" pitchFamily="34" charset="0"/>
              </a:rPr>
              <a:t>Threads Model</a:t>
            </a:r>
            <a:br>
              <a:rPr lang="en-IN" b="0" i="0" dirty="0">
                <a:solidFill>
                  <a:srgbClr val="5D5D5D"/>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6EEAE012-6C62-1210-A3CA-C2B4C0745D47}"/>
              </a:ext>
            </a:extLst>
          </p:cNvPr>
          <p:cNvSpPr>
            <a:spLocks noGrp="1"/>
          </p:cNvSpPr>
          <p:nvPr>
            <p:ph idx="1"/>
          </p:nvPr>
        </p:nvSpPr>
        <p:spPr>
          <a:xfrm>
            <a:off x="439271" y="1416424"/>
            <a:ext cx="11358282" cy="5154705"/>
          </a:xfrm>
        </p:spPr>
        <p:txBody>
          <a:bodyPr>
            <a:normAutofit/>
          </a:bodyPr>
          <a:lstStyle/>
          <a:p>
            <a:pPr algn="l">
              <a:buFont typeface="Arial" panose="020B0604020202020204" pitchFamily="34" charset="0"/>
              <a:buChar char="•"/>
            </a:pPr>
            <a:r>
              <a:rPr lang="en-US" sz="3000" b="0" i="0" dirty="0">
                <a:solidFill>
                  <a:srgbClr val="212529"/>
                </a:solidFill>
                <a:effectLst/>
              </a:rPr>
              <a:t>This programming model is a type of shared memory programming.</a:t>
            </a:r>
          </a:p>
          <a:p>
            <a:pPr algn="l">
              <a:buFont typeface="Arial" panose="020B0604020202020204" pitchFamily="34" charset="0"/>
              <a:buChar char="•"/>
            </a:pPr>
            <a:r>
              <a:rPr lang="en-US" sz="3000" b="0" i="0" dirty="0">
                <a:solidFill>
                  <a:srgbClr val="212529"/>
                </a:solidFill>
                <a:effectLst/>
              </a:rPr>
              <a:t>In the threads model of parallel programming, a single "heavy weight" process can have multiple "light weight", concurrent execution paths.</a:t>
            </a:r>
          </a:p>
          <a:p>
            <a:pPr marL="0" indent="0" algn="l">
              <a:buNone/>
            </a:pPr>
            <a:r>
              <a:rPr lang="en-US" sz="3000" b="0" i="0" dirty="0">
                <a:solidFill>
                  <a:srgbClr val="212529"/>
                </a:solidFill>
                <a:effectLst/>
              </a:rPr>
              <a:t>For example:</a:t>
            </a:r>
          </a:p>
          <a:p>
            <a:pPr marL="742950" lvl="1" indent="-285750" algn="l">
              <a:buFont typeface="Arial" panose="020B0604020202020204" pitchFamily="34" charset="0"/>
              <a:buChar char="•"/>
            </a:pPr>
            <a:r>
              <a:rPr lang="en-US" sz="3000" b="0" i="0" dirty="0">
                <a:solidFill>
                  <a:srgbClr val="212529"/>
                </a:solidFill>
                <a:effectLst/>
              </a:rPr>
              <a:t>The main program </a:t>
            </a:r>
            <a:r>
              <a:rPr lang="en-US" sz="3000" b="1" i="0" dirty="0" err="1">
                <a:solidFill>
                  <a:srgbClr val="212529"/>
                </a:solidFill>
                <a:effectLst/>
              </a:rPr>
              <a:t>a.out</a:t>
            </a:r>
            <a:r>
              <a:rPr lang="en-US" sz="3000" b="0" i="0" dirty="0">
                <a:solidFill>
                  <a:srgbClr val="212529"/>
                </a:solidFill>
                <a:effectLst/>
              </a:rPr>
              <a:t> is scheduled to run by the native operating system. </a:t>
            </a:r>
            <a:r>
              <a:rPr lang="en-US" sz="3000" b="1" i="0" dirty="0" err="1">
                <a:solidFill>
                  <a:srgbClr val="212529"/>
                </a:solidFill>
                <a:effectLst/>
              </a:rPr>
              <a:t>a.out</a:t>
            </a:r>
            <a:r>
              <a:rPr lang="en-US" sz="3000" b="0" i="0" dirty="0">
                <a:solidFill>
                  <a:srgbClr val="212529"/>
                </a:solidFill>
                <a:effectLst/>
              </a:rPr>
              <a:t> loads and acquires all of the necessary system and user resources to run. This is the "heavy weight" process.</a:t>
            </a:r>
          </a:p>
          <a:p>
            <a:pPr marL="742950" lvl="1" indent="-285750" algn="l">
              <a:buFont typeface="Arial" panose="020B0604020202020204" pitchFamily="34" charset="0"/>
              <a:buChar char="•"/>
            </a:pPr>
            <a:r>
              <a:rPr lang="en-US" sz="3000" b="1" i="0" dirty="0" err="1">
                <a:solidFill>
                  <a:srgbClr val="212529"/>
                </a:solidFill>
                <a:effectLst/>
              </a:rPr>
              <a:t>a.out</a:t>
            </a:r>
            <a:r>
              <a:rPr lang="en-US" sz="3000" b="0" i="0" dirty="0">
                <a:solidFill>
                  <a:srgbClr val="212529"/>
                </a:solidFill>
                <a:effectLst/>
              </a:rPr>
              <a:t> performs some serial work, and then creates a number of tasks (threads) that can be scheduled and run by the operating system concurrently</a:t>
            </a:r>
            <a:r>
              <a:rPr lang="en-US" sz="4000" b="0" i="0" dirty="0">
                <a:solidFill>
                  <a:srgbClr val="212529"/>
                </a:solidFill>
                <a:effectLst/>
              </a:rPr>
              <a:t>.</a:t>
            </a:r>
          </a:p>
          <a:p>
            <a:pPr marL="742950" lvl="1" indent="-285750" algn="l">
              <a:buFont typeface="Arial" panose="020B0604020202020204" pitchFamily="34" charset="0"/>
              <a:buChar char="•"/>
            </a:pPr>
            <a:endParaRPr lang="en-US" sz="5100" b="0" i="0" dirty="0">
              <a:solidFill>
                <a:srgbClr val="212529"/>
              </a:solidFill>
              <a:effectLst/>
            </a:endParaRPr>
          </a:p>
          <a:p>
            <a:pPr marL="0" indent="0">
              <a:buNone/>
            </a:pPr>
            <a:endParaRPr lang="en-IN" dirty="0"/>
          </a:p>
        </p:txBody>
      </p:sp>
    </p:spTree>
    <p:extLst>
      <p:ext uri="{BB962C8B-B14F-4D97-AF65-F5344CB8AC3E}">
        <p14:creationId xmlns:p14="http://schemas.microsoft.com/office/powerpoint/2010/main" val="2514253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2D40CAF-9597-954B-63CA-F851DC144F72}"/>
              </a:ext>
            </a:extLst>
          </p:cNvPr>
          <p:cNvPicPr>
            <a:picLocks noGrp="1" noChangeAspect="1"/>
          </p:cNvPicPr>
          <p:nvPr>
            <p:ph idx="1"/>
          </p:nvPr>
        </p:nvPicPr>
        <p:blipFill>
          <a:blip r:embed="rId2"/>
          <a:stretch>
            <a:fillRect/>
          </a:stretch>
        </p:blipFill>
        <p:spPr>
          <a:xfrm>
            <a:off x="2034988" y="326030"/>
            <a:ext cx="7673788" cy="6352677"/>
          </a:xfrm>
        </p:spPr>
      </p:pic>
    </p:spTree>
    <p:extLst>
      <p:ext uri="{BB962C8B-B14F-4D97-AF65-F5344CB8AC3E}">
        <p14:creationId xmlns:p14="http://schemas.microsoft.com/office/powerpoint/2010/main" val="98071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3C35D-C32F-E6A4-49C8-57B4B07DB8D8}"/>
              </a:ext>
            </a:extLst>
          </p:cNvPr>
          <p:cNvSpPr>
            <a:spLocks noGrp="1"/>
          </p:cNvSpPr>
          <p:nvPr>
            <p:ph idx="1"/>
          </p:nvPr>
        </p:nvSpPr>
        <p:spPr>
          <a:xfrm>
            <a:off x="331694" y="295835"/>
            <a:ext cx="11528612" cy="6266329"/>
          </a:xfrm>
        </p:spPr>
        <p:txBody>
          <a:bodyPr>
            <a:normAutofit fontScale="55000" lnSpcReduction="20000"/>
          </a:bodyPr>
          <a:lstStyle/>
          <a:p>
            <a:pPr marL="742950" lvl="1" indent="-285750" algn="l">
              <a:buFont typeface="Arial" panose="020B0604020202020204" pitchFamily="34" charset="0"/>
              <a:buChar char="•"/>
            </a:pPr>
            <a:r>
              <a:rPr lang="en-US" sz="5100" b="0" i="0" dirty="0">
                <a:solidFill>
                  <a:srgbClr val="212529"/>
                </a:solidFill>
                <a:effectLst/>
              </a:rPr>
              <a:t>Each thread has local data, but also, shares the entire resources of </a:t>
            </a:r>
            <a:r>
              <a:rPr lang="en-US" sz="5100" b="1" i="0" dirty="0" err="1">
                <a:solidFill>
                  <a:srgbClr val="212529"/>
                </a:solidFill>
                <a:effectLst/>
              </a:rPr>
              <a:t>a.out</a:t>
            </a:r>
            <a:r>
              <a:rPr lang="en-US" sz="5100" b="0" i="0" dirty="0">
                <a:solidFill>
                  <a:srgbClr val="212529"/>
                </a:solidFill>
                <a:effectLst/>
              </a:rPr>
              <a:t>. This saves the overhead associated with replicating a program's resources for each thread ("light weight"). Each thread also benefits from a global memory view because it shares the memory space of </a:t>
            </a:r>
            <a:r>
              <a:rPr lang="en-US" sz="5100" b="1" i="0" dirty="0" err="1">
                <a:solidFill>
                  <a:srgbClr val="212529"/>
                </a:solidFill>
                <a:effectLst/>
              </a:rPr>
              <a:t>a.out</a:t>
            </a:r>
            <a:r>
              <a:rPr lang="en-US" sz="5100" b="0" i="0" dirty="0">
                <a:solidFill>
                  <a:srgbClr val="212529"/>
                </a:solidFill>
                <a:effectLst/>
              </a:rPr>
              <a:t>.</a:t>
            </a:r>
          </a:p>
          <a:p>
            <a:pPr marL="457200" lvl="1" indent="0" algn="l">
              <a:buNone/>
            </a:pPr>
            <a:endParaRPr lang="en-US" sz="5100" b="0" i="0" dirty="0">
              <a:solidFill>
                <a:srgbClr val="212529"/>
              </a:solidFill>
              <a:effectLst/>
            </a:endParaRPr>
          </a:p>
          <a:p>
            <a:pPr marL="742950" lvl="1" indent="-285750" algn="l">
              <a:buFont typeface="Arial" panose="020B0604020202020204" pitchFamily="34" charset="0"/>
              <a:buChar char="•"/>
            </a:pPr>
            <a:r>
              <a:rPr lang="en-US" sz="5100" b="0" i="0" dirty="0">
                <a:solidFill>
                  <a:srgbClr val="212529"/>
                </a:solidFill>
                <a:effectLst/>
              </a:rPr>
              <a:t>A thread's work may best be described as a subroutine within the main program. Any thread can execute any subroutine at the same time as other threads.</a:t>
            </a:r>
          </a:p>
          <a:p>
            <a:pPr marL="457200" lvl="1" indent="0" algn="l">
              <a:buNone/>
            </a:pPr>
            <a:endParaRPr lang="en-US" sz="5100" b="0" i="0" dirty="0">
              <a:solidFill>
                <a:srgbClr val="212529"/>
              </a:solidFill>
              <a:effectLst/>
            </a:endParaRPr>
          </a:p>
          <a:p>
            <a:pPr marL="742950" lvl="1" indent="-285750" algn="l">
              <a:buFont typeface="Arial" panose="020B0604020202020204" pitchFamily="34" charset="0"/>
              <a:buChar char="•"/>
            </a:pPr>
            <a:r>
              <a:rPr lang="en-US" sz="5100" b="0" i="0" dirty="0">
                <a:solidFill>
                  <a:srgbClr val="212529"/>
                </a:solidFill>
                <a:effectLst/>
              </a:rPr>
              <a:t>Threads communicate with each other through global memory (updating address locations). This requires synchronization constructs to ensure that more than one thread is not updating the same global address at any time.</a:t>
            </a:r>
          </a:p>
          <a:p>
            <a:pPr marL="457200" lvl="1" indent="0" algn="l">
              <a:buNone/>
            </a:pPr>
            <a:endParaRPr lang="en-US" sz="5100" b="0" i="0" dirty="0">
              <a:solidFill>
                <a:srgbClr val="212529"/>
              </a:solidFill>
              <a:effectLst/>
            </a:endParaRPr>
          </a:p>
          <a:p>
            <a:pPr marL="742950" lvl="1" indent="-285750" algn="l">
              <a:buFont typeface="Arial" panose="020B0604020202020204" pitchFamily="34" charset="0"/>
              <a:buChar char="•"/>
            </a:pPr>
            <a:r>
              <a:rPr lang="en-US" sz="5100" b="0" i="0" dirty="0">
                <a:solidFill>
                  <a:srgbClr val="212529"/>
                </a:solidFill>
                <a:effectLst/>
              </a:rPr>
              <a:t>Threads can come and go, but </a:t>
            </a:r>
            <a:r>
              <a:rPr lang="en-US" sz="5100" b="1" i="0" dirty="0" err="1">
                <a:solidFill>
                  <a:srgbClr val="212529"/>
                </a:solidFill>
                <a:effectLst/>
              </a:rPr>
              <a:t>a.out</a:t>
            </a:r>
            <a:r>
              <a:rPr lang="en-US" sz="5100" b="0" i="0" dirty="0">
                <a:solidFill>
                  <a:srgbClr val="212529"/>
                </a:solidFill>
                <a:effectLst/>
              </a:rPr>
              <a:t> remains present to provide the necessary shared resources until the application has completed.</a:t>
            </a:r>
          </a:p>
          <a:p>
            <a:endParaRPr lang="en-IN" dirty="0"/>
          </a:p>
        </p:txBody>
      </p:sp>
    </p:spTree>
    <p:extLst>
      <p:ext uri="{BB962C8B-B14F-4D97-AF65-F5344CB8AC3E}">
        <p14:creationId xmlns:p14="http://schemas.microsoft.com/office/powerpoint/2010/main" val="1435887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9D37D9-4BB4-765D-D443-77547C9CB330}"/>
              </a:ext>
            </a:extLst>
          </p:cNvPr>
          <p:cNvSpPr>
            <a:spLocks noGrp="1"/>
          </p:cNvSpPr>
          <p:nvPr>
            <p:ph idx="1"/>
          </p:nvPr>
        </p:nvSpPr>
        <p:spPr>
          <a:xfrm>
            <a:off x="582705" y="331694"/>
            <a:ext cx="11134165" cy="6122894"/>
          </a:xfrm>
        </p:spPr>
        <p:txBody>
          <a:bodyPr>
            <a:normAutofit fontScale="92500"/>
          </a:bodyPr>
          <a:lstStyle/>
          <a:p>
            <a:pPr algn="l"/>
            <a:r>
              <a:rPr lang="en-US" b="1" i="0" dirty="0">
                <a:solidFill>
                  <a:srgbClr val="212529"/>
                </a:solidFill>
                <a:effectLst/>
                <a:latin typeface="Open Sans" panose="020B0606030504020204" pitchFamily="34" charset="0"/>
              </a:rPr>
              <a:t>Implementations</a:t>
            </a: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0" i="0" dirty="0">
                <a:solidFill>
                  <a:srgbClr val="212529"/>
                </a:solidFill>
                <a:effectLst/>
              </a:rPr>
              <a:t>From a programming perspective, threads implementations commonly comprise:</a:t>
            </a:r>
          </a:p>
          <a:p>
            <a:pPr marL="742950" lvl="1" indent="-285750" algn="l">
              <a:buFont typeface="Arial" panose="020B0604020202020204" pitchFamily="34" charset="0"/>
              <a:buChar char="•"/>
            </a:pPr>
            <a:r>
              <a:rPr lang="en-US" sz="2800" b="0" i="0" dirty="0">
                <a:solidFill>
                  <a:srgbClr val="212529"/>
                </a:solidFill>
                <a:effectLst/>
              </a:rPr>
              <a:t>A library of subroutines that are called from within parallel source code</a:t>
            </a:r>
          </a:p>
          <a:p>
            <a:pPr marL="742950" lvl="1" indent="-285750" algn="l">
              <a:buFont typeface="Arial" panose="020B0604020202020204" pitchFamily="34" charset="0"/>
              <a:buChar char="•"/>
            </a:pPr>
            <a:r>
              <a:rPr lang="en-US" sz="2800" b="0" i="0" dirty="0">
                <a:solidFill>
                  <a:srgbClr val="212529"/>
                </a:solidFill>
                <a:effectLst/>
              </a:rPr>
              <a:t>A set of compiler directives imbedded in either serial or parallel source code</a:t>
            </a:r>
          </a:p>
          <a:p>
            <a:pPr algn="l"/>
            <a:r>
              <a:rPr lang="en-US" b="0" i="0" dirty="0">
                <a:solidFill>
                  <a:srgbClr val="212529"/>
                </a:solidFill>
                <a:effectLst/>
              </a:rPr>
              <a:t>In both cases, the programmer is responsible for determining the parallelism (although compilers can sometimes help).</a:t>
            </a:r>
          </a:p>
          <a:p>
            <a:pPr algn="l">
              <a:buFont typeface="Arial" panose="020B0604020202020204" pitchFamily="34" charset="0"/>
              <a:buChar char="•"/>
            </a:pPr>
            <a:r>
              <a:rPr lang="en-US" b="0" i="0" dirty="0">
                <a:solidFill>
                  <a:srgbClr val="212529"/>
                </a:solidFill>
                <a:effectLst/>
              </a:rPr>
              <a:t>Threaded implementations are not new in computing. Historically, hardware vendors have implemented their own proprietary versions of threads. These implementations differed substantially from each other making it difficult for programmers to develop portable threaded applications.</a:t>
            </a:r>
          </a:p>
          <a:p>
            <a:pPr algn="l">
              <a:buFont typeface="Arial" panose="020B0604020202020204" pitchFamily="34" charset="0"/>
              <a:buChar char="•"/>
            </a:pPr>
            <a:r>
              <a:rPr lang="en-US" b="0" i="0" dirty="0">
                <a:solidFill>
                  <a:srgbClr val="212529"/>
                </a:solidFill>
                <a:effectLst/>
              </a:rPr>
              <a:t>Unrelated standardization efforts have resulted in two very different implementations of threads: </a:t>
            </a:r>
            <a:r>
              <a:rPr lang="en-US" b="1" i="1" dirty="0">
                <a:solidFill>
                  <a:srgbClr val="212529"/>
                </a:solidFill>
                <a:effectLst/>
              </a:rPr>
              <a:t>POSIX Threads</a:t>
            </a:r>
            <a:r>
              <a:rPr lang="en-US" b="0" i="0" dirty="0">
                <a:solidFill>
                  <a:srgbClr val="212529"/>
                </a:solidFill>
                <a:effectLst/>
              </a:rPr>
              <a:t> and </a:t>
            </a:r>
            <a:r>
              <a:rPr lang="en-US" b="1" i="1" dirty="0">
                <a:solidFill>
                  <a:srgbClr val="212529"/>
                </a:solidFill>
                <a:effectLst/>
              </a:rPr>
              <a:t>OpenMP.</a:t>
            </a:r>
            <a:endParaRPr lang="en-US" b="0" i="0" dirty="0">
              <a:solidFill>
                <a:srgbClr val="212529"/>
              </a:solidFill>
              <a:effectLst/>
            </a:endParaRPr>
          </a:p>
          <a:p>
            <a:pPr marL="0" indent="0">
              <a:buNone/>
            </a:pPr>
            <a:endParaRPr lang="en-IN" dirty="0"/>
          </a:p>
        </p:txBody>
      </p:sp>
    </p:spTree>
    <p:extLst>
      <p:ext uri="{BB962C8B-B14F-4D97-AF65-F5344CB8AC3E}">
        <p14:creationId xmlns:p14="http://schemas.microsoft.com/office/powerpoint/2010/main" val="85580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8A64AD-5D18-0929-8A50-221938BB44D1}"/>
              </a:ext>
            </a:extLst>
          </p:cNvPr>
          <p:cNvSpPr>
            <a:spLocks noGrp="1"/>
          </p:cNvSpPr>
          <p:nvPr>
            <p:ph idx="1"/>
          </p:nvPr>
        </p:nvSpPr>
        <p:spPr>
          <a:xfrm>
            <a:off x="579120" y="381000"/>
            <a:ext cx="11369040" cy="6096000"/>
          </a:xfrm>
        </p:spPr>
        <p:txBody>
          <a:bodyPr>
            <a:normAutofit fontScale="55000" lnSpcReduction="20000"/>
          </a:bodyPr>
          <a:lstStyle/>
          <a:p>
            <a:pPr marL="0" indent="0" algn="l">
              <a:buNone/>
            </a:pPr>
            <a:r>
              <a:rPr lang="en-US" sz="3600" b="1" i="0" dirty="0">
                <a:solidFill>
                  <a:srgbClr val="212529"/>
                </a:solidFill>
                <a:effectLst/>
              </a:rPr>
              <a:t>POSIX Threads</a:t>
            </a:r>
          </a:p>
          <a:p>
            <a:pPr algn="l">
              <a:buFont typeface="Arial" panose="020B0604020202020204" pitchFamily="34" charset="0"/>
              <a:buChar char="•"/>
            </a:pPr>
            <a:r>
              <a:rPr lang="en-US" sz="3600" b="0" i="0" dirty="0">
                <a:solidFill>
                  <a:srgbClr val="212529"/>
                </a:solidFill>
                <a:effectLst/>
              </a:rPr>
              <a:t>Specified by the IEEE POSIX 1003.1c standard (1995). C Language only.</a:t>
            </a:r>
          </a:p>
          <a:p>
            <a:pPr algn="l">
              <a:buFont typeface="Arial" panose="020B0604020202020204" pitchFamily="34" charset="0"/>
              <a:buChar char="•"/>
            </a:pPr>
            <a:r>
              <a:rPr lang="en-US" sz="3600" b="0" i="0" dirty="0">
                <a:solidFill>
                  <a:srgbClr val="212529"/>
                </a:solidFill>
                <a:effectLst/>
              </a:rPr>
              <a:t>Part of Unix/Linux operating systems</a:t>
            </a:r>
          </a:p>
          <a:p>
            <a:pPr algn="l">
              <a:buFont typeface="Arial" panose="020B0604020202020204" pitchFamily="34" charset="0"/>
              <a:buChar char="•"/>
            </a:pPr>
            <a:r>
              <a:rPr lang="en-US" sz="3600" b="0" i="0" dirty="0">
                <a:solidFill>
                  <a:srgbClr val="212529"/>
                </a:solidFill>
                <a:effectLst/>
              </a:rPr>
              <a:t>Library based</a:t>
            </a:r>
          </a:p>
          <a:p>
            <a:pPr algn="l">
              <a:buFont typeface="Arial" panose="020B0604020202020204" pitchFamily="34" charset="0"/>
              <a:buChar char="•"/>
            </a:pPr>
            <a:r>
              <a:rPr lang="en-US" sz="3600" b="0" i="0" dirty="0">
                <a:solidFill>
                  <a:srgbClr val="212529"/>
                </a:solidFill>
                <a:effectLst/>
              </a:rPr>
              <a:t>Commonly referred to as </a:t>
            </a:r>
            <a:r>
              <a:rPr lang="en-US" sz="3600" b="0" i="0" dirty="0" err="1">
                <a:solidFill>
                  <a:srgbClr val="212529"/>
                </a:solidFill>
                <a:effectLst/>
              </a:rPr>
              <a:t>Pthreads</a:t>
            </a:r>
            <a:r>
              <a:rPr lang="en-US" sz="3600" b="0" i="0" dirty="0">
                <a:solidFill>
                  <a:srgbClr val="212529"/>
                </a:solidFill>
                <a:effectLst/>
              </a:rPr>
              <a:t>.</a:t>
            </a:r>
          </a:p>
          <a:p>
            <a:pPr algn="l">
              <a:buFont typeface="Arial" panose="020B0604020202020204" pitchFamily="34" charset="0"/>
              <a:buChar char="•"/>
            </a:pPr>
            <a:r>
              <a:rPr lang="en-US" sz="3600" b="0" i="0" dirty="0">
                <a:solidFill>
                  <a:srgbClr val="212529"/>
                </a:solidFill>
                <a:effectLst/>
              </a:rPr>
              <a:t>Very explicit parallelism; requires significant programmer attention to detail.</a:t>
            </a:r>
          </a:p>
          <a:p>
            <a:pPr marL="0" indent="0" algn="l">
              <a:buNone/>
            </a:pPr>
            <a:r>
              <a:rPr lang="en-US" sz="3600" b="1" i="0" dirty="0">
                <a:solidFill>
                  <a:srgbClr val="212529"/>
                </a:solidFill>
                <a:effectLst/>
              </a:rPr>
              <a:t>OpenMP</a:t>
            </a:r>
          </a:p>
          <a:p>
            <a:pPr algn="l">
              <a:buFont typeface="Arial" panose="020B0604020202020204" pitchFamily="34" charset="0"/>
              <a:buChar char="•"/>
            </a:pPr>
            <a:r>
              <a:rPr lang="en-US" sz="3600" b="0" i="0" dirty="0">
                <a:solidFill>
                  <a:srgbClr val="212529"/>
                </a:solidFill>
                <a:effectLst/>
              </a:rPr>
              <a:t> Industry standard, jointly defined and endorsed by a group of major computer hardware and software vendors, organizations and individuals.</a:t>
            </a:r>
          </a:p>
          <a:p>
            <a:pPr algn="l">
              <a:buFont typeface="Arial" panose="020B0604020202020204" pitchFamily="34" charset="0"/>
              <a:buChar char="•"/>
            </a:pPr>
            <a:r>
              <a:rPr lang="en-US" sz="3600" b="0" i="0" dirty="0">
                <a:solidFill>
                  <a:srgbClr val="212529"/>
                </a:solidFill>
                <a:effectLst/>
              </a:rPr>
              <a:t>Compiler directive based</a:t>
            </a:r>
          </a:p>
          <a:p>
            <a:pPr algn="l">
              <a:buFont typeface="Arial" panose="020B0604020202020204" pitchFamily="34" charset="0"/>
              <a:buChar char="•"/>
            </a:pPr>
            <a:r>
              <a:rPr lang="en-US" sz="3600" b="0" i="0" dirty="0">
                <a:solidFill>
                  <a:srgbClr val="212529"/>
                </a:solidFill>
                <a:effectLst/>
              </a:rPr>
              <a:t>Portable / multi-platform, including Unix and Windows platforms</a:t>
            </a:r>
          </a:p>
          <a:p>
            <a:pPr algn="l">
              <a:buFont typeface="Arial" panose="020B0604020202020204" pitchFamily="34" charset="0"/>
              <a:buChar char="•"/>
            </a:pPr>
            <a:r>
              <a:rPr lang="en-US" sz="3600" b="0" i="0" dirty="0">
                <a:solidFill>
                  <a:srgbClr val="212529"/>
                </a:solidFill>
                <a:effectLst/>
              </a:rPr>
              <a:t>Available in C/C++ and Fortran implementations</a:t>
            </a:r>
          </a:p>
          <a:p>
            <a:pPr algn="l">
              <a:buFont typeface="Arial" panose="020B0604020202020204" pitchFamily="34" charset="0"/>
              <a:buChar char="•"/>
            </a:pPr>
            <a:r>
              <a:rPr lang="en-US" sz="3600" b="0" i="0" dirty="0">
                <a:solidFill>
                  <a:srgbClr val="212529"/>
                </a:solidFill>
                <a:effectLst/>
              </a:rPr>
              <a:t>Can be very easy and simple to use - provides for "incremental parallelism". Can begin with serial code.</a:t>
            </a:r>
          </a:p>
          <a:p>
            <a:pPr algn="l">
              <a:buFont typeface="Arial" panose="020B0604020202020204" pitchFamily="34" charset="0"/>
              <a:buChar char="•"/>
            </a:pPr>
            <a:r>
              <a:rPr lang="en-US" sz="3600" b="0" i="0" dirty="0">
                <a:solidFill>
                  <a:srgbClr val="212529"/>
                </a:solidFill>
                <a:effectLst/>
              </a:rPr>
              <a:t>Other threaded implementations are common, but not discussed here:</a:t>
            </a:r>
          </a:p>
          <a:p>
            <a:pPr marL="742950" lvl="1" indent="-285750" algn="l">
              <a:buFont typeface="Arial" panose="020B0604020202020204" pitchFamily="34" charset="0"/>
              <a:buChar char="•"/>
            </a:pPr>
            <a:r>
              <a:rPr lang="en-US" sz="3600" b="0" i="0" dirty="0">
                <a:solidFill>
                  <a:srgbClr val="212529"/>
                </a:solidFill>
                <a:effectLst/>
              </a:rPr>
              <a:t>Microsoft threads</a:t>
            </a:r>
          </a:p>
          <a:p>
            <a:pPr marL="742950" lvl="1" indent="-285750" algn="l">
              <a:buFont typeface="Arial" panose="020B0604020202020204" pitchFamily="34" charset="0"/>
              <a:buChar char="•"/>
            </a:pPr>
            <a:r>
              <a:rPr lang="en-US" sz="3600" b="0" i="0" dirty="0">
                <a:solidFill>
                  <a:srgbClr val="212529"/>
                </a:solidFill>
                <a:effectLst/>
              </a:rPr>
              <a:t>Java, Python threads</a:t>
            </a:r>
          </a:p>
          <a:p>
            <a:pPr marL="742950" lvl="1" indent="-285750" algn="l">
              <a:buFont typeface="Arial" panose="020B0604020202020204" pitchFamily="34" charset="0"/>
              <a:buChar char="•"/>
            </a:pPr>
            <a:r>
              <a:rPr lang="en-US" sz="3600" b="0" i="0" dirty="0">
                <a:solidFill>
                  <a:srgbClr val="212529"/>
                </a:solidFill>
                <a:effectLst/>
              </a:rPr>
              <a:t>CUDA threads for GPUs</a:t>
            </a:r>
          </a:p>
          <a:p>
            <a:endParaRPr lang="en-IN" dirty="0"/>
          </a:p>
        </p:txBody>
      </p:sp>
    </p:spTree>
    <p:extLst>
      <p:ext uri="{BB962C8B-B14F-4D97-AF65-F5344CB8AC3E}">
        <p14:creationId xmlns:p14="http://schemas.microsoft.com/office/powerpoint/2010/main" val="274812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776AC-A431-9B93-0972-BC4827286FF1}"/>
              </a:ext>
            </a:extLst>
          </p:cNvPr>
          <p:cNvSpPr>
            <a:spLocks noGrp="1"/>
          </p:cNvSpPr>
          <p:nvPr>
            <p:ph type="title"/>
          </p:nvPr>
        </p:nvSpPr>
        <p:spPr>
          <a:xfrm>
            <a:off x="573207" y="450376"/>
            <a:ext cx="10780593" cy="477672"/>
          </a:xfrm>
        </p:spPr>
        <p:txBody>
          <a:bodyPr>
            <a:normAutofit fontScale="90000"/>
          </a:bodyPr>
          <a:lstStyle/>
          <a:p>
            <a:pPr algn="ctr"/>
            <a:r>
              <a:rPr lang="en-IN" b="0" i="0" dirty="0">
                <a:solidFill>
                  <a:srgbClr val="5D5D5D"/>
                </a:solidFill>
                <a:effectLst/>
                <a:latin typeface="Open Sans" panose="020B0606030504020204" pitchFamily="34" charset="0"/>
              </a:rPr>
              <a:t>Data Parallel Model</a:t>
            </a:r>
            <a:br>
              <a:rPr lang="en-IN" b="0" i="0" dirty="0">
                <a:solidFill>
                  <a:srgbClr val="5D5D5D"/>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C6C803A3-4520-04F3-9570-5D0C0067F4E7}"/>
              </a:ext>
            </a:extLst>
          </p:cNvPr>
          <p:cNvSpPr>
            <a:spLocks noGrp="1"/>
          </p:cNvSpPr>
          <p:nvPr>
            <p:ph idx="1"/>
          </p:nvPr>
        </p:nvSpPr>
        <p:spPr>
          <a:xfrm>
            <a:off x="573207" y="1201004"/>
            <a:ext cx="11382232" cy="5445456"/>
          </a:xfrm>
        </p:spPr>
        <p:txBody>
          <a:bodyPr>
            <a:normAutofit fontScale="92500" lnSpcReduction="10000"/>
          </a:bodyPr>
          <a:lstStyle/>
          <a:p>
            <a:pPr algn="l">
              <a:buFont typeface="Arial" panose="020B0604020202020204" pitchFamily="34" charset="0"/>
              <a:buChar char="•"/>
            </a:pPr>
            <a:r>
              <a:rPr lang="en-US" b="0" i="0" dirty="0">
                <a:solidFill>
                  <a:srgbClr val="212529"/>
                </a:solidFill>
                <a:effectLst/>
              </a:rPr>
              <a:t>May also be referred to as the </a:t>
            </a:r>
            <a:r>
              <a:rPr lang="en-US" b="1" i="0" dirty="0">
                <a:solidFill>
                  <a:srgbClr val="212529"/>
                </a:solidFill>
                <a:effectLst/>
              </a:rPr>
              <a:t>Partitioned Global Address Space (PGAS)</a:t>
            </a:r>
            <a:r>
              <a:rPr lang="en-US" b="0" i="0" dirty="0">
                <a:solidFill>
                  <a:srgbClr val="212529"/>
                </a:solidFill>
                <a:effectLst/>
              </a:rPr>
              <a:t> model.</a:t>
            </a:r>
          </a:p>
          <a:p>
            <a:pPr algn="l">
              <a:buFont typeface="Arial" panose="020B0604020202020204" pitchFamily="34" charset="0"/>
              <a:buChar char="•"/>
            </a:pPr>
            <a:r>
              <a:rPr lang="en-US" b="0" i="0" dirty="0">
                <a:solidFill>
                  <a:srgbClr val="212529"/>
                </a:solidFill>
                <a:effectLst/>
              </a:rPr>
              <a:t>The data parallel model demonstrates the following characteristics:</a:t>
            </a:r>
          </a:p>
          <a:p>
            <a:pPr marL="742950" lvl="1" indent="-285750" algn="l">
              <a:buFont typeface="Arial" panose="020B0604020202020204" pitchFamily="34" charset="0"/>
              <a:buChar char="•"/>
            </a:pPr>
            <a:r>
              <a:rPr lang="en-US" sz="2800" b="0" i="0" dirty="0">
                <a:solidFill>
                  <a:srgbClr val="212529"/>
                </a:solidFill>
                <a:effectLst/>
              </a:rPr>
              <a:t>Address space is treated globally</a:t>
            </a:r>
          </a:p>
          <a:p>
            <a:pPr marL="742950" lvl="1" indent="-285750" algn="l">
              <a:buFont typeface="Arial" panose="020B0604020202020204" pitchFamily="34" charset="0"/>
              <a:buChar char="•"/>
            </a:pPr>
            <a:r>
              <a:rPr lang="en-US" sz="2800" b="0" i="0" dirty="0">
                <a:solidFill>
                  <a:srgbClr val="212529"/>
                </a:solidFill>
                <a:effectLst/>
              </a:rPr>
              <a:t>Most of the parallel work focuses on performing operations on a data set. The data set is typically organized into a common structure, such as an array or cube.</a:t>
            </a:r>
          </a:p>
          <a:p>
            <a:pPr marL="742950" lvl="1" indent="-285750" algn="l">
              <a:buFont typeface="Arial" panose="020B0604020202020204" pitchFamily="34" charset="0"/>
              <a:buChar char="•"/>
            </a:pPr>
            <a:r>
              <a:rPr lang="en-US" sz="2800" b="0" i="0" dirty="0">
                <a:solidFill>
                  <a:srgbClr val="212529"/>
                </a:solidFill>
                <a:effectLst/>
              </a:rPr>
              <a:t>A set of tasks work collectively on the same data structure, however, each task works on a different partition of the same data structure.</a:t>
            </a:r>
          </a:p>
          <a:p>
            <a:pPr marL="742950" lvl="1" indent="-285750" algn="l">
              <a:buFont typeface="Arial" panose="020B0604020202020204" pitchFamily="34" charset="0"/>
              <a:buChar char="•"/>
            </a:pPr>
            <a:r>
              <a:rPr lang="en-US" sz="2800" b="0" i="0" dirty="0">
                <a:solidFill>
                  <a:srgbClr val="212529"/>
                </a:solidFill>
                <a:effectLst/>
              </a:rPr>
              <a:t>Tasks perform the same operation on their partition of work, for example, "add 4 to every array element".</a:t>
            </a:r>
          </a:p>
          <a:p>
            <a:pPr algn="l">
              <a:buFont typeface="Arial" panose="020B0604020202020204" pitchFamily="34" charset="0"/>
              <a:buChar char="•"/>
            </a:pPr>
            <a:r>
              <a:rPr lang="en-US" b="0" i="0" dirty="0">
                <a:solidFill>
                  <a:srgbClr val="212529"/>
                </a:solidFill>
                <a:effectLst/>
              </a:rPr>
              <a:t>On shared memory architectures, all tasks may have access to the data structure through global memory.</a:t>
            </a:r>
          </a:p>
          <a:p>
            <a:pPr algn="l">
              <a:buFont typeface="Arial" panose="020B0604020202020204" pitchFamily="34" charset="0"/>
              <a:buChar char="•"/>
            </a:pPr>
            <a:r>
              <a:rPr lang="en-US" b="0" i="0" dirty="0">
                <a:solidFill>
                  <a:srgbClr val="212529"/>
                </a:solidFill>
                <a:effectLst/>
              </a:rPr>
              <a:t>On distributed memory architectures, the global data structure can be split up logically and/or physically across tasks.</a:t>
            </a:r>
          </a:p>
          <a:p>
            <a:endParaRPr lang="en-IN" dirty="0"/>
          </a:p>
        </p:txBody>
      </p:sp>
    </p:spTree>
    <p:extLst>
      <p:ext uri="{BB962C8B-B14F-4D97-AF65-F5344CB8AC3E}">
        <p14:creationId xmlns:p14="http://schemas.microsoft.com/office/powerpoint/2010/main" val="161781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67ADB8-9EA5-283E-17CE-2B8792D4B5B7}"/>
              </a:ext>
            </a:extLst>
          </p:cNvPr>
          <p:cNvPicPr>
            <a:picLocks noGrp="1" noChangeAspect="1"/>
          </p:cNvPicPr>
          <p:nvPr>
            <p:ph idx="1"/>
          </p:nvPr>
        </p:nvPicPr>
        <p:blipFill>
          <a:blip r:embed="rId2"/>
          <a:stretch>
            <a:fillRect/>
          </a:stretch>
        </p:blipFill>
        <p:spPr>
          <a:xfrm>
            <a:off x="846161" y="908803"/>
            <a:ext cx="9921923" cy="5341872"/>
          </a:xfrm>
        </p:spPr>
      </p:pic>
    </p:spTree>
    <p:extLst>
      <p:ext uri="{BB962C8B-B14F-4D97-AF65-F5344CB8AC3E}">
        <p14:creationId xmlns:p14="http://schemas.microsoft.com/office/powerpoint/2010/main" val="2779458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E1A63F-F966-83F7-8BCE-3117216C6B62}"/>
              </a:ext>
            </a:extLst>
          </p:cNvPr>
          <p:cNvSpPr>
            <a:spLocks noGrp="1"/>
          </p:cNvSpPr>
          <p:nvPr>
            <p:ph idx="1"/>
          </p:nvPr>
        </p:nvSpPr>
        <p:spPr>
          <a:xfrm>
            <a:off x="409433" y="545910"/>
            <a:ext cx="10944367" cy="5631053"/>
          </a:xfrm>
        </p:spPr>
        <p:txBody>
          <a:bodyPr/>
          <a:lstStyle/>
          <a:p>
            <a:pPr marL="0" indent="0" algn="l">
              <a:buNone/>
            </a:pPr>
            <a:r>
              <a:rPr lang="en-US" b="1" i="0" dirty="0">
                <a:solidFill>
                  <a:srgbClr val="212529"/>
                </a:solidFill>
                <a:effectLst/>
                <a:latin typeface="Open Sans" panose="020B0606030504020204" pitchFamily="34" charset="0"/>
              </a:rPr>
              <a:t>Implementations:</a:t>
            </a: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0" i="0" dirty="0">
                <a:solidFill>
                  <a:srgbClr val="212529"/>
                </a:solidFill>
                <a:effectLst/>
                <a:latin typeface="Open Sans" panose="020B0606030504020204" pitchFamily="34" charset="0"/>
              </a:rPr>
              <a:t>Currently, there are several parallel programming implementations in various stages of developments, based on the Data Parallel / PGAS model.</a:t>
            </a:r>
          </a:p>
          <a:p>
            <a:endParaRPr lang="en-IN" dirty="0"/>
          </a:p>
        </p:txBody>
      </p:sp>
    </p:spTree>
    <p:extLst>
      <p:ext uri="{BB962C8B-B14F-4D97-AF65-F5344CB8AC3E}">
        <p14:creationId xmlns:p14="http://schemas.microsoft.com/office/powerpoint/2010/main" val="4154250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CD068-44C8-70AC-613D-C612B8399F6C}"/>
              </a:ext>
            </a:extLst>
          </p:cNvPr>
          <p:cNvSpPr>
            <a:spLocks noGrp="1"/>
          </p:cNvSpPr>
          <p:nvPr>
            <p:ph type="title"/>
          </p:nvPr>
        </p:nvSpPr>
        <p:spPr/>
        <p:txBody>
          <a:bodyPr/>
          <a:lstStyle/>
          <a:p>
            <a:pPr algn="ctr"/>
            <a:r>
              <a:rPr lang="en-IN" b="0" i="0" dirty="0">
                <a:solidFill>
                  <a:srgbClr val="5D5D5D"/>
                </a:solidFill>
                <a:effectLst/>
                <a:latin typeface="Open Sans" panose="020B0606030504020204" pitchFamily="34" charset="0"/>
              </a:rPr>
              <a:t>Hybrid Model</a:t>
            </a:r>
            <a:br>
              <a:rPr lang="en-IN" b="0" i="0" dirty="0">
                <a:solidFill>
                  <a:srgbClr val="5D5D5D"/>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DF4DA894-9F9C-25DE-0CBA-C3B86955DA3E}"/>
              </a:ext>
            </a:extLst>
          </p:cNvPr>
          <p:cNvSpPr>
            <a:spLocks noGrp="1"/>
          </p:cNvSpPr>
          <p:nvPr>
            <p:ph idx="1"/>
          </p:nvPr>
        </p:nvSpPr>
        <p:spPr/>
        <p:txBody>
          <a:bodyPr/>
          <a:lstStyle/>
          <a:p>
            <a:pPr algn="l">
              <a:buFont typeface="Arial" panose="020B0604020202020204" pitchFamily="34" charset="0"/>
              <a:buChar char="•"/>
            </a:pPr>
            <a:r>
              <a:rPr lang="en-US" b="0" i="0" dirty="0">
                <a:solidFill>
                  <a:srgbClr val="212529"/>
                </a:solidFill>
                <a:effectLst/>
                <a:latin typeface="Open Sans" panose="020B0606030504020204" pitchFamily="34" charset="0"/>
              </a:rPr>
              <a:t>A hybrid model combines more than one of the previously described programming models.</a:t>
            </a:r>
          </a:p>
          <a:p>
            <a:pPr algn="l">
              <a:buFont typeface="Arial" panose="020B0604020202020204" pitchFamily="34" charset="0"/>
              <a:buChar char="•"/>
            </a:pPr>
            <a:r>
              <a:rPr lang="en-US" b="0" i="0" dirty="0">
                <a:solidFill>
                  <a:srgbClr val="212529"/>
                </a:solidFill>
                <a:effectLst/>
                <a:latin typeface="Open Sans" panose="020B0606030504020204" pitchFamily="34" charset="0"/>
              </a:rPr>
              <a:t>Currently, a common example of a hybrid model is the combination of the message passing model (MPI) with the threads model (OpenMP).</a:t>
            </a:r>
          </a:p>
          <a:p>
            <a:pPr marL="742950" lvl="1" indent="-285750" algn="l">
              <a:buFont typeface="Arial" panose="020B0604020202020204" pitchFamily="34" charset="0"/>
              <a:buChar char="•"/>
            </a:pPr>
            <a:r>
              <a:rPr lang="en-US" b="0" i="0" dirty="0">
                <a:solidFill>
                  <a:srgbClr val="212529"/>
                </a:solidFill>
                <a:effectLst/>
                <a:latin typeface="Open Sans" panose="020B0606030504020204" pitchFamily="34" charset="0"/>
              </a:rPr>
              <a:t>Threads perform computationally intensive kernels using local, on-node data</a:t>
            </a:r>
          </a:p>
          <a:p>
            <a:pPr marL="742950" lvl="1" indent="-285750" algn="l">
              <a:buFont typeface="Arial" panose="020B0604020202020204" pitchFamily="34" charset="0"/>
              <a:buChar char="•"/>
            </a:pPr>
            <a:r>
              <a:rPr lang="en-US" b="0" i="0" dirty="0">
                <a:solidFill>
                  <a:srgbClr val="212529"/>
                </a:solidFill>
                <a:effectLst/>
                <a:latin typeface="Open Sans" panose="020B0606030504020204" pitchFamily="34" charset="0"/>
              </a:rPr>
              <a:t>Communications between processes on different nodes occurs over the network using MPI</a:t>
            </a:r>
          </a:p>
          <a:p>
            <a:endParaRPr lang="en-IN" dirty="0"/>
          </a:p>
        </p:txBody>
      </p:sp>
    </p:spTree>
    <p:extLst>
      <p:ext uri="{BB962C8B-B14F-4D97-AF65-F5344CB8AC3E}">
        <p14:creationId xmlns:p14="http://schemas.microsoft.com/office/powerpoint/2010/main" val="2432736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D58D4A-A797-E011-8669-DE8FECE1B06B}"/>
              </a:ext>
            </a:extLst>
          </p:cNvPr>
          <p:cNvSpPr>
            <a:spLocks noGrp="1"/>
          </p:cNvSpPr>
          <p:nvPr>
            <p:ph idx="1"/>
          </p:nvPr>
        </p:nvSpPr>
        <p:spPr>
          <a:xfrm>
            <a:off x="436728" y="504966"/>
            <a:ext cx="11559654" cy="6018663"/>
          </a:xfrm>
        </p:spPr>
        <p:txBody>
          <a:bodyPr>
            <a:normAutofit/>
          </a:bodyPr>
          <a:lstStyle/>
          <a:p>
            <a:pPr algn="l">
              <a:buFont typeface="Arial" panose="020B0604020202020204" pitchFamily="34" charset="0"/>
              <a:buChar char="•"/>
            </a:pPr>
            <a:r>
              <a:rPr lang="en-US" b="0" i="0" dirty="0">
                <a:solidFill>
                  <a:srgbClr val="212529"/>
                </a:solidFill>
                <a:effectLst/>
              </a:rPr>
              <a:t>This hybrid model lends itself well to the most popular (currently) hardware environment of clustered multi/many-core machines.</a:t>
            </a:r>
          </a:p>
          <a:p>
            <a:pPr algn="l">
              <a:buFont typeface="Arial" panose="020B0604020202020204" pitchFamily="34" charset="0"/>
              <a:buChar char="•"/>
            </a:pPr>
            <a:r>
              <a:rPr lang="en-US" b="0" i="0" dirty="0">
                <a:solidFill>
                  <a:srgbClr val="212529"/>
                </a:solidFill>
                <a:effectLst/>
              </a:rPr>
              <a:t>Another similar and increasingly popular example of a hybrid model is using MPI with CPU-GPU (graphics processing unit) programming.</a:t>
            </a:r>
          </a:p>
          <a:p>
            <a:pPr marL="0" indent="0" algn="l">
              <a:buNone/>
            </a:pPr>
            <a:endParaRPr lang="en-US" b="0" i="0" dirty="0">
              <a:solidFill>
                <a:srgbClr val="212529"/>
              </a:solidFill>
              <a:effectLst/>
            </a:endParaRPr>
          </a:p>
          <a:p>
            <a:pPr marL="742950" lvl="1" indent="-285750" algn="l">
              <a:buFont typeface="Arial" panose="020B0604020202020204" pitchFamily="34" charset="0"/>
              <a:buChar char="•"/>
            </a:pPr>
            <a:r>
              <a:rPr lang="en-US" sz="2800" b="0" i="0" dirty="0">
                <a:solidFill>
                  <a:srgbClr val="212529"/>
                </a:solidFill>
                <a:effectLst/>
              </a:rPr>
              <a:t>MPI tasks run on CPUs using local memory and communicating with each other over a network.</a:t>
            </a:r>
          </a:p>
          <a:p>
            <a:pPr marL="742950" lvl="1" indent="-285750" algn="l">
              <a:buFont typeface="Arial" panose="020B0604020202020204" pitchFamily="34" charset="0"/>
              <a:buChar char="•"/>
            </a:pPr>
            <a:r>
              <a:rPr lang="en-US" sz="2800" b="0" i="0" dirty="0">
                <a:solidFill>
                  <a:srgbClr val="212529"/>
                </a:solidFill>
                <a:effectLst/>
              </a:rPr>
              <a:t>Computationally intensive kernels are off-loaded to GPUs on-node.</a:t>
            </a:r>
          </a:p>
          <a:p>
            <a:pPr marL="742950" lvl="1" indent="-285750" algn="l">
              <a:buFont typeface="Arial" panose="020B0604020202020204" pitchFamily="34" charset="0"/>
              <a:buChar char="•"/>
            </a:pPr>
            <a:r>
              <a:rPr lang="en-US" sz="2800" b="0" i="0" dirty="0">
                <a:solidFill>
                  <a:srgbClr val="212529"/>
                </a:solidFill>
                <a:effectLst/>
              </a:rPr>
              <a:t>Data exchange between node-local memory and GPUs uses CUDA (or something equivalent).</a:t>
            </a:r>
          </a:p>
          <a:p>
            <a:pPr algn="l">
              <a:buFont typeface="Arial" panose="020B0604020202020204" pitchFamily="34" charset="0"/>
              <a:buChar char="•"/>
            </a:pPr>
            <a:r>
              <a:rPr lang="en-US" b="0" i="0" dirty="0">
                <a:solidFill>
                  <a:srgbClr val="212529"/>
                </a:solidFill>
                <a:effectLst/>
              </a:rPr>
              <a:t>Other hybrid models are common:</a:t>
            </a:r>
          </a:p>
          <a:p>
            <a:pPr marL="742950" lvl="1" indent="-285750" algn="l">
              <a:buFont typeface="Arial" panose="020B0604020202020204" pitchFamily="34" charset="0"/>
              <a:buChar char="•"/>
            </a:pPr>
            <a:r>
              <a:rPr lang="en-US" sz="2800" b="0" i="0" dirty="0">
                <a:solidFill>
                  <a:srgbClr val="212529"/>
                </a:solidFill>
                <a:effectLst/>
              </a:rPr>
              <a:t>MPI with </a:t>
            </a:r>
            <a:r>
              <a:rPr lang="en-US" sz="2800" b="0" i="0" dirty="0" err="1">
                <a:solidFill>
                  <a:srgbClr val="212529"/>
                </a:solidFill>
                <a:effectLst/>
              </a:rPr>
              <a:t>Pthreads</a:t>
            </a:r>
            <a:endParaRPr lang="en-US" sz="2800" b="0" i="0" dirty="0">
              <a:solidFill>
                <a:srgbClr val="212529"/>
              </a:solidFill>
              <a:effectLst/>
            </a:endParaRPr>
          </a:p>
          <a:p>
            <a:pPr marL="742950" lvl="1" indent="-285750" algn="l">
              <a:buFont typeface="Arial" panose="020B0604020202020204" pitchFamily="34" charset="0"/>
              <a:buChar char="•"/>
            </a:pPr>
            <a:r>
              <a:rPr lang="en-US" sz="2800" b="0" i="0" dirty="0">
                <a:solidFill>
                  <a:srgbClr val="212529"/>
                </a:solidFill>
                <a:effectLst/>
              </a:rPr>
              <a:t>MPI with non-GPU accelerators</a:t>
            </a:r>
          </a:p>
          <a:p>
            <a:endParaRPr lang="en-IN" dirty="0"/>
          </a:p>
        </p:txBody>
      </p:sp>
    </p:spTree>
    <p:extLst>
      <p:ext uri="{BB962C8B-B14F-4D97-AF65-F5344CB8AC3E}">
        <p14:creationId xmlns:p14="http://schemas.microsoft.com/office/powerpoint/2010/main" val="4130952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BAE1B8-21B0-2CC9-F061-207D9DF41CE2}"/>
              </a:ext>
            </a:extLst>
          </p:cNvPr>
          <p:cNvPicPr>
            <a:picLocks noGrp="1" noChangeAspect="1"/>
          </p:cNvPicPr>
          <p:nvPr>
            <p:ph idx="1"/>
          </p:nvPr>
        </p:nvPicPr>
        <p:blipFill>
          <a:blip r:embed="rId2"/>
          <a:stretch>
            <a:fillRect/>
          </a:stretch>
        </p:blipFill>
        <p:spPr>
          <a:xfrm>
            <a:off x="396159" y="1186025"/>
            <a:ext cx="5278817" cy="3010161"/>
          </a:xfrm>
        </p:spPr>
      </p:pic>
      <p:pic>
        <p:nvPicPr>
          <p:cNvPr id="7" name="Picture 6">
            <a:extLst>
              <a:ext uri="{FF2B5EF4-FFF2-40B4-BE49-F238E27FC236}">
                <a16:creationId xmlns:a16="http://schemas.microsoft.com/office/drawing/2014/main" id="{BD94089D-CAD4-5F8B-1FEA-E10E565E4649}"/>
              </a:ext>
            </a:extLst>
          </p:cNvPr>
          <p:cNvPicPr>
            <a:picLocks noChangeAspect="1"/>
          </p:cNvPicPr>
          <p:nvPr/>
        </p:nvPicPr>
        <p:blipFill>
          <a:blip r:embed="rId3"/>
          <a:stretch>
            <a:fillRect/>
          </a:stretch>
        </p:blipFill>
        <p:spPr>
          <a:xfrm>
            <a:off x="6517027" y="980268"/>
            <a:ext cx="4760090" cy="4014813"/>
          </a:xfrm>
          <a:prstGeom prst="rect">
            <a:avLst/>
          </a:prstGeom>
        </p:spPr>
      </p:pic>
    </p:spTree>
    <p:extLst>
      <p:ext uri="{BB962C8B-B14F-4D97-AF65-F5344CB8AC3E}">
        <p14:creationId xmlns:p14="http://schemas.microsoft.com/office/powerpoint/2010/main" val="3977841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D92B-BDF3-2E10-9D1A-DDAAC44E1967}"/>
              </a:ext>
            </a:extLst>
          </p:cNvPr>
          <p:cNvSpPr>
            <a:spLocks noGrp="1"/>
          </p:cNvSpPr>
          <p:nvPr>
            <p:ph type="title"/>
          </p:nvPr>
        </p:nvSpPr>
        <p:spPr>
          <a:xfrm>
            <a:off x="709684" y="365125"/>
            <a:ext cx="10549719" cy="999651"/>
          </a:xfrm>
        </p:spPr>
        <p:txBody>
          <a:bodyPr>
            <a:normAutofit fontScale="90000"/>
          </a:bodyPr>
          <a:lstStyle/>
          <a:p>
            <a:r>
              <a:rPr lang="en-IN" b="0" i="0" dirty="0">
                <a:solidFill>
                  <a:srgbClr val="212529"/>
                </a:solidFill>
                <a:effectLst/>
                <a:latin typeface="Open Sans" panose="020B0606030504020204" pitchFamily="34" charset="0"/>
              </a:rPr>
              <a:t>Single Program Multiple Data (SPMD)</a:t>
            </a:r>
            <a:br>
              <a:rPr lang="en-IN" b="0" i="0" dirty="0">
                <a:solidFill>
                  <a:srgbClr val="212529"/>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5ABEE6AC-976E-BFAA-C087-4C632C86F323}"/>
              </a:ext>
            </a:extLst>
          </p:cNvPr>
          <p:cNvSpPr>
            <a:spLocks noGrp="1"/>
          </p:cNvSpPr>
          <p:nvPr>
            <p:ph idx="1"/>
          </p:nvPr>
        </p:nvSpPr>
        <p:spPr>
          <a:xfrm>
            <a:off x="545911" y="1105468"/>
            <a:ext cx="11313994" cy="5527343"/>
          </a:xfrm>
        </p:spPr>
        <p:txBody>
          <a:bodyPr>
            <a:normAutofit fontScale="92500" lnSpcReduction="10000"/>
          </a:bodyPr>
          <a:lstStyle/>
          <a:p>
            <a:pPr algn="l">
              <a:buFont typeface="Arial" panose="020B0604020202020204" pitchFamily="34" charset="0"/>
              <a:buChar char="•"/>
            </a:pPr>
            <a:r>
              <a:rPr lang="en-US" sz="3000" b="0" i="0" dirty="0">
                <a:solidFill>
                  <a:srgbClr val="212529"/>
                </a:solidFill>
                <a:effectLst/>
              </a:rPr>
              <a:t>SPMD is actually a "high level" programming model that can be built upon any combination of the previously mentioned parallel programming models.</a:t>
            </a:r>
          </a:p>
          <a:p>
            <a:pPr algn="l">
              <a:buFont typeface="Arial" panose="020B0604020202020204" pitchFamily="34" charset="0"/>
              <a:buChar char="•"/>
            </a:pPr>
            <a:r>
              <a:rPr lang="en-US" sz="3000" b="0" i="0" dirty="0">
                <a:solidFill>
                  <a:srgbClr val="212529"/>
                </a:solidFill>
                <a:effectLst/>
              </a:rPr>
              <a:t>SINGLE PROGRAM: All tasks execute their copy of the same program simultaneously. This program can be threads, message passing, data parallel or hybrid.</a:t>
            </a:r>
          </a:p>
          <a:p>
            <a:pPr algn="l">
              <a:buFont typeface="Arial" panose="020B0604020202020204" pitchFamily="34" charset="0"/>
              <a:buChar char="•"/>
            </a:pPr>
            <a:r>
              <a:rPr lang="en-US" sz="3000" b="0" i="0" dirty="0">
                <a:solidFill>
                  <a:srgbClr val="212529"/>
                </a:solidFill>
                <a:effectLst/>
              </a:rPr>
              <a:t>MULTIPLE DATA: All tasks may use different data</a:t>
            </a:r>
          </a:p>
          <a:p>
            <a:pPr algn="l">
              <a:buFont typeface="Arial" panose="020B0604020202020204" pitchFamily="34" charset="0"/>
              <a:buChar char="•"/>
            </a:pPr>
            <a:r>
              <a:rPr lang="en-US" sz="3000" b="0" i="0" dirty="0">
                <a:solidFill>
                  <a:srgbClr val="212529"/>
                </a:solidFill>
                <a:effectLst/>
              </a:rPr>
              <a:t>SPMD programs usually have the necessary logic programmed into them to allow different tasks to branch or conditionally execute only those parts of the program they are designed to execute. That is, tasks do not necessarily have to execute the entire program - perhaps only a portion of it.</a:t>
            </a:r>
          </a:p>
          <a:p>
            <a:pPr algn="l">
              <a:buFont typeface="Arial" panose="020B0604020202020204" pitchFamily="34" charset="0"/>
              <a:buChar char="•"/>
            </a:pPr>
            <a:r>
              <a:rPr lang="en-US" sz="3000" b="0" i="0" dirty="0">
                <a:solidFill>
                  <a:srgbClr val="212529"/>
                </a:solidFill>
                <a:effectLst/>
              </a:rPr>
              <a:t>The SPMD model, using message passing or hybrid programming, is probably the most commonly used parallel programming model for multi-node clusters.</a:t>
            </a:r>
          </a:p>
          <a:p>
            <a:endParaRPr lang="en-IN" dirty="0"/>
          </a:p>
        </p:txBody>
      </p:sp>
    </p:spTree>
    <p:extLst>
      <p:ext uri="{BB962C8B-B14F-4D97-AF65-F5344CB8AC3E}">
        <p14:creationId xmlns:p14="http://schemas.microsoft.com/office/powerpoint/2010/main" val="3313258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FE3341-1633-B331-C74B-2801508D2956}"/>
              </a:ext>
            </a:extLst>
          </p:cNvPr>
          <p:cNvPicPr>
            <a:picLocks noGrp="1" noChangeAspect="1"/>
          </p:cNvPicPr>
          <p:nvPr>
            <p:ph idx="1"/>
          </p:nvPr>
        </p:nvPicPr>
        <p:blipFill>
          <a:blip r:embed="rId2"/>
          <a:stretch>
            <a:fillRect/>
          </a:stretch>
        </p:blipFill>
        <p:spPr>
          <a:xfrm>
            <a:off x="2074460" y="945302"/>
            <a:ext cx="5971677" cy="2690093"/>
          </a:xfrm>
        </p:spPr>
      </p:pic>
    </p:spTree>
    <p:extLst>
      <p:ext uri="{BB962C8B-B14F-4D97-AF65-F5344CB8AC3E}">
        <p14:creationId xmlns:p14="http://schemas.microsoft.com/office/powerpoint/2010/main" val="160441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10F3F-D460-B6FE-EC7D-EF77D785BEA0}"/>
              </a:ext>
            </a:extLst>
          </p:cNvPr>
          <p:cNvSpPr>
            <a:spLocks noGrp="1"/>
          </p:cNvSpPr>
          <p:nvPr>
            <p:ph type="title"/>
          </p:nvPr>
        </p:nvSpPr>
        <p:spPr/>
        <p:txBody>
          <a:bodyPr>
            <a:normAutofit fontScale="90000"/>
          </a:bodyPr>
          <a:lstStyle/>
          <a:p>
            <a:r>
              <a:rPr lang="en-IN" b="0" i="0" dirty="0">
                <a:solidFill>
                  <a:srgbClr val="212529"/>
                </a:solidFill>
                <a:effectLst/>
                <a:latin typeface="Open Sans" panose="020B0606030504020204" pitchFamily="34" charset="0"/>
              </a:rPr>
              <a:t>Multiple Program Multiple Data (MPMD)</a:t>
            </a:r>
            <a:br>
              <a:rPr lang="en-IN" b="0" i="0" dirty="0">
                <a:solidFill>
                  <a:srgbClr val="212529"/>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084249D6-7647-8C7D-950C-4CA1FFFE66C7}"/>
              </a:ext>
            </a:extLst>
          </p:cNvPr>
          <p:cNvSpPr>
            <a:spLocks noGrp="1"/>
          </p:cNvSpPr>
          <p:nvPr>
            <p:ph idx="1"/>
          </p:nvPr>
        </p:nvSpPr>
        <p:spPr>
          <a:xfrm>
            <a:off x="245660" y="1201002"/>
            <a:ext cx="11600597" cy="5445457"/>
          </a:xfrm>
        </p:spPr>
        <p:txBody>
          <a:bodyPr>
            <a:normAutofit lnSpcReduction="10000"/>
          </a:bodyPr>
          <a:lstStyle/>
          <a:p>
            <a:pPr algn="l">
              <a:buFont typeface="Arial" panose="020B0604020202020204" pitchFamily="34" charset="0"/>
              <a:buChar char="•"/>
            </a:pPr>
            <a:r>
              <a:rPr lang="en-US" b="0" i="0" dirty="0">
                <a:solidFill>
                  <a:srgbClr val="212529"/>
                </a:solidFill>
                <a:effectLst/>
              </a:rPr>
              <a:t>Like SPMD, MPMD is actually a "high level" programming model that can be built upon any combination of the previously mentioned parallel programming models.</a:t>
            </a:r>
          </a:p>
          <a:p>
            <a:pPr marL="0" indent="0" algn="l">
              <a:buNone/>
            </a:pPr>
            <a:endParaRPr lang="en-US" b="0" i="0" dirty="0">
              <a:solidFill>
                <a:srgbClr val="212529"/>
              </a:solidFill>
              <a:effectLst/>
            </a:endParaRPr>
          </a:p>
          <a:p>
            <a:pPr algn="l">
              <a:buFont typeface="Arial" panose="020B0604020202020204" pitchFamily="34" charset="0"/>
              <a:buChar char="•"/>
            </a:pPr>
            <a:r>
              <a:rPr lang="en-US" b="0" i="0" dirty="0">
                <a:solidFill>
                  <a:srgbClr val="212529"/>
                </a:solidFill>
                <a:effectLst/>
              </a:rPr>
              <a:t>MULTIPLE PROGRAM: Tasks may execute different programs simultaneously. The programs can be threads, message passing, data parallel or hybrid.</a:t>
            </a:r>
          </a:p>
          <a:p>
            <a:pPr marL="0" indent="0" algn="l">
              <a:buNone/>
            </a:pPr>
            <a:endParaRPr lang="en-US" b="0" i="0" dirty="0">
              <a:solidFill>
                <a:srgbClr val="212529"/>
              </a:solidFill>
              <a:effectLst/>
            </a:endParaRPr>
          </a:p>
          <a:p>
            <a:pPr algn="l">
              <a:buFont typeface="Arial" panose="020B0604020202020204" pitchFamily="34" charset="0"/>
              <a:buChar char="•"/>
            </a:pPr>
            <a:r>
              <a:rPr lang="en-US" b="0" i="0" dirty="0">
                <a:solidFill>
                  <a:srgbClr val="212529"/>
                </a:solidFill>
                <a:effectLst/>
              </a:rPr>
              <a:t>MULTIPLE DATA: All tasks may use different data</a:t>
            </a:r>
          </a:p>
          <a:p>
            <a:pPr marL="0" indent="0" algn="l">
              <a:buNone/>
            </a:pPr>
            <a:endParaRPr lang="en-US" b="0" i="0" dirty="0">
              <a:solidFill>
                <a:srgbClr val="212529"/>
              </a:solidFill>
              <a:effectLst/>
            </a:endParaRPr>
          </a:p>
          <a:p>
            <a:pPr algn="l">
              <a:buFont typeface="Arial" panose="020B0604020202020204" pitchFamily="34" charset="0"/>
              <a:buChar char="•"/>
            </a:pPr>
            <a:r>
              <a:rPr lang="en-US" b="0" i="0" dirty="0">
                <a:solidFill>
                  <a:srgbClr val="212529"/>
                </a:solidFill>
                <a:effectLst/>
              </a:rPr>
              <a:t>MPMD applications are not as common as SPMD applications, but may be better suited for certain types of problems, particularly those that lend themselves better to functional decomposition than domain decomposition (discussed later under Partitioning).</a:t>
            </a:r>
          </a:p>
          <a:p>
            <a:endParaRPr lang="en-IN" dirty="0"/>
          </a:p>
        </p:txBody>
      </p:sp>
    </p:spTree>
    <p:extLst>
      <p:ext uri="{BB962C8B-B14F-4D97-AF65-F5344CB8AC3E}">
        <p14:creationId xmlns:p14="http://schemas.microsoft.com/office/powerpoint/2010/main" val="200670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2594EA-4F46-EE02-2C3D-51EE8AE45572}"/>
              </a:ext>
            </a:extLst>
          </p:cNvPr>
          <p:cNvPicPr>
            <a:picLocks noGrp="1" noChangeAspect="1"/>
          </p:cNvPicPr>
          <p:nvPr>
            <p:ph idx="1"/>
          </p:nvPr>
        </p:nvPicPr>
        <p:blipFill>
          <a:blip r:embed="rId2"/>
          <a:stretch>
            <a:fillRect/>
          </a:stretch>
        </p:blipFill>
        <p:spPr>
          <a:xfrm>
            <a:off x="1282890" y="1091821"/>
            <a:ext cx="9157647" cy="4585648"/>
          </a:xfrm>
        </p:spPr>
      </p:pic>
    </p:spTree>
    <p:extLst>
      <p:ext uri="{BB962C8B-B14F-4D97-AF65-F5344CB8AC3E}">
        <p14:creationId xmlns:p14="http://schemas.microsoft.com/office/powerpoint/2010/main" val="1173004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3CF31F-6299-FB30-900D-EA6E650D7909}"/>
              </a:ext>
            </a:extLst>
          </p:cNvPr>
          <p:cNvSpPr>
            <a:spLocks noGrp="1"/>
          </p:cNvSpPr>
          <p:nvPr>
            <p:ph idx="1"/>
          </p:nvPr>
        </p:nvSpPr>
        <p:spPr>
          <a:xfrm>
            <a:off x="354841" y="477672"/>
            <a:ext cx="11464119" cy="5936776"/>
          </a:xfrm>
        </p:spPr>
        <p:txBody>
          <a:bodyPr/>
          <a:lstStyle/>
          <a:p>
            <a:endParaRPr lang="en-IN" dirty="0"/>
          </a:p>
        </p:txBody>
      </p:sp>
    </p:spTree>
    <p:extLst>
      <p:ext uri="{BB962C8B-B14F-4D97-AF65-F5344CB8AC3E}">
        <p14:creationId xmlns:p14="http://schemas.microsoft.com/office/powerpoint/2010/main" val="3544891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TotalTime>
  <Words>1652</Words>
  <Application>Microsoft Office PowerPoint</Application>
  <PresentationFormat>Widescreen</PresentationFormat>
  <Paragraphs>116</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Open Sans</vt:lpstr>
      <vt:lpstr>Office Theme</vt:lpstr>
      <vt:lpstr>Parallel Programming Models </vt:lpstr>
      <vt:lpstr>Parallel Programming Models </vt:lpstr>
      <vt:lpstr>Shared Memory Model (without threads) </vt:lpstr>
      <vt:lpstr>PowerPoint Presentation</vt:lpstr>
      <vt:lpstr>PowerPoint Presentation</vt:lpstr>
      <vt:lpstr>Distributed Memory / Message Passing Model </vt:lpstr>
      <vt:lpstr>Implementations </vt:lpstr>
      <vt:lpstr>PowerPoint Presentation</vt:lpstr>
      <vt:lpstr>Threads Model </vt:lpstr>
      <vt:lpstr>PowerPoint Presentation</vt:lpstr>
      <vt:lpstr>PowerPoint Presentation</vt:lpstr>
      <vt:lpstr>PowerPoint Presentation</vt:lpstr>
      <vt:lpstr>PowerPoint Presentation</vt:lpstr>
      <vt:lpstr>Data Parallel Model </vt:lpstr>
      <vt:lpstr>PowerPoint Presentation</vt:lpstr>
      <vt:lpstr>PowerPoint Presentation</vt:lpstr>
      <vt:lpstr>Hybrid Model </vt:lpstr>
      <vt:lpstr>PowerPoint Presentation</vt:lpstr>
      <vt:lpstr>PowerPoint Presentation</vt:lpstr>
      <vt:lpstr>Single Program Multiple Data (SPMD) </vt:lpstr>
      <vt:lpstr>PowerPoint Presentation</vt:lpstr>
      <vt:lpstr>Multiple Program Multiple Data (MPMD)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Programming Models </dc:title>
  <dc:creator>Anjaly Aneesh</dc:creator>
  <cp:lastModifiedBy>Anjaly Aneesh</cp:lastModifiedBy>
  <cp:revision>7</cp:revision>
  <dcterms:created xsi:type="dcterms:W3CDTF">2024-01-23T11:57:09Z</dcterms:created>
  <dcterms:modified xsi:type="dcterms:W3CDTF">2024-01-29T06:28:59Z</dcterms:modified>
</cp:coreProperties>
</file>