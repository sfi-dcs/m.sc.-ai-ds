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34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37.xml.rels" ContentType="application/vnd.openxmlformats-package.relationships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31.xml.rels" ContentType="application/vnd.openxmlformats-package.relationships+xml"/>
  <Override PartName="/ppt/slides/_rels/slide15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5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DBDDB7FD-1D33-4520-813A-6F00644B8FEC}" type="datetime">
              <a:rPr b="0" lang="en-IN" sz="1200" spc="-1" strike="noStrike">
                <a:solidFill>
                  <a:srgbClr val="8b8b8b"/>
                </a:solidFill>
                <a:latin typeface="Calibri"/>
              </a:rPr>
              <a:t>04/07/25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50405E4C-ED7C-46DA-BFBE-9C61982F6BA1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933EAB22-2C15-4E83-B4DF-940420B4F346}" type="datetime">
              <a:rPr b="0" lang="en-IN" sz="1200" spc="-1" strike="noStrike">
                <a:solidFill>
                  <a:srgbClr val="8b8b8b"/>
                </a:solidFill>
                <a:latin typeface="Calibri"/>
              </a:rPr>
              <a:t>04/07/25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34F96EB5-EFCA-438D-B028-97776B62DA6F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IN" sz="6000" spc="-1" strike="noStrike">
                <a:solidFill>
                  <a:srgbClr val="5d5d5d"/>
                </a:solidFill>
                <a:latin typeface="Open Sans"/>
              </a:rPr>
              <a:t>Communications</a:t>
            </a:r>
            <a:br/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502200" y="376560"/>
            <a:ext cx="10851480" cy="579996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000"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Who Needs Communications?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The need for communications between tasks depends upon your problem: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You DON'T need communications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Some types of problems can be decomposed and executed in parallel with virtually no need for tasks to share data. These types of problems are often called </a:t>
            </a:r>
            <a:r>
              <a:rPr b="1" i="1" lang="en-US" sz="2800" spc="-1" strike="noStrike">
                <a:solidFill>
                  <a:srgbClr val="212529"/>
                </a:solidFill>
                <a:latin typeface="Calibri"/>
              </a:rPr>
              <a:t>embarrassingly parallel</a:t>
            </a: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 - little or no communications are required.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For example, imagine an image processing operation where every pixel in a black and white image needs to have its color reversed.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The image data can easily be distributed to multiple tasks that then act independently of each other to do their portion of the work.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502200" y="376560"/>
            <a:ext cx="10851480" cy="579996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7000"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Who Needs Communications?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The need for communications between tasks depends upon your problem: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You DON'T need communications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Some types of problems can be decomposed and executed in parallel with virtually no need for tasks to share data. These types of problems are often called </a:t>
            </a:r>
            <a:r>
              <a:rPr b="1" i="1" lang="en-US" sz="2800" spc="-1" strike="noStrike">
                <a:solidFill>
                  <a:srgbClr val="212529"/>
                </a:solidFill>
                <a:latin typeface="Calibri"/>
              </a:rPr>
              <a:t>embarrassingly parallel</a:t>
            </a: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 - little or no communications are required.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For example, imagine an image processing operation where every pixel in a black and white image needs to have its color reversed.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 </a:t>
            </a: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The image data can easily be distributed to multiple tasks that then act independently of each other to do their portion of the work.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Content Placeholder 4" descr=""/>
          <p:cNvPicPr/>
          <p:nvPr/>
        </p:nvPicPr>
        <p:blipFill>
          <a:blip r:embed="rId1"/>
          <a:stretch/>
        </p:blipFill>
        <p:spPr>
          <a:xfrm>
            <a:off x="1290960" y="592200"/>
            <a:ext cx="5444640" cy="5047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Shape 1"/>
          <p:cNvSpPr txBox="1"/>
          <p:nvPr/>
        </p:nvSpPr>
        <p:spPr>
          <a:xfrm>
            <a:off x="322560" y="349560"/>
            <a:ext cx="11030760" cy="5826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800" spc="-1" strike="noStrike">
                <a:solidFill>
                  <a:srgbClr val="212529"/>
                </a:solidFill>
                <a:latin typeface="Calibri"/>
              </a:rPr>
              <a:t>You DO need communications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Most parallel applications are not quite so simple, and do require tasks to share data with each other.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For example, a 2-D heat diffusion problem requires a task to know the temperatures calculated by the tasks that have neighboring data. Changes to neighboring data has a direct effect on that task's data.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88" name="Picture 4" descr=""/>
          <p:cNvPicPr/>
          <p:nvPr/>
        </p:nvPicPr>
        <p:blipFill>
          <a:blip r:embed="rId1"/>
          <a:stretch/>
        </p:blipFill>
        <p:spPr>
          <a:xfrm>
            <a:off x="4042800" y="3087360"/>
            <a:ext cx="3452400" cy="3537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Shape 1"/>
          <p:cNvSpPr txBox="1"/>
          <p:nvPr/>
        </p:nvSpPr>
        <p:spPr>
          <a:xfrm>
            <a:off x="869400" y="654480"/>
            <a:ext cx="10622880" cy="545004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52000"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3000" spc="-1" strike="noStrike">
                <a:solidFill>
                  <a:srgbClr val="212529"/>
                </a:solidFill>
                <a:latin typeface="Calibri"/>
              </a:rPr>
              <a:t>Factors to Consider when designing your program's inter-task communications:</a:t>
            </a: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IN" sz="3000" spc="-1" strike="noStrike">
                <a:solidFill>
                  <a:srgbClr val="212529"/>
                </a:solidFill>
                <a:latin typeface="Calibri"/>
              </a:rPr>
              <a:t>Communication overhead</a:t>
            </a: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212529"/>
                </a:solidFill>
                <a:latin typeface="Calibri"/>
              </a:rPr>
              <a:t>Inter-task communication virtually always implies overhead.</a:t>
            </a: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212529"/>
                </a:solidFill>
                <a:latin typeface="Calibri"/>
              </a:rPr>
              <a:t>Machine cycles and resources that could be used for computation are instead used to package and transmit data.</a:t>
            </a: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212529"/>
                </a:solidFill>
                <a:latin typeface="Calibri"/>
              </a:rPr>
              <a:t>Communications frequently require some type of synchronization between tasks, which can result in tasks spending time "waiting" instead of doing work.</a:t>
            </a: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000" spc="-1" strike="noStrike">
                <a:solidFill>
                  <a:srgbClr val="212529"/>
                </a:solidFill>
                <a:latin typeface="Calibri"/>
              </a:rPr>
              <a:t>Competing communication traffic can saturate the available network bandwidth, further aggravating performance problems.</a:t>
            </a: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br/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528840" y="555840"/>
            <a:ext cx="10824480" cy="562968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800" spc="-1" strike="noStrike">
                <a:solidFill>
                  <a:srgbClr val="212529"/>
                </a:solidFill>
                <a:latin typeface="Open Sans"/>
              </a:rPr>
              <a:t>Latency vs. bandwidth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212529"/>
                </a:solidFill>
                <a:latin typeface="Calibri"/>
              </a:rPr>
              <a:t>Latency</a:t>
            </a: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 is the time it takes to send a minimal (0 byte) message from point A to point B. Commonly expressed as microseconds.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1" i="1" lang="en-US" sz="2800" spc="-1" strike="noStrike">
                <a:solidFill>
                  <a:srgbClr val="212529"/>
                </a:solidFill>
                <a:latin typeface="Calibri"/>
              </a:rPr>
              <a:t>Bandwidth</a:t>
            </a: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 is the amount of data that can be communicated per unit of time. Commonly expressed as megabytes/sec or gigabytes/sec.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Sending many small messages can cause latency to dominate communication overheads. Often it is more efficient to package small messages into a larger message, thus increasing the effective communications bandwidth.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Shape 1"/>
          <p:cNvSpPr txBox="1"/>
          <p:nvPr/>
        </p:nvSpPr>
        <p:spPr>
          <a:xfrm>
            <a:off x="528840" y="439200"/>
            <a:ext cx="10824480" cy="57373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800" spc="-1" strike="noStrike">
                <a:solidFill>
                  <a:srgbClr val="212529"/>
                </a:solidFill>
                <a:latin typeface="Open Sans"/>
              </a:rPr>
              <a:t>Visibility of communications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With the Message Passing Model, communications are explicit and generally quite visible and under the control of the programmer.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With the Data Parallel Model, communications often occur transparently to the programmer, particularly on distributed memory architectures.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The programmer may not even be able to know exactly how inter-task communications are being accomplished.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br/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5000"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212529"/>
                </a:solidFill>
                <a:latin typeface="Open Sans"/>
              </a:rPr>
              <a:t>Synchronous vs. asynchronous communications</a:t>
            </a:r>
            <a:br/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TextShape 2"/>
          <p:cNvSpPr txBox="1"/>
          <p:nvPr/>
        </p:nvSpPr>
        <p:spPr>
          <a:xfrm>
            <a:off x="717120" y="1407600"/>
            <a:ext cx="10636200" cy="476928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11000"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4400" spc="-1" strike="noStrike">
                <a:solidFill>
                  <a:srgbClr val="212529"/>
                </a:solidFill>
                <a:latin typeface="Calibri"/>
              </a:rPr>
              <a:t>Synchronous communications require some type of "handshaking" between tasks that are sharing data. This can be explicitly structured in code by the programmer, or it may happen at a lower level unknown to the programmer.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4400" spc="-1" strike="noStrike">
                <a:solidFill>
                  <a:srgbClr val="212529"/>
                </a:solidFill>
                <a:latin typeface="Calibri"/>
              </a:rPr>
              <a:t>Synchronous communications are often referred to as </a:t>
            </a:r>
            <a:r>
              <a:rPr b="1" i="1" lang="en-US" sz="4400" spc="-1" strike="noStrike">
                <a:solidFill>
                  <a:srgbClr val="212529"/>
                </a:solidFill>
                <a:latin typeface="Calibri"/>
              </a:rPr>
              <a:t>blocking</a:t>
            </a:r>
            <a:r>
              <a:rPr b="0" lang="en-US" sz="4400" spc="-1" strike="noStrike">
                <a:solidFill>
                  <a:srgbClr val="212529"/>
                </a:solidFill>
                <a:latin typeface="Calibri"/>
              </a:rPr>
              <a:t> communications since other work must wait until the communications have completed.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4400" spc="-1" strike="noStrike">
                <a:solidFill>
                  <a:srgbClr val="212529"/>
                </a:solidFill>
                <a:latin typeface="Calibri"/>
              </a:rPr>
              <a:t>Asynchronous communications allow tasks to transfer data independently from one another. For example, task 1 can prepare and send a message to task 2, and then immediately begin doing other work. When task 2 actually receives the data doesn't matter.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4400" spc="-1" strike="noStrike">
                <a:solidFill>
                  <a:srgbClr val="212529"/>
                </a:solidFill>
                <a:latin typeface="Calibri"/>
              </a:rPr>
              <a:t>Asynchronous communications are often referred to as </a:t>
            </a:r>
            <a:r>
              <a:rPr b="1" i="1" lang="en-US" sz="4400" spc="-1" strike="noStrike">
                <a:solidFill>
                  <a:srgbClr val="212529"/>
                </a:solidFill>
                <a:latin typeface="Calibri"/>
              </a:rPr>
              <a:t>non-blocking </a:t>
            </a:r>
            <a:r>
              <a:rPr b="0" lang="en-US" sz="4400" spc="-1" strike="noStrike">
                <a:solidFill>
                  <a:srgbClr val="212529"/>
                </a:solidFill>
                <a:latin typeface="Calibri"/>
              </a:rPr>
              <a:t>communications since other work can be done while the communications are taking place.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4400" spc="-1" strike="noStrike">
                <a:solidFill>
                  <a:srgbClr val="212529"/>
                </a:solidFill>
                <a:latin typeface="Calibri"/>
              </a:rPr>
              <a:t>Interleaving computation with communication is the single greatest benefit for using asynchronous communications.</a:t>
            </a:r>
            <a:br/>
            <a:r>
              <a:rPr b="0" lang="en-IN" sz="4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IN" sz="4400" spc="-1" strike="noStrike">
                <a:solidFill>
                  <a:srgbClr val="212529"/>
                </a:solidFill>
                <a:latin typeface="Open Sans"/>
              </a:rPr>
              <a:t>Scope of communications</a:t>
            </a:r>
            <a:br/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466200" y="1281960"/>
            <a:ext cx="11456640" cy="52887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Knowing which tasks must communicate with each other is critical during the design stage of a parallel code. Both of the two scoping described below can be implemented synchronously or asynchronously.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1" i="1" lang="en-US" sz="2800" spc="-1" strike="noStrike">
                <a:solidFill>
                  <a:srgbClr val="212529"/>
                </a:solidFill>
                <a:latin typeface="Calibri"/>
              </a:rPr>
              <a:t>Point-to-point</a:t>
            </a: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 - involves two tasks with one task acting as the sender/producer of data, and the other acting as the receiver/consumer.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1" i="1" lang="en-US" sz="2800" spc="-1" strike="noStrike">
                <a:solidFill>
                  <a:srgbClr val="212529"/>
                </a:solidFill>
                <a:latin typeface="Calibri"/>
              </a:rPr>
              <a:t>Collective</a:t>
            </a: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 - involves data sharing between more than two tasks, which are often specified as being members in a common group, or collective. Some common variations (there are more):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IN" sz="4400" spc="-1" strike="noStrike">
                <a:solidFill>
                  <a:srgbClr val="212529"/>
                </a:solidFill>
                <a:latin typeface="Open Sans"/>
              </a:rPr>
              <a:t>Scope of communications</a:t>
            </a:r>
            <a:br/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466200" y="1281960"/>
            <a:ext cx="11456640" cy="52887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Knowing which tasks must communicate with each other is critical during the design stage of a parallel code. Both of the two scoping described below can be implemented synchronously or asynchronously.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1" i="1" lang="en-US" sz="2800" spc="-1" strike="noStrike">
                <a:solidFill>
                  <a:srgbClr val="212529"/>
                </a:solidFill>
                <a:latin typeface="Calibri"/>
              </a:rPr>
              <a:t>Point-to-point</a:t>
            </a: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 - involves two tasks with one task acting as the sender/producer of data, and the other acting as the receiver/consumer.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1" i="1" lang="en-US" sz="2800" spc="-1" strike="noStrike">
                <a:solidFill>
                  <a:srgbClr val="212529"/>
                </a:solidFill>
                <a:latin typeface="Calibri"/>
              </a:rPr>
              <a:t>Collective</a:t>
            </a: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 - involves data sharing between more than two tasks, which are often specified as being members in a common group, or collective. Some common variations (there are more):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Content Placeholder 4" descr=""/>
          <p:cNvPicPr/>
          <p:nvPr/>
        </p:nvPicPr>
        <p:blipFill>
          <a:blip r:embed="rId1"/>
          <a:stretch/>
        </p:blipFill>
        <p:spPr>
          <a:xfrm>
            <a:off x="1701000" y="684000"/>
            <a:ext cx="8588160" cy="5113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212529"/>
                </a:solidFill>
                <a:latin typeface="Open Sans"/>
              </a:rPr>
              <a:t>Efficiency of communications</a:t>
            </a:r>
            <a:br/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TextShape 2"/>
          <p:cNvSpPr txBox="1"/>
          <p:nvPr/>
        </p:nvSpPr>
        <p:spPr>
          <a:xfrm>
            <a:off x="582840" y="1111680"/>
            <a:ext cx="11259360" cy="547704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9000"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Oftentimes, the programmer has choices that can affect communications performance. Only a few are mentioned here.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Which implementation for a given model should be used? Using the Message Passing Model as an example, one MPI implementation may be faster on a given hardware platform than another.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What type of communication operations should be used? As mentioned previously, asynchronous communication operations can improve overall program performance.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Network fabric—different platforms use different networks. Some networks perform better than others. Choosing a platform with a faster network may be an option.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IN" sz="4400" spc="-1" strike="noStrike">
                <a:solidFill>
                  <a:srgbClr val="212529"/>
                </a:solidFill>
                <a:latin typeface="Open Sans"/>
              </a:rPr>
              <a:t>Overhead and complexity</a:t>
            </a:r>
            <a:br/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2" name="Content Placeholder 4" descr=""/>
          <p:cNvPicPr/>
          <p:nvPr/>
        </p:nvPicPr>
        <p:blipFill>
          <a:blip r:embed="rId1"/>
          <a:stretch/>
        </p:blipFill>
        <p:spPr>
          <a:xfrm>
            <a:off x="2304720" y="1955160"/>
            <a:ext cx="7582320" cy="409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1"/>
          <p:cNvSpPr txBox="1"/>
          <p:nvPr/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5d5d5d"/>
                </a:solidFill>
                <a:latin typeface="Open Sans"/>
              </a:rPr>
              <a:t>Synchronization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TextShape 2"/>
          <p:cNvSpPr txBox="1"/>
          <p:nvPr/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5d5d5d"/>
                </a:solidFill>
                <a:latin typeface="Open Sans"/>
              </a:rPr>
              <a:t>Synchronization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Managing the sequence of work and the tasks performing it is a critical design consideration for most parallel programs.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Can be a significant factor in program performance (or lack of it)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Often requires "serialization" of segments of the program.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br/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IN" sz="4400" spc="-1" strike="noStrike">
                <a:solidFill>
                  <a:srgbClr val="212529"/>
                </a:solidFill>
                <a:latin typeface="Open Sans"/>
              </a:rPr>
              <a:t>Types of Synchronization</a:t>
            </a:r>
            <a:br/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TextShape 2"/>
          <p:cNvSpPr txBox="1"/>
          <p:nvPr/>
        </p:nvSpPr>
        <p:spPr>
          <a:xfrm>
            <a:off x="600480" y="1380600"/>
            <a:ext cx="10176480" cy="269856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31000"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4000" spc="-1" strike="noStrike">
                <a:solidFill>
                  <a:srgbClr val="212529"/>
                </a:solidFill>
                <a:latin typeface="Calibri"/>
              </a:rPr>
              <a:t>Barrier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1d35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1d35"/>
                </a:solidFill>
                <a:latin typeface="Google Sans"/>
              </a:rPr>
              <a:t>Barrier synchronization is </a:t>
            </a: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a technique used in computer programming to ensure that multiple threads reach a specific point of execution before continuing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Usually implies that all tasks are involved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Each task performs its work until it reaches the barrier. It then stops, or "blocks".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When the last task reaches the barrier, all tasks are synchronized.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What happens from here varies. Often, a serial section of work must be done. In other cases, the tasks are automatically released to continue their work.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9" name="Picture 4" descr=""/>
          <p:cNvPicPr/>
          <p:nvPr/>
        </p:nvPicPr>
        <p:blipFill>
          <a:blip r:embed="rId1"/>
          <a:stretch/>
        </p:blipFill>
        <p:spPr>
          <a:xfrm>
            <a:off x="906480" y="3983760"/>
            <a:ext cx="8964000" cy="281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Shape 1"/>
          <p:cNvSpPr txBox="1"/>
          <p:nvPr/>
        </p:nvSpPr>
        <p:spPr>
          <a:xfrm>
            <a:off x="515880" y="257760"/>
            <a:ext cx="10837800" cy="5918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4000" spc="-1" strike="noStrike">
                <a:solidFill>
                  <a:srgbClr val="212529"/>
                </a:solidFill>
                <a:latin typeface="Calibri"/>
              </a:rPr>
              <a:t>Lock / semaphore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Can involve any number of tasks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Typically used to serialize (protect) access to global data or a section of code. Only one task at a time may use (own) the lock / semaphore / flag.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The first task to acquire the lock "sets" it. This task can then safely (serially) access the protected data or code.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Other tasks can attempt to acquire the lock but must wait until the task that owns the lock releases it.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Can be blocking or non-blocking.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55000"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212529"/>
                </a:solidFill>
                <a:latin typeface="Open Sans"/>
              </a:rPr>
              <a:t>Synchronous communication operations</a:t>
            </a:r>
            <a:br/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Involves only those tasks executing a communication operation.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When a task performs a communication operation, some form of coordination is required with the other task(s) participating in the communication.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For example, before a task can perform a send operation, it must first receive an acknowledgment from the receiving task that it is OK to send.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br/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Shape 1"/>
          <p:cNvSpPr txBox="1"/>
          <p:nvPr/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IN" sz="6000" spc="-1" strike="noStrike">
                <a:solidFill>
                  <a:srgbClr val="5d5d5d"/>
                </a:solidFill>
                <a:latin typeface="Open Sans"/>
              </a:rPr>
              <a:t>Data Dependencies</a:t>
            </a:r>
            <a:br/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TextShape 2"/>
          <p:cNvSpPr txBox="1"/>
          <p:nvPr/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Shape 1"/>
          <p:cNvSpPr txBox="1"/>
          <p:nvPr/>
        </p:nvSpPr>
        <p:spPr>
          <a:xfrm>
            <a:off x="385560" y="365040"/>
            <a:ext cx="10968120" cy="575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23000"/>
          </a:bodyPr>
          <a:p>
            <a:pPr>
              <a:lnSpc>
                <a:spcPct val="90000"/>
              </a:lnSpc>
            </a:pPr>
            <a:r>
              <a:rPr b="0" lang="en-IN" sz="4400" spc="-1" strike="noStrike">
                <a:solidFill>
                  <a:srgbClr val="5d5d5d"/>
                </a:solidFill>
                <a:latin typeface="Open Sans"/>
              </a:rPr>
              <a:t>Data Dependencies</a:t>
            </a:r>
            <a:br/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TextShape 2"/>
          <p:cNvSpPr txBox="1"/>
          <p:nvPr/>
        </p:nvSpPr>
        <p:spPr>
          <a:xfrm>
            <a:off x="385560" y="779760"/>
            <a:ext cx="11465640" cy="60778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</a:rPr>
              <a:t>A </a:t>
            </a:r>
            <a:r>
              <a:rPr b="1" i="1" lang="en-US" sz="2400" spc="-1" strike="noStrike">
                <a:solidFill>
                  <a:srgbClr val="212529"/>
                </a:solidFill>
                <a:latin typeface="Calibri"/>
              </a:rPr>
              <a:t>dependence</a:t>
            </a:r>
            <a:r>
              <a:rPr b="0" lang="en-US" sz="2400" spc="-1" strike="noStrike">
                <a:solidFill>
                  <a:srgbClr val="212529"/>
                </a:solidFill>
                <a:latin typeface="Calibri"/>
              </a:rPr>
              <a:t> exists between program statements when the order of statement execution affects the results of the program.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</a:rPr>
              <a:t>A </a:t>
            </a:r>
            <a:r>
              <a:rPr b="1" i="1" lang="en-US" sz="2400" spc="-1" strike="noStrike">
                <a:solidFill>
                  <a:srgbClr val="212529"/>
                </a:solidFill>
                <a:latin typeface="Calibri"/>
              </a:rPr>
              <a:t>data dependence</a:t>
            </a:r>
            <a:r>
              <a:rPr b="0" lang="en-US" sz="2400" spc="-1" strike="noStrike">
                <a:solidFill>
                  <a:srgbClr val="212529"/>
                </a:solidFill>
                <a:latin typeface="Calibri"/>
              </a:rPr>
              <a:t> results from multiple use of the same location(s) in storage by different tasks.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</a:rPr>
              <a:t>Dependencies are important to parallel programming because they are one of the primary inhibitors to parallelism.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7" name="Picture 6" descr=""/>
          <p:cNvPicPr/>
          <p:nvPr/>
        </p:nvPicPr>
        <p:blipFill>
          <a:blip r:embed="rId1"/>
          <a:stretch/>
        </p:blipFill>
        <p:spPr>
          <a:xfrm>
            <a:off x="5889960" y="3105000"/>
            <a:ext cx="4939200" cy="3295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Shape 1"/>
          <p:cNvSpPr txBox="1"/>
          <p:nvPr/>
        </p:nvSpPr>
        <p:spPr>
          <a:xfrm>
            <a:off x="421200" y="430200"/>
            <a:ext cx="11402640" cy="62211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IN" sz="2800" spc="-1" strike="noStrike">
                <a:solidFill>
                  <a:srgbClr val="212529"/>
                </a:solidFill>
                <a:latin typeface="Open Sans"/>
              </a:rPr>
              <a:t>Examples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The value of A(J-1) must be computed before the value of A(J), therefore A(J) exhibits a data dependency on A(J-1). Parallelism is inhibited.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If Task 2 has A(J) and task 1 has A(J-1), computing the correct value of A(J) necessitates: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</a:rPr>
              <a:t>Distributed memory architecture - task 2 must obtain the value of A(J-1) from task 1 after task 1 finishes its computation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</a:rPr>
              <a:t>Shared memory architecture - task 2 must read A(J-1) after task 1 updates it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19" name="Picture 5" descr=""/>
          <p:cNvPicPr/>
          <p:nvPr/>
        </p:nvPicPr>
        <p:blipFill>
          <a:blip r:embed="rId1"/>
          <a:stretch/>
        </p:blipFill>
        <p:spPr>
          <a:xfrm>
            <a:off x="1391040" y="1217880"/>
            <a:ext cx="4901760" cy="1228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IN" sz="4400" spc="-1" strike="noStrike">
                <a:solidFill>
                  <a:srgbClr val="212529"/>
                </a:solidFill>
                <a:latin typeface="Open Sans"/>
              </a:rPr>
              <a:t>Loop independent data dependence</a:t>
            </a:r>
            <a:br/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TextShape 2"/>
          <p:cNvSpPr txBox="1"/>
          <p:nvPr/>
        </p:nvSpPr>
        <p:spPr>
          <a:xfrm>
            <a:off x="412200" y="1165320"/>
            <a:ext cx="11501280" cy="5327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As with the previous example, parallelism is inhibited. The value of Y is dependent on: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</a:rPr>
              <a:t>Distributed memory architecture - if or when the value of X is communicated between the tasks.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</a:rPr>
              <a:t>Shared memory architecture - which task last stores the value of X.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Although all data dependencies are important to identify when designing parallel programs, loop carried dependencies are particularly important since loops are possibly the most common target of parallelization efforts.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2" name="Picture 6" descr=""/>
          <p:cNvPicPr/>
          <p:nvPr/>
        </p:nvPicPr>
        <p:blipFill>
          <a:blip r:embed="rId1"/>
          <a:stretch/>
        </p:blipFill>
        <p:spPr>
          <a:xfrm>
            <a:off x="2563920" y="4473000"/>
            <a:ext cx="4143960" cy="192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212529"/>
                </a:solidFill>
                <a:latin typeface="Open Sans"/>
              </a:rPr>
              <a:t>How to Handle Data Dependencies</a:t>
            </a:r>
            <a:br/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Open Sans"/>
              </a:rPr>
              <a:t>Distributed memory architectures - communicate required data at synchronization points.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Open Sans"/>
              </a:rPr>
              <a:t>Shared memory architectures -synchronize read/write operations between tasks.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IN" sz="6000" spc="-1" strike="noStrike">
                <a:solidFill>
                  <a:srgbClr val="5d5d5d"/>
                </a:solidFill>
                <a:latin typeface="Open Sans"/>
              </a:rPr>
              <a:t>Load Balancing</a:t>
            </a:r>
            <a:br/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6" name="TextShape 2"/>
          <p:cNvSpPr txBox="1"/>
          <p:nvPr/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IN" sz="4400" spc="-1" strike="noStrike">
                <a:solidFill>
                  <a:srgbClr val="5d5d5d"/>
                </a:solidFill>
                <a:latin typeface="Open Sans"/>
              </a:rPr>
              <a:t>Load Balancing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TextShape 2"/>
          <p:cNvSpPr txBox="1"/>
          <p:nvPr/>
        </p:nvSpPr>
        <p:spPr>
          <a:xfrm>
            <a:off x="439200" y="1595880"/>
            <a:ext cx="11322000" cy="48967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</a:rPr>
              <a:t>Load balancing refers to the practice of distributing approximately equal amounts of work among tasks so that all tasks are kept busy all of the time.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</a:rPr>
              <a:t> </a:t>
            </a:r>
            <a:r>
              <a:rPr b="0" lang="en-US" sz="2400" spc="-1" strike="noStrike">
                <a:solidFill>
                  <a:srgbClr val="212529"/>
                </a:solidFill>
                <a:latin typeface="Calibri"/>
              </a:rPr>
              <a:t>It can be considered a minimization of task idle time.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</a:rPr>
              <a:t>Load balancing is important to parallel programs for performance reasons. 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</a:rPr>
              <a:t>For example, if all tasks are subject to a barrier synchronization point, the slowest task will determine the overall performance.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29" name="Picture 4" descr=""/>
          <p:cNvPicPr/>
          <p:nvPr/>
        </p:nvPicPr>
        <p:blipFill>
          <a:blip r:embed="rId1"/>
          <a:stretch/>
        </p:blipFill>
        <p:spPr>
          <a:xfrm>
            <a:off x="1013040" y="4643640"/>
            <a:ext cx="10138680" cy="174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212529"/>
                </a:solidFill>
                <a:latin typeface="Open Sans"/>
              </a:rPr>
              <a:t>How to Achieve Load Balance</a:t>
            </a:r>
            <a:br/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1" name="TextShape 2"/>
          <p:cNvSpPr txBox="1"/>
          <p:nvPr/>
        </p:nvSpPr>
        <p:spPr>
          <a:xfrm>
            <a:off x="537840" y="1434240"/>
            <a:ext cx="10815480" cy="416808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7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Equally partition the work each task receives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For array/matrix operations where each task performs similar work, evenly distribute the data set among the tasks.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For loop iterations where the work done in each iteration is similar, evenly distribute the iterations across the tasks.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If a heterogeneous mix of machines with varying performance characteristics are being used, be sure to use some type of performance analysis tool to detect any load imbalances. Adjust work accordingly.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Shape 1"/>
          <p:cNvSpPr txBox="1"/>
          <p:nvPr/>
        </p:nvSpPr>
        <p:spPr>
          <a:xfrm>
            <a:off x="466200" y="367560"/>
            <a:ext cx="11358000" cy="61405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IN" sz="2800" spc="-1" strike="noStrike">
                <a:solidFill>
                  <a:srgbClr val="212529"/>
                </a:solidFill>
                <a:latin typeface="Calibri"/>
              </a:rPr>
              <a:t>Use dynamic work assignment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Certain classes of problems result in load imbalances even if data is evenly distributed among tasks: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When the amount of work each task will perform is intentionally variable, or is unable to be predicted, it may be helpful to use a </a:t>
            </a:r>
            <a:r>
              <a:rPr b="1" i="1" lang="en-US" sz="2800" spc="-1" strike="noStrike">
                <a:solidFill>
                  <a:srgbClr val="212529"/>
                </a:solidFill>
                <a:latin typeface="Calibri"/>
              </a:rPr>
              <a:t>scheduler-task pool </a:t>
            </a: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approach. As each task finishes its work, it receives a new piece from the work queue.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3" name="Picture 10" descr=""/>
          <p:cNvPicPr/>
          <p:nvPr/>
        </p:nvPicPr>
        <p:blipFill>
          <a:blip r:embed="rId1"/>
          <a:stretch/>
        </p:blipFill>
        <p:spPr>
          <a:xfrm>
            <a:off x="690120" y="3429000"/>
            <a:ext cx="10371960" cy="327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Shape 1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Ultimately, it may become necessary to design an algorithm which detects and handles load imbalances as they occur dynamically within the code.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5" name="Picture 8" descr=""/>
          <p:cNvPicPr/>
          <p:nvPr/>
        </p:nvPicPr>
        <p:blipFill>
          <a:blip r:embed="rId1"/>
          <a:stretch/>
        </p:blipFill>
        <p:spPr>
          <a:xfrm>
            <a:off x="2161800" y="3283200"/>
            <a:ext cx="7993800" cy="312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838080" y="365040"/>
            <a:ext cx="10515240" cy="53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1000"/>
          </a:bodyPr>
          <a:p>
            <a:pPr algn="ctr">
              <a:lnSpc>
                <a:spcPct val="90000"/>
              </a:lnSpc>
            </a:pPr>
            <a:br/>
            <a:r>
              <a:rPr b="0" lang="en-IN" sz="4400" spc="-1" strike="noStrike">
                <a:solidFill>
                  <a:srgbClr val="5d5d5d"/>
                </a:solidFill>
                <a:latin typeface="Open Sans"/>
              </a:rPr>
              <a:t>Granularity</a:t>
            </a:r>
            <a:br/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TextShape 2"/>
          <p:cNvSpPr txBox="1"/>
          <p:nvPr/>
        </p:nvSpPr>
        <p:spPr>
          <a:xfrm>
            <a:off x="403560" y="1156320"/>
            <a:ext cx="11483280" cy="549504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800" spc="-1" strike="noStrike">
                <a:solidFill>
                  <a:srgbClr val="212529"/>
                </a:solidFill>
                <a:latin typeface="Calibri"/>
              </a:rPr>
              <a:t>Computation / Communication Ratio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In parallel computing, granularity is a qualitative measure of the ratio of computation to communication.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Periods of computation are typically separated from periods of communication by synchronization events.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IN" sz="3000" spc="-1" strike="noStrike">
                <a:solidFill>
                  <a:srgbClr val="212529"/>
                </a:solidFill>
                <a:latin typeface="Calibri"/>
              </a:rPr>
              <a:t>Fine-grain Parallelism</a:t>
            </a: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38" name="Picture 5" descr=""/>
          <p:cNvPicPr/>
          <p:nvPr/>
        </p:nvPicPr>
        <p:blipFill>
          <a:blip r:embed="rId1"/>
          <a:stretch/>
        </p:blipFill>
        <p:spPr>
          <a:xfrm>
            <a:off x="2913480" y="4089600"/>
            <a:ext cx="7539120" cy="240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582840" y="367560"/>
            <a:ext cx="10770840" cy="5808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Relatively small amounts of computational work are done between communication events.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Low computation to communication ratio.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Facilitates load balancing.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Implies high communication overhead and less opportunity for performance enhancement.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If granularity is too fine it is possible that the overhead required for communications and synchronization between tasks takes longer than the computation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Shape 1"/>
          <p:cNvSpPr txBox="1"/>
          <p:nvPr/>
        </p:nvSpPr>
        <p:spPr>
          <a:xfrm>
            <a:off x="555840" y="412200"/>
            <a:ext cx="11124720" cy="60598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IN" sz="2800" spc="-1" strike="noStrike">
                <a:solidFill>
                  <a:srgbClr val="212529"/>
                </a:solidFill>
                <a:latin typeface="Calibri"/>
              </a:rPr>
              <a:t>Coarse-grain Parallelism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Relatively large amounts of computational work are done between communication/synchronization events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High computation to communication ratio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Implies more opportunity for performance increase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Harder to load balance efficiently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41" name="Picture 4" descr=""/>
          <p:cNvPicPr/>
          <p:nvPr/>
        </p:nvPicPr>
        <p:blipFill>
          <a:blip r:embed="rId1"/>
          <a:stretch/>
        </p:blipFill>
        <p:spPr>
          <a:xfrm>
            <a:off x="7139520" y="3149640"/>
            <a:ext cx="4164480" cy="349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838080" y="365040"/>
            <a:ext cx="10515240" cy="52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11000"/>
          </a:bodyPr>
          <a:p>
            <a:pPr>
              <a:lnSpc>
                <a:spcPct val="90000"/>
              </a:lnSpc>
            </a:pPr>
            <a:br/>
            <a:r>
              <a:rPr b="0" lang="en-IN" sz="4400" spc="-1" strike="noStrike">
                <a:solidFill>
                  <a:srgbClr val="212529"/>
                </a:solidFill>
                <a:latin typeface="Open Sans"/>
              </a:rPr>
              <a:t>Which is Best?</a:t>
            </a:r>
            <a:br/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TextShape 2"/>
          <p:cNvSpPr txBox="1"/>
          <p:nvPr/>
        </p:nvSpPr>
        <p:spPr>
          <a:xfrm>
            <a:off x="1031040" y="959400"/>
            <a:ext cx="10322640" cy="52174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The most efficient granularity is dependent on the algorithm and the hardware environment in which it runs.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In most cases the overhead associated with communications and synchronization is high relative to execution speed so it is advantageous to have coarse granularity.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Fine-grain parallelism can help reduce overheads due to load imbalance.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Shape 1"/>
          <p:cNvSpPr txBox="1"/>
          <p:nvPr/>
        </p:nvSpPr>
        <p:spPr>
          <a:xfrm>
            <a:off x="838080" y="365040"/>
            <a:ext cx="9892080" cy="701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</a:pPr>
            <a:r>
              <a:rPr b="0" lang="en-IN" sz="4400" spc="-1" strike="noStrike">
                <a:solidFill>
                  <a:srgbClr val="000000"/>
                </a:solidFill>
                <a:latin typeface="Calibri Light"/>
              </a:rPr>
              <a:t>I/O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TextShape 2"/>
          <p:cNvSpPr txBox="1"/>
          <p:nvPr/>
        </p:nvSpPr>
        <p:spPr>
          <a:xfrm>
            <a:off x="708120" y="1443240"/>
            <a:ext cx="10645200" cy="473328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0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I/O operations are generally regarded as inhibitors to parallelism.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I/O operations require orders of magnitude more time than memory operations.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Parallel I/O systems may be immature or not available for all platforms.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In an environment where all tasks see the same file space, write operations can result in file overwriting.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Read operations can be affected by the file server's ability to handle multiple read requests at the same time.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I/O that must be conducted over the network (NFS, non-local) can cause severe bottlenecks and even crash file servers.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Content Placeholder 4" descr=""/>
          <p:cNvPicPr/>
          <p:nvPr/>
        </p:nvPicPr>
        <p:blipFill>
          <a:blip r:embed="rId1"/>
          <a:stretch/>
        </p:blipFill>
        <p:spPr>
          <a:xfrm>
            <a:off x="1242720" y="1148760"/>
            <a:ext cx="8717040" cy="4346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Shape 1"/>
          <p:cNvSpPr txBox="1"/>
          <p:nvPr/>
        </p:nvSpPr>
        <p:spPr>
          <a:xfrm>
            <a:off x="403560" y="510840"/>
            <a:ext cx="10950120" cy="566568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IN" sz="2800" spc="-1" strike="noStrike">
                <a:solidFill>
                  <a:srgbClr val="212529"/>
                </a:solidFill>
                <a:latin typeface="Open Sans"/>
              </a:rPr>
              <a:t>Parallel file systems are available</a:t>
            </a:r>
            <a:r>
              <a:rPr b="0" lang="en-IN" sz="2800" spc="-1" strike="noStrike">
                <a:solidFill>
                  <a:srgbClr val="212529"/>
                </a:solidFill>
                <a:latin typeface="Open Sans"/>
              </a:rPr>
              <a:t>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IN" sz="2800" spc="-1" strike="noStrike">
                <a:solidFill>
                  <a:srgbClr val="212529"/>
                </a:solidFill>
                <a:latin typeface="Open Sans"/>
              </a:rPr>
              <a:t> </a:t>
            </a:r>
            <a:r>
              <a:rPr b="0" lang="en-IN" sz="2800" spc="-1" strike="noStrike">
                <a:solidFill>
                  <a:srgbClr val="212529"/>
                </a:solidFill>
                <a:latin typeface="Calibri"/>
              </a:rPr>
              <a:t>For example: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800" spc="-1" strike="noStrike">
                <a:solidFill>
                  <a:srgbClr val="212529"/>
                </a:solidFill>
                <a:latin typeface="Calibri"/>
              </a:rPr>
              <a:t>GPFS: General Parallel File System (IBM). Now called IBM Spectrum Scale.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800" spc="-1" strike="noStrike">
                <a:solidFill>
                  <a:srgbClr val="212529"/>
                </a:solidFill>
                <a:latin typeface="Calibri"/>
              </a:rPr>
              <a:t>Lustre: for Linux clusters (Intel)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800" spc="-1" strike="noStrike">
                <a:solidFill>
                  <a:srgbClr val="212529"/>
                </a:solidFill>
                <a:latin typeface="Calibri"/>
              </a:rPr>
              <a:t>HDFS: Hadoop Distributed File System (Apache)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800" spc="-1" strike="noStrike">
                <a:solidFill>
                  <a:srgbClr val="212529"/>
                </a:solidFill>
                <a:latin typeface="Calibri"/>
              </a:rPr>
              <a:t>PanFS: Panasas ActiveScale File System for Linux clusters (Panasas, Inc.)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IN" sz="4400" spc="-1" strike="noStrike">
                <a:solidFill>
                  <a:srgbClr val="5d5d5d"/>
                </a:solidFill>
                <a:latin typeface="Open Sans"/>
              </a:rPr>
              <a:t>Debugging</a:t>
            </a:r>
            <a:br/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TextShape 2"/>
          <p:cNvSpPr txBox="1"/>
          <p:nvPr/>
        </p:nvSpPr>
        <p:spPr>
          <a:xfrm>
            <a:off x="654480" y="1111680"/>
            <a:ext cx="10698840" cy="506484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7000"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  <a:ea typeface="Open Sans"/>
              </a:rPr>
              <a:t>Debugging parallel codes can be incredibly difficult, particularly as codes scale upwards.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  <a:ea typeface="Open Sans"/>
              </a:rPr>
              <a:t>The good news is that there are some excellent debuggers available to assist: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  <a:ea typeface="Open Sans"/>
              </a:rPr>
              <a:t>Threaded - pthreads and OpenMP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  <a:ea typeface="Open Sans"/>
              </a:rPr>
              <a:t>MPI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  <a:ea typeface="Open Sans"/>
              </a:rPr>
              <a:t>GPU / accelerator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  <a:ea typeface="Open Sans"/>
              </a:rPr>
              <a:t>Hybrid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  <a:ea typeface="Open Sans"/>
              </a:rPr>
              <a:t>Livermore Computing users have access to several parallel debugging tools installed on LC's clusters: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  <a:ea typeface="Open Sans"/>
              </a:rPr>
              <a:t>TotalView from RogueWave Software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  <a:ea typeface="Open Sans"/>
              </a:rPr>
              <a:t>DDT from Allinea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  <a:ea typeface="Open Sans"/>
              </a:rPr>
              <a:t>Inspector from Intel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212529"/>
                </a:solidFill>
                <a:latin typeface="Calibri"/>
                <a:ea typeface="Open Sans"/>
              </a:rPr>
              <a:t>Stack Trace Analysis Tool (STAT) - locally developed at LLNL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  <a:ea typeface="Open Sans"/>
              </a:rPr>
              <a:t>All of these tools have a learning curve associated with them.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Content Placeholder 4" descr=""/>
          <p:cNvPicPr/>
          <p:nvPr/>
        </p:nvPicPr>
        <p:blipFill>
          <a:blip r:embed="rId1"/>
          <a:stretch/>
        </p:blipFill>
        <p:spPr>
          <a:xfrm>
            <a:off x="493200" y="1376640"/>
            <a:ext cx="9681480" cy="463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IN" sz="4400" spc="-1" strike="noStrike">
                <a:solidFill>
                  <a:srgbClr val="5d5d5d"/>
                </a:solidFill>
                <a:latin typeface="Open Sans"/>
              </a:rPr>
              <a:t>Performance Analysis and Tuning</a:t>
            </a:r>
            <a:br/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2" name="TextShape 2"/>
          <p:cNvSpPr txBox="1"/>
          <p:nvPr/>
        </p:nvSpPr>
        <p:spPr>
          <a:xfrm>
            <a:off x="771120" y="1210320"/>
            <a:ext cx="10582560" cy="4966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As with debugging, analyzing and tuning parallel program performance can be much more challenging than for serial programs.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Fortunately, there are a number of excellent tools for parallel program performance analysis and tuning.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</a:rPr>
              <a:t>Livermore Computing users have access to several such tools, most of which are available on all production clusters.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Shape 1"/>
          <p:cNvSpPr txBox="1"/>
          <p:nvPr/>
        </p:nvSpPr>
        <p:spPr>
          <a:xfrm>
            <a:off x="582840" y="365040"/>
            <a:ext cx="10770840" cy="683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2000"/>
          </a:bodyPr>
          <a:p>
            <a:pPr>
              <a:lnSpc>
                <a:spcPct val="90000"/>
              </a:lnSpc>
            </a:pPr>
            <a:r>
              <a:rPr b="0" lang="en-IN" sz="4400" spc="-1" strike="noStrike">
                <a:solidFill>
                  <a:srgbClr val="212529"/>
                </a:solidFill>
                <a:latin typeface="Open Sans"/>
              </a:rPr>
              <a:t>Parallel Examples</a:t>
            </a:r>
            <a:br/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TextShape 2"/>
          <p:cNvSpPr txBox="1"/>
          <p:nvPr/>
        </p:nvSpPr>
        <p:spPr>
          <a:xfrm>
            <a:off x="582840" y="1138680"/>
            <a:ext cx="10770840" cy="50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  <a:ea typeface="Open Sans"/>
              </a:rPr>
              <a:t>This example demonstrates calculations on 2-dimensional array elements; a function is evaluated on each array element.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  <a:ea typeface="Open Sans"/>
              </a:rPr>
              <a:t>The computation on each array element is independent from other array elements.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  <a:ea typeface="Open Sans"/>
              </a:rPr>
              <a:t>The problem is computationally intensive.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  <a:ea typeface="Open Sans"/>
              </a:rPr>
              <a:t>The serial program calculates one element at a time in sequential order.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212529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212529"/>
                </a:solidFill>
                <a:latin typeface="Calibri"/>
                <a:ea typeface="Open Sans"/>
              </a:rPr>
              <a:t>Serial code could be of the form: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Shape 1"/>
          <p:cNvSpPr txBox="1"/>
          <p:nvPr/>
        </p:nvSpPr>
        <p:spPr>
          <a:xfrm>
            <a:off x="510840" y="484200"/>
            <a:ext cx="10842480" cy="61135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1349</TotalTime>
  <Application>LibreOffice/7.0.4.2$Linux_X86_64 LibreOffice_project/00$Build-2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2024-01-24T09:54:21Z</dcterms:created>
  <dc:creator>Anjaly Aneesh</dc:creator>
  <dc:description/>
  <dc:language>en-US</dc:language>
  <cp:lastModifiedBy/>
  <dcterms:modified xsi:type="dcterms:W3CDTF">2025-07-04T19:28:10Z</dcterms:modified>
  <cp:revision>12</cp:revision>
  <dc:subject/>
  <dc:title>Communications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r8>41</vt:r8>
  </property>
</Properties>
</file>