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11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02C57-B8C6-ADCE-5E19-3F69494185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8B3940-1177-8D0E-4905-BE50FEAF30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F387095-F26D-9392-23F4-E3EB28C619FA}"/>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5" name="Footer Placeholder 4">
            <a:extLst>
              <a:ext uri="{FF2B5EF4-FFF2-40B4-BE49-F238E27FC236}">
                <a16:creationId xmlns:a16="http://schemas.microsoft.com/office/drawing/2014/main" id="{05AEE364-4A2B-4DDD-094D-8FC1DE55E9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5EC218-90AC-16EA-A191-F76FFD9A91A6}"/>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2974653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833F4-E50C-E70C-9046-E810CDEB28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82E4F9-1E1E-8F33-DD40-22727A9A76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EBE693-1E2A-EC86-54AA-CCC4FB036E0D}"/>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5" name="Footer Placeholder 4">
            <a:extLst>
              <a:ext uri="{FF2B5EF4-FFF2-40B4-BE49-F238E27FC236}">
                <a16:creationId xmlns:a16="http://schemas.microsoft.com/office/drawing/2014/main" id="{D94CA735-C2A9-362D-66B3-022681600A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C32FEA-DFD6-3799-7824-D36614F42CDA}"/>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2193987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3BC74-1DCE-73BC-0C9F-1C6D88B4CC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A925DC-C9A2-DC2C-91E3-A2A6217217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E30815-DE18-C4E6-FB8C-538B818B59AB}"/>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5" name="Footer Placeholder 4">
            <a:extLst>
              <a:ext uri="{FF2B5EF4-FFF2-40B4-BE49-F238E27FC236}">
                <a16:creationId xmlns:a16="http://schemas.microsoft.com/office/drawing/2014/main" id="{29116349-43E6-D175-9EF3-05FEC96E91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7CE039-9641-7DD5-C9FB-22D6FA164103}"/>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3154886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03E9-E5C0-D280-BD82-B3151080D0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1113F7-F674-C526-C8DF-54F040B939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C1FDB9F-BCAC-A7D2-2E9A-496BAE6AA6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4DB8A9F-0265-A6E3-9D47-C4C19B6DFE8B}"/>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6" name="Footer Placeholder 5">
            <a:extLst>
              <a:ext uri="{FF2B5EF4-FFF2-40B4-BE49-F238E27FC236}">
                <a16:creationId xmlns:a16="http://schemas.microsoft.com/office/drawing/2014/main" id="{010EF302-2794-E821-8B3D-EDC37F7188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1B17EB-7178-A40A-BE48-D6A502C95456}"/>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27779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522E3-5DE7-0090-649E-8ADEF2C5B9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C8D127-739B-3A41-2627-90254375B0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5AC1B5-F406-1B16-75C8-CE11F4CA82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123A68-1D78-20E2-8B7C-4D0B0C7152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973720-0A22-C957-4888-C6883AFD65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38E2057-C72F-EAC9-5786-FF12A8D7A7B5}"/>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8" name="Footer Placeholder 7">
            <a:extLst>
              <a:ext uri="{FF2B5EF4-FFF2-40B4-BE49-F238E27FC236}">
                <a16:creationId xmlns:a16="http://schemas.microsoft.com/office/drawing/2014/main" id="{5DB51CD7-F97B-C832-5C9F-CCD1811DC3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A7D37F-1756-290B-A868-20B257A243A3}"/>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3347504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87F2E-45D6-526E-5BC6-C94D5F3209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878ABE-7FEE-AB70-E30B-5DF46F91E226}"/>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4" name="Footer Placeholder 3">
            <a:extLst>
              <a:ext uri="{FF2B5EF4-FFF2-40B4-BE49-F238E27FC236}">
                <a16:creationId xmlns:a16="http://schemas.microsoft.com/office/drawing/2014/main" id="{0C7016F1-CD3A-7C19-0EB3-02C85B5A90E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0F3634C-5E57-45ED-DB4B-E74A063584F4}"/>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163149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215A73-682B-CDE5-C800-4A480606264B}"/>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3" name="Footer Placeholder 2">
            <a:extLst>
              <a:ext uri="{FF2B5EF4-FFF2-40B4-BE49-F238E27FC236}">
                <a16:creationId xmlns:a16="http://schemas.microsoft.com/office/drawing/2014/main" id="{6AEC9A8C-09AC-12EE-21B3-5018D069C3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15AC5A-D8B3-BE8A-07D5-51C784F93AB3}"/>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1298691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F2302-4D1A-725B-26E5-DD55463A6A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EA5DFA2-C5DD-C76B-A24A-F6534EF22B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7F57898-A0ED-82B8-D53A-3CD07C0F92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07BD77-CFB3-FF26-EE6B-6E3F633C76DE}"/>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6" name="Footer Placeholder 5">
            <a:extLst>
              <a:ext uri="{FF2B5EF4-FFF2-40B4-BE49-F238E27FC236}">
                <a16:creationId xmlns:a16="http://schemas.microsoft.com/office/drawing/2014/main" id="{EDD6BB45-10CF-CB94-096E-9DFE4E74B8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ABD025-1E9E-87B4-4623-8429DF972721}"/>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3584583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300C2-B45E-F386-A8C3-AC20726425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DED31E-E8A1-BE97-B369-F4F757086D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4DEB805-4C84-D31F-24D8-9CCCB3967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53011-EB9F-8661-DD85-F10E2B68021D}"/>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6" name="Footer Placeholder 5">
            <a:extLst>
              <a:ext uri="{FF2B5EF4-FFF2-40B4-BE49-F238E27FC236}">
                <a16:creationId xmlns:a16="http://schemas.microsoft.com/office/drawing/2014/main" id="{38E0062A-E532-3763-333D-43B6C9796C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2A9B67-D08B-AC58-8A38-11AA3BCA9437}"/>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1112772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C34D3-4576-727D-DBA1-0C175CA8C36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33D74A-4B2B-9890-EDE7-C9AE5CFA12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2C2598-B1B9-69E4-0635-33675BA6E024}"/>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5" name="Footer Placeholder 4">
            <a:extLst>
              <a:ext uri="{FF2B5EF4-FFF2-40B4-BE49-F238E27FC236}">
                <a16:creationId xmlns:a16="http://schemas.microsoft.com/office/drawing/2014/main" id="{2F2904FC-A6C0-BB0A-595E-BEA38DCD14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9A2E2D-5992-88DA-D350-3C6D86A2F854}"/>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280302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CE631F-7497-E89F-BECE-9AA91A1308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9DAF9A-6988-24D0-29EF-1C89A23F1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12DE2D-3BFC-FB61-C697-3258801EE16C}"/>
              </a:ext>
            </a:extLst>
          </p:cNvPr>
          <p:cNvSpPr>
            <a:spLocks noGrp="1"/>
          </p:cNvSpPr>
          <p:nvPr>
            <p:ph type="dt" sz="half" idx="10"/>
          </p:nvPr>
        </p:nvSpPr>
        <p:spPr/>
        <p:txBody>
          <a:bodyPr/>
          <a:lstStyle/>
          <a:p>
            <a:fld id="{F65C5542-F45D-45FE-B2AE-BF558C93F4A8}" type="datetimeFigureOut">
              <a:rPr lang="en-IN" smtClean="0"/>
              <a:t>22-02-2024</a:t>
            </a:fld>
            <a:endParaRPr lang="en-IN"/>
          </a:p>
        </p:txBody>
      </p:sp>
      <p:sp>
        <p:nvSpPr>
          <p:cNvPr id="5" name="Footer Placeholder 4">
            <a:extLst>
              <a:ext uri="{FF2B5EF4-FFF2-40B4-BE49-F238E27FC236}">
                <a16:creationId xmlns:a16="http://schemas.microsoft.com/office/drawing/2014/main" id="{7D9D8594-F055-544C-5126-C6A6D1468B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5E7F4B-9612-F413-9B1A-D8A26F82D763}"/>
              </a:ext>
            </a:extLst>
          </p:cNvPr>
          <p:cNvSpPr>
            <a:spLocks noGrp="1"/>
          </p:cNvSpPr>
          <p:nvPr>
            <p:ph type="sldNum" sz="quarter" idx="12"/>
          </p:nvPr>
        </p:nvSpPr>
        <p:spPr/>
        <p:txBody>
          <a:bodyPr/>
          <a:lstStyle/>
          <a:p>
            <a:fld id="{7B3D4B85-F85E-4EEB-96F7-8C25C63091BA}" type="slidenum">
              <a:rPr lang="en-IN" smtClean="0"/>
              <a:t>‹#›</a:t>
            </a:fld>
            <a:endParaRPr lang="en-IN"/>
          </a:p>
        </p:txBody>
      </p:sp>
    </p:spTree>
    <p:extLst>
      <p:ext uri="{BB962C8B-B14F-4D97-AF65-F5344CB8AC3E}">
        <p14:creationId xmlns:p14="http://schemas.microsoft.com/office/powerpoint/2010/main" val="986036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FD3D59-3DDE-0384-64AE-12F0292CC5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5FE954-CFC3-337C-440F-3A3D57FD68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B9884E-BDB4-678F-38EA-456B99501F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5C5542-F45D-45FE-B2AE-BF558C93F4A8}" type="datetimeFigureOut">
              <a:rPr lang="en-IN" smtClean="0"/>
              <a:t>22-02-2024</a:t>
            </a:fld>
            <a:endParaRPr lang="en-IN"/>
          </a:p>
        </p:txBody>
      </p:sp>
      <p:sp>
        <p:nvSpPr>
          <p:cNvPr id="5" name="Footer Placeholder 4">
            <a:extLst>
              <a:ext uri="{FF2B5EF4-FFF2-40B4-BE49-F238E27FC236}">
                <a16:creationId xmlns:a16="http://schemas.microsoft.com/office/drawing/2014/main" id="{BC1C44DC-37F6-E9C3-C898-D5BA95F524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036A888-507F-31BA-BD90-120B0BC18C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3D4B85-F85E-4EEB-96F7-8C25C63091BA}" type="slidenum">
              <a:rPr lang="en-IN" smtClean="0"/>
              <a:t>‹#›</a:t>
            </a:fld>
            <a:endParaRPr lang="en-IN"/>
          </a:p>
        </p:txBody>
      </p:sp>
    </p:spTree>
    <p:extLst>
      <p:ext uri="{BB962C8B-B14F-4D97-AF65-F5344CB8AC3E}">
        <p14:creationId xmlns:p14="http://schemas.microsoft.com/office/powerpoint/2010/main" val="4020358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03469-1426-5ECE-5304-6617BD5073EE}"/>
              </a:ext>
            </a:extLst>
          </p:cNvPr>
          <p:cNvSpPr>
            <a:spLocks noGrp="1"/>
          </p:cNvSpPr>
          <p:nvPr>
            <p:ph type="ctrTitle"/>
          </p:nvPr>
        </p:nvSpPr>
        <p:spPr/>
        <p:txBody>
          <a:bodyPr/>
          <a:lstStyle/>
          <a:p>
            <a:r>
              <a:rPr lang="en-IN" b="1" i="0" dirty="0">
                <a:solidFill>
                  <a:srgbClr val="000000"/>
                </a:solidFill>
                <a:effectLst/>
                <a:latin typeface="Arial" panose="020B0604020202020204" pitchFamily="34" charset="0"/>
              </a:rPr>
              <a:t>Parallel Computer Memory Architectures</a:t>
            </a:r>
            <a:endParaRPr lang="en-IN" dirty="0"/>
          </a:p>
        </p:txBody>
      </p:sp>
      <p:sp>
        <p:nvSpPr>
          <p:cNvPr id="3" name="Subtitle 2">
            <a:extLst>
              <a:ext uri="{FF2B5EF4-FFF2-40B4-BE49-F238E27FC236}">
                <a16:creationId xmlns:a16="http://schemas.microsoft.com/office/drawing/2014/main" id="{1F4EFE36-5FEE-C8F5-DD87-BDCC1F1DA06A}"/>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22471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CF97-3907-698F-227F-E05D2E713EBB}"/>
              </a:ext>
            </a:extLst>
          </p:cNvPr>
          <p:cNvSpPr>
            <a:spLocks noGrp="1"/>
          </p:cNvSpPr>
          <p:nvPr>
            <p:ph type="title"/>
          </p:nvPr>
        </p:nvSpPr>
        <p:spPr/>
        <p:txBody>
          <a:bodyPr/>
          <a:lstStyle/>
          <a:p>
            <a:r>
              <a:rPr lang="en-IN" b="1" i="0" dirty="0">
                <a:solidFill>
                  <a:srgbClr val="000000"/>
                </a:solidFill>
                <a:effectLst/>
                <a:latin typeface="Arial" panose="020B0604020202020204" pitchFamily="34" charset="0"/>
              </a:rPr>
              <a:t>Shared Memory</a:t>
            </a:r>
            <a:br>
              <a:rPr lang="en-IN" b="1" i="0" dirty="0">
                <a:solidFill>
                  <a:srgbClr val="000000"/>
                </a:solidFill>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E4446735-1114-F6B9-E8DD-AAD09CD51449}"/>
              </a:ext>
            </a:extLst>
          </p:cNvPr>
          <p:cNvSpPr>
            <a:spLocks noGrp="1"/>
          </p:cNvSpPr>
          <p:nvPr>
            <p:ph idx="1"/>
          </p:nvPr>
        </p:nvSpPr>
        <p:spPr>
          <a:xfrm>
            <a:off x="838200" y="1825624"/>
            <a:ext cx="11129682" cy="4879975"/>
          </a:xfrm>
        </p:spPr>
        <p:txBody>
          <a:bodyPr/>
          <a:lstStyle/>
          <a:p>
            <a:r>
              <a:rPr lang="en-IN" b="1" i="0" dirty="0">
                <a:solidFill>
                  <a:srgbClr val="000000"/>
                </a:solidFill>
                <a:effectLst/>
                <a:latin typeface="Arial" panose="020B0604020202020204" pitchFamily="34" charset="0"/>
              </a:rPr>
              <a:t>General Characteristics:</a:t>
            </a:r>
          </a:p>
          <a:p>
            <a:pPr marL="0" indent="0">
              <a:buNone/>
            </a:pPr>
            <a:r>
              <a:rPr lang="en-US" b="0" i="0" dirty="0">
                <a:solidFill>
                  <a:srgbClr val="000000"/>
                </a:solidFill>
                <a:effectLst/>
                <a:latin typeface="Times New Roman" panose="02020603050405020304" pitchFamily="18" charset="0"/>
              </a:rPr>
              <a:t>Shared memory parallel computers vary widely, but generally have in common the ability for all processors to access all memory as global address space.</a:t>
            </a:r>
            <a:br>
              <a:rPr lang="en-US" dirty="0"/>
            </a:br>
            <a:endParaRPr lang="en-IN" dirty="0"/>
          </a:p>
        </p:txBody>
      </p:sp>
      <p:pic>
        <p:nvPicPr>
          <p:cNvPr id="5" name="Picture 4">
            <a:extLst>
              <a:ext uri="{FF2B5EF4-FFF2-40B4-BE49-F238E27FC236}">
                <a16:creationId xmlns:a16="http://schemas.microsoft.com/office/drawing/2014/main" id="{A740BFB8-6A59-5C33-7BA7-EBA0895B1AA7}"/>
              </a:ext>
            </a:extLst>
          </p:cNvPr>
          <p:cNvPicPr>
            <a:picLocks noChangeAspect="1"/>
          </p:cNvPicPr>
          <p:nvPr/>
        </p:nvPicPr>
        <p:blipFill>
          <a:blip r:embed="rId2"/>
          <a:stretch>
            <a:fillRect/>
          </a:stretch>
        </p:blipFill>
        <p:spPr>
          <a:xfrm>
            <a:off x="2694315" y="3177221"/>
            <a:ext cx="4871898" cy="3092151"/>
          </a:xfrm>
          <a:prstGeom prst="rect">
            <a:avLst/>
          </a:prstGeom>
        </p:spPr>
      </p:pic>
    </p:spTree>
    <p:extLst>
      <p:ext uri="{BB962C8B-B14F-4D97-AF65-F5344CB8AC3E}">
        <p14:creationId xmlns:p14="http://schemas.microsoft.com/office/powerpoint/2010/main" val="133823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FF5670-D210-93F8-08DD-30A4D3F51D92}"/>
              </a:ext>
            </a:extLst>
          </p:cNvPr>
          <p:cNvSpPr>
            <a:spLocks noGrp="1"/>
          </p:cNvSpPr>
          <p:nvPr>
            <p:ph idx="1"/>
          </p:nvPr>
        </p:nvSpPr>
        <p:spPr>
          <a:xfrm>
            <a:off x="519953" y="340658"/>
            <a:ext cx="11178988" cy="6185647"/>
          </a:xfrm>
        </p:spPr>
        <p:txBody>
          <a:bodyPr>
            <a:normAutofit lnSpcReduction="10000"/>
          </a:bodyPr>
          <a:lstStyle/>
          <a:p>
            <a:pPr algn="l">
              <a:buFont typeface="Arial" panose="020B0604020202020204" pitchFamily="34" charset="0"/>
              <a:buChar char="•"/>
            </a:pPr>
            <a:r>
              <a:rPr lang="en-US" b="0" i="0" dirty="0">
                <a:solidFill>
                  <a:srgbClr val="000000"/>
                </a:solidFill>
                <a:effectLst/>
                <a:latin typeface="Times New Roman" panose="02020603050405020304" pitchFamily="18" charset="0"/>
              </a:rPr>
              <a:t>Multiple processors can operate independently but share the same memory resources.</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Changes in a memory location effected by one processor are visible to all other processors.</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Shared memory machines can be divided into two main classes based upon memory access times: </a:t>
            </a:r>
            <a:r>
              <a:rPr lang="en-US" b="1" i="1" dirty="0">
                <a:solidFill>
                  <a:srgbClr val="000000"/>
                </a:solidFill>
                <a:effectLst/>
                <a:latin typeface="Times New Roman" panose="02020603050405020304" pitchFamily="18" charset="0"/>
              </a:rPr>
              <a:t>UMA</a:t>
            </a:r>
            <a:r>
              <a:rPr lang="en-US" b="0" i="0" dirty="0">
                <a:solidFill>
                  <a:srgbClr val="000000"/>
                </a:solidFill>
                <a:effectLst/>
                <a:latin typeface="Times New Roman" panose="02020603050405020304" pitchFamily="18" charset="0"/>
              </a:rPr>
              <a:t> and </a:t>
            </a:r>
            <a:r>
              <a:rPr lang="en-US" b="1" i="1" dirty="0">
                <a:solidFill>
                  <a:srgbClr val="000000"/>
                </a:solidFill>
                <a:effectLst/>
                <a:latin typeface="Times New Roman" panose="02020603050405020304" pitchFamily="18" charset="0"/>
              </a:rPr>
              <a:t>NUMA</a:t>
            </a:r>
            <a:r>
              <a:rPr lang="en-US" b="0" i="0" dirty="0">
                <a:solidFill>
                  <a:srgbClr val="000000"/>
                </a:solidFill>
                <a:effectLst/>
                <a:latin typeface="Times New Roman" panose="02020603050405020304" pitchFamily="18" charset="0"/>
              </a:rPr>
              <a:t>.</a:t>
            </a:r>
          </a:p>
          <a:p>
            <a:pPr marL="0" indent="0" algn="l">
              <a:buNone/>
            </a:pPr>
            <a:r>
              <a:rPr lang="en-US" b="1" i="0" dirty="0">
                <a:solidFill>
                  <a:srgbClr val="000000"/>
                </a:solidFill>
                <a:effectLst/>
                <a:latin typeface="Arial" panose="020B0604020202020204" pitchFamily="34" charset="0"/>
              </a:rPr>
              <a:t>Uniform Memory Access (UMA):</a:t>
            </a:r>
            <a:endParaRPr lang="en-US" b="0" i="0" dirty="0">
              <a:solidFill>
                <a:srgbClr val="000000"/>
              </a:solidFill>
              <a:effectLst/>
              <a:latin typeface="Times New Roman" panose="02020603050405020304" pitchFamily="18" charset="0"/>
            </a:endParaRPr>
          </a:p>
          <a:p>
            <a:pPr algn="l">
              <a:buFont typeface="Arial" panose="020B0604020202020204" pitchFamily="34" charset="0"/>
              <a:buChar char="•"/>
            </a:pPr>
            <a:r>
              <a:rPr lang="en-US" b="0" i="0" dirty="0">
                <a:solidFill>
                  <a:srgbClr val="000000"/>
                </a:solidFill>
                <a:effectLst/>
                <a:latin typeface="Times New Roman" panose="02020603050405020304" pitchFamily="18" charset="0"/>
              </a:rPr>
              <a:t>Most commonly represented today by Symmetric Multiprocessor (SMP) machines</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Identical processors</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Equal access and access times to memory</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Sometimes called CC-UMA - Cache Coherent UMA. Cache coherent means if one processor updates a location in shared memory, all the other processors know about the update. Cache coherency is accomplished at the hardware level.</a:t>
            </a:r>
          </a:p>
          <a:p>
            <a:pPr marL="0" indent="0">
              <a:buNone/>
            </a:pPr>
            <a:endParaRPr lang="en-IN" dirty="0"/>
          </a:p>
        </p:txBody>
      </p:sp>
    </p:spTree>
    <p:extLst>
      <p:ext uri="{BB962C8B-B14F-4D97-AF65-F5344CB8AC3E}">
        <p14:creationId xmlns:p14="http://schemas.microsoft.com/office/powerpoint/2010/main" val="1536832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A916E5-42B7-2DB5-5F44-C19270F072E2}"/>
              </a:ext>
            </a:extLst>
          </p:cNvPr>
          <p:cNvSpPr>
            <a:spLocks noGrp="1"/>
          </p:cNvSpPr>
          <p:nvPr>
            <p:ph idx="1"/>
          </p:nvPr>
        </p:nvSpPr>
        <p:spPr>
          <a:xfrm>
            <a:off x="340659" y="340658"/>
            <a:ext cx="11376212" cy="6158753"/>
          </a:xfrm>
        </p:spPr>
        <p:txBody>
          <a:bodyPr/>
          <a:lstStyle/>
          <a:p>
            <a:pPr marL="0" indent="0">
              <a:buNone/>
            </a:pPr>
            <a:r>
              <a:rPr lang="en-IN" b="1" i="0" dirty="0">
                <a:solidFill>
                  <a:srgbClr val="000000"/>
                </a:solidFill>
                <a:effectLst/>
                <a:latin typeface="Arial" panose="020B0604020202020204" pitchFamily="34" charset="0"/>
              </a:rPr>
              <a:t>Non-Uniform Memory Access (NUMA):</a:t>
            </a:r>
          </a:p>
          <a:p>
            <a:pPr marL="0" indent="0">
              <a:buNone/>
            </a:pPr>
            <a:endParaRPr lang="en-IN" b="1" i="0" dirty="0">
              <a:solidFill>
                <a:srgbClr val="000000"/>
              </a:solidFill>
              <a:effectLst/>
              <a:latin typeface="Arial" panose="020B0604020202020204" pitchFamily="34" charset="0"/>
            </a:endParaRPr>
          </a:p>
          <a:p>
            <a:pPr algn="l">
              <a:buFont typeface="Arial" panose="020B0604020202020204" pitchFamily="34" charset="0"/>
              <a:buChar char="•"/>
            </a:pPr>
            <a:r>
              <a:rPr lang="en-US" b="0" i="0" dirty="0">
                <a:solidFill>
                  <a:srgbClr val="000000"/>
                </a:solidFill>
                <a:effectLst/>
                <a:latin typeface="Times New Roman" panose="02020603050405020304" pitchFamily="18" charset="0"/>
              </a:rPr>
              <a:t>Often made by physically linking two or more SMPs</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One SMP can directly access memory of another SMP</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Not all processors have equal access time to all memories</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Memory access across link is slower</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If cache coherency is maintained, then may also be called CC-NUMA - Cache Coherent NUMA</a:t>
            </a:r>
          </a:p>
          <a:p>
            <a:pPr marL="0" indent="0">
              <a:buNone/>
            </a:pPr>
            <a:endParaRPr lang="en-IN" dirty="0"/>
          </a:p>
        </p:txBody>
      </p:sp>
    </p:spTree>
    <p:extLst>
      <p:ext uri="{BB962C8B-B14F-4D97-AF65-F5344CB8AC3E}">
        <p14:creationId xmlns:p14="http://schemas.microsoft.com/office/powerpoint/2010/main" val="3776076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A503C7-AE11-372F-E15F-6F2D9F22FD03}"/>
              </a:ext>
            </a:extLst>
          </p:cNvPr>
          <p:cNvPicPr>
            <a:picLocks noGrp="1" noChangeAspect="1"/>
          </p:cNvPicPr>
          <p:nvPr>
            <p:ph idx="1"/>
          </p:nvPr>
        </p:nvPicPr>
        <p:blipFill>
          <a:blip r:embed="rId2"/>
          <a:stretch>
            <a:fillRect/>
          </a:stretch>
        </p:blipFill>
        <p:spPr>
          <a:xfrm>
            <a:off x="1485773" y="619433"/>
            <a:ext cx="10150027" cy="5058695"/>
          </a:xfrm>
        </p:spPr>
      </p:pic>
    </p:spTree>
    <p:extLst>
      <p:ext uri="{BB962C8B-B14F-4D97-AF65-F5344CB8AC3E}">
        <p14:creationId xmlns:p14="http://schemas.microsoft.com/office/powerpoint/2010/main" val="572650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62005D-9C4A-DE5D-BA44-384D83804DA0}"/>
              </a:ext>
            </a:extLst>
          </p:cNvPr>
          <p:cNvSpPr>
            <a:spLocks noGrp="1"/>
          </p:cNvSpPr>
          <p:nvPr>
            <p:ph idx="1"/>
          </p:nvPr>
        </p:nvSpPr>
        <p:spPr>
          <a:xfrm>
            <a:off x="564775" y="367552"/>
            <a:ext cx="11026589" cy="6140823"/>
          </a:xfrm>
        </p:spPr>
        <p:txBody>
          <a:bodyPr>
            <a:normAutofit lnSpcReduction="10000"/>
          </a:bodyPr>
          <a:lstStyle/>
          <a:p>
            <a:pPr marL="0" indent="0" algn="l">
              <a:buNone/>
            </a:pPr>
            <a:r>
              <a:rPr lang="en-US" b="1" i="0" dirty="0">
                <a:solidFill>
                  <a:srgbClr val="000000"/>
                </a:solidFill>
                <a:effectLst/>
                <a:latin typeface="Arial" panose="020B0604020202020204" pitchFamily="34" charset="0"/>
              </a:rPr>
              <a:t>Advantages:</a:t>
            </a:r>
            <a:endParaRPr lang="en-US" b="0" i="0" dirty="0">
              <a:solidFill>
                <a:srgbClr val="000000"/>
              </a:solidFill>
              <a:effectLst/>
              <a:latin typeface="Times New Roman" panose="02020603050405020304" pitchFamily="18" charset="0"/>
            </a:endParaRPr>
          </a:p>
          <a:p>
            <a:pPr algn="l">
              <a:buFont typeface="Arial" panose="020B0604020202020204" pitchFamily="34" charset="0"/>
              <a:buChar char="•"/>
            </a:pPr>
            <a:r>
              <a:rPr lang="en-US" b="0" i="0" dirty="0">
                <a:solidFill>
                  <a:srgbClr val="000000"/>
                </a:solidFill>
                <a:effectLst/>
                <a:latin typeface="Times New Roman" panose="02020603050405020304" pitchFamily="18" charset="0"/>
              </a:rPr>
              <a:t>Global address space provides a user-friendly programming perspective to memory</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Data sharing between tasks is both fast and uniform due to the proximity of memory to CPUs</a:t>
            </a:r>
          </a:p>
          <a:p>
            <a:pPr marL="0" indent="0" algn="l">
              <a:buNone/>
            </a:pPr>
            <a:r>
              <a:rPr lang="en-US" b="1" i="0" dirty="0">
                <a:solidFill>
                  <a:srgbClr val="000000"/>
                </a:solidFill>
                <a:effectLst/>
                <a:latin typeface="Arial" panose="020B0604020202020204" pitchFamily="34" charset="0"/>
              </a:rPr>
              <a:t>Disadvantages:</a:t>
            </a:r>
            <a:endParaRPr lang="en-US" b="0" i="0" dirty="0">
              <a:solidFill>
                <a:srgbClr val="000000"/>
              </a:solidFill>
              <a:effectLst/>
              <a:latin typeface="Times New Roman" panose="02020603050405020304" pitchFamily="18" charset="0"/>
            </a:endParaRPr>
          </a:p>
          <a:p>
            <a:pPr algn="l">
              <a:buFont typeface="Arial" panose="020B0604020202020204" pitchFamily="34" charset="0"/>
              <a:buChar char="•"/>
            </a:pPr>
            <a:r>
              <a:rPr lang="en-US" b="0" i="0" dirty="0">
                <a:solidFill>
                  <a:srgbClr val="000000"/>
                </a:solidFill>
                <a:effectLst/>
                <a:latin typeface="Times New Roman" panose="02020603050405020304" pitchFamily="18" charset="0"/>
              </a:rPr>
              <a:t>Primary disadvantage is the lack of scalability between memory and CPUs. Adding more CPUs can geometrically increases traffic on the shared memory-CPU path, and for cache coherent systems, geometrically increase traffic associated with cache/memory management.</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Programmer responsibility for synchronization constructs that insure "correct" access of global memory.</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Expense: it becomes increasingly difficult and expensive to design and produce shared memory machines with ever increasing numbers of processors.</a:t>
            </a:r>
          </a:p>
          <a:p>
            <a:endParaRPr lang="en-US" b="0" i="0" dirty="0">
              <a:solidFill>
                <a:srgbClr val="000000"/>
              </a:solidFill>
              <a:effectLst/>
              <a:latin typeface="Times New Roman" panose="02020603050405020304" pitchFamily="18" charset="0"/>
            </a:endParaRPr>
          </a:p>
          <a:p>
            <a:endParaRPr lang="en-IN" dirty="0"/>
          </a:p>
        </p:txBody>
      </p:sp>
    </p:spTree>
    <p:extLst>
      <p:ext uri="{BB962C8B-B14F-4D97-AF65-F5344CB8AC3E}">
        <p14:creationId xmlns:p14="http://schemas.microsoft.com/office/powerpoint/2010/main" val="2603150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60B7-20BB-3165-9538-82F0E11126EB}"/>
              </a:ext>
            </a:extLst>
          </p:cNvPr>
          <p:cNvSpPr>
            <a:spLocks noGrp="1"/>
          </p:cNvSpPr>
          <p:nvPr>
            <p:ph type="title"/>
          </p:nvPr>
        </p:nvSpPr>
        <p:spPr/>
        <p:txBody>
          <a:bodyPr/>
          <a:lstStyle/>
          <a:p>
            <a:r>
              <a:rPr lang="en-IN" b="1" i="0" dirty="0">
                <a:solidFill>
                  <a:srgbClr val="000000"/>
                </a:solidFill>
                <a:effectLst/>
                <a:latin typeface="Arial" panose="020B0604020202020204" pitchFamily="34" charset="0"/>
              </a:rPr>
              <a:t>Distributed Memory</a:t>
            </a:r>
            <a:br>
              <a:rPr lang="en-IN" b="1" i="0" dirty="0">
                <a:solidFill>
                  <a:srgbClr val="000000"/>
                </a:solidFill>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156C1E4C-9D9D-E3F6-9CFC-F7C10D8F6FDB}"/>
              </a:ext>
            </a:extLst>
          </p:cNvPr>
          <p:cNvSpPr>
            <a:spLocks noGrp="1"/>
          </p:cNvSpPr>
          <p:nvPr>
            <p:ph idx="1"/>
          </p:nvPr>
        </p:nvSpPr>
        <p:spPr>
          <a:xfrm>
            <a:off x="618565" y="1120588"/>
            <a:ext cx="11080376" cy="5477436"/>
          </a:xfrm>
        </p:spPr>
        <p:txBody>
          <a:bodyPr/>
          <a:lstStyle/>
          <a:p>
            <a:pPr marL="0" indent="0" algn="l">
              <a:buNone/>
            </a:pPr>
            <a:r>
              <a:rPr lang="en-IN" b="1" i="0" dirty="0">
                <a:effectLst/>
                <a:latin typeface="Arial" panose="020B0604020202020204" pitchFamily="34" charset="0"/>
              </a:rPr>
              <a:t>General Characteristics:</a:t>
            </a:r>
            <a:endParaRPr lang="en-IN" b="0" i="0" dirty="0">
              <a:solidFill>
                <a:srgbClr val="000000"/>
              </a:solidFill>
              <a:effectLst/>
              <a:latin typeface="Times New Roman" panose="02020603050405020304" pitchFamily="18" charset="0"/>
            </a:endParaRPr>
          </a:p>
          <a:p>
            <a:pPr marL="0" indent="0">
              <a:buNone/>
            </a:pPr>
            <a:r>
              <a:rPr lang="en-US" b="0" i="0" dirty="0">
                <a:solidFill>
                  <a:srgbClr val="000000"/>
                </a:solidFill>
                <a:effectLst/>
                <a:latin typeface="Times New Roman" panose="02020603050405020304" pitchFamily="18" charset="0"/>
              </a:rPr>
              <a:t>Like shared memory systems, distributed memory systems vary widely but share a common characteristic. Distributed memory systems require a communication network to connect inter-processor memory.</a:t>
            </a:r>
            <a:endParaRPr lang="en-IN" dirty="0"/>
          </a:p>
        </p:txBody>
      </p:sp>
      <p:pic>
        <p:nvPicPr>
          <p:cNvPr id="5" name="Picture 4">
            <a:extLst>
              <a:ext uri="{FF2B5EF4-FFF2-40B4-BE49-F238E27FC236}">
                <a16:creationId xmlns:a16="http://schemas.microsoft.com/office/drawing/2014/main" id="{5CA5BEF3-D5B8-2FAD-0707-FF5ED56E89A7}"/>
              </a:ext>
            </a:extLst>
          </p:cNvPr>
          <p:cNvPicPr>
            <a:picLocks noChangeAspect="1"/>
          </p:cNvPicPr>
          <p:nvPr/>
        </p:nvPicPr>
        <p:blipFill>
          <a:blip r:embed="rId2"/>
          <a:stretch>
            <a:fillRect/>
          </a:stretch>
        </p:blipFill>
        <p:spPr>
          <a:xfrm>
            <a:off x="2772962" y="3262127"/>
            <a:ext cx="6233700" cy="2987299"/>
          </a:xfrm>
          <a:prstGeom prst="rect">
            <a:avLst/>
          </a:prstGeom>
        </p:spPr>
      </p:pic>
    </p:spTree>
    <p:extLst>
      <p:ext uri="{BB962C8B-B14F-4D97-AF65-F5344CB8AC3E}">
        <p14:creationId xmlns:p14="http://schemas.microsoft.com/office/powerpoint/2010/main" val="3525634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DFE2C1-B24E-518A-B5EB-179239BCC366}"/>
              </a:ext>
            </a:extLst>
          </p:cNvPr>
          <p:cNvSpPr>
            <a:spLocks noGrp="1"/>
          </p:cNvSpPr>
          <p:nvPr>
            <p:ph idx="1"/>
          </p:nvPr>
        </p:nvSpPr>
        <p:spPr>
          <a:xfrm>
            <a:off x="457200" y="313765"/>
            <a:ext cx="10896600" cy="5863198"/>
          </a:xfrm>
        </p:spPr>
        <p:txBody>
          <a:bodyPr/>
          <a:lstStyle/>
          <a:p>
            <a:pPr algn="l">
              <a:buFont typeface="Arial" panose="020B0604020202020204" pitchFamily="34" charset="0"/>
              <a:buChar char="•"/>
            </a:pPr>
            <a:r>
              <a:rPr lang="en-US" b="0" i="0" dirty="0">
                <a:solidFill>
                  <a:srgbClr val="000000"/>
                </a:solidFill>
                <a:effectLst/>
                <a:latin typeface="Times New Roman" panose="02020603050405020304" pitchFamily="18" charset="0"/>
              </a:rPr>
              <a:t>Processors have their own local memory. Memory addresses in one processor do not map to another processor, so there is no concept of global address space across all processors.</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Because each processor has its own local memory, it operates independently. Changes it makes to its local memory have no effect on the memory of other processors. Hence, the concept of cache coherency does not apply.</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When a processor needs access to data in another processor, it is usually the task of the programmer to explicitly define how and when data is communicated. Synchronization between tasks is likewise the programmer's responsibility.</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The network "fabric" used for data transfer varies widely, though it can </a:t>
            </a:r>
            <a:r>
              <a:rPr lang="en-US" b="0" i="0" dirty="0" err="1">
                <a:solidFill>
                  <a:srgbClr val="000000"/>
                </a:solidFill>
                <a:effectLst/>
                <a:latin typeface="Times New Roman" panose="02020603050405020304" pitchFamily="18" charset="0"/>
              </a:rPr>
              <a:t>can</a:t>
            </a:r>
            <a:r>
              <a:rPr lang="en-US" b="0" i="0" dirty="0">
                <a:solidFill>
                  <a:srgbClr val="000000"/>
                </a:solidFill>
                <a:effectLst/>
                <a:latin typeface="Times New Roman" panose="02020603050405020304" pitchFamily="18" charset="0"/>
              </a:rPr>
              <a:t> be as simple as Ethernet.</a:t>
            </a:r>
          </a:p>
          <a:p>
            <a:endParaRPr lang="en-IN" dirty="0"/>
          </a:p>
        </p:txBody>
      </p:sp>
    </p:spTree>
    <p:extLst>
      <p:ext uri="{BB962C8B-B14F-4D97-AF65-F5344CB8AC3E}">
        <p14:creationId xmlns:p14="http://schemas.microsoft.com/office/powerpoint/2010/main" val="174665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E9CE11-67F3-AC2B-4957-E92BBC448B67}"/>
              </a:ext>
            </a:extLst>
          </p:cNvPr>
          <p:cNvSpPr>
            <a:spLocks noGrp="1"/>
          </p:cNvSpPr>
          <p:nvPr>
            <p:ph idx="1"/>
          </p:nvPr>
        </p:nvSpPr>
        <p:spPr>
          <a:xfrm>
            <a:off x="484093" y="313764"/>
            <a:ext cx="11340353" cy="6212541"/>
          </a:xfrm>
        </p:spPr>
        <p:txBody>
          <a:bodyPr/>
          <a:lstStyle/>
          <a:p>
            <a:pPr marL="0" indent="0" algn="l">
              <a:buNone/>
            </a:pPr>
            <a:r>
              <a:rPr lang="en-US" b="1" i="0" dirty="0">
                <a:solidFill>
                  <a:srgbClr val="000000"/>
                </a:solidFill>
                <a:effectLst/>
                <a:latin typeface="Arial" panose="020B0604020202020204" pitchFamily="34" charset="0"/>
              </a:rPr>
              <a:t>Advantages:</a:t>
            </a:r>
            <a:endParaRPr lang="en-US" b="0" i="0" dirty="0">
              <a:solidFill>
                <a:srgbClr val="000000"/>
              </a:solidFill>
              <a:effectLst/>
              <a:latin typeface="Times New Roman" panose="02020603050405020304" pitchFamily="18" charset="0"/>
            </a:endParaRPr>
          </a:p>
          <a:p>
            <a:pPr algn="l">
              <a:buFont typeface="Arial" panose="020B0604020202020204" pitchFamily="34" charset="0"/>
              <a:buChar char="•"/>
            </a:pPr>
            <a:r>
              <a:rPr lang="en-US" b="0" i="0" dirty="0">
                <a:solidFill>
                  <a:srgbClr val="000000"/>
                </a:solidFill>
                <a:effectLst/>
                <a:latin typeface="Times New Roman" panose="02020603050405020304" pitchFamily="18" charset="0"/>
              </a:rPr>
              <a:t>Memory is scalable with number of processors. Increase the number of processors and the size of memory increases proportionately.</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Each processor can rapidly access its own memory without interference and without the overhead incurred with trying to maintain cache coherency.</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Cost effectiveness: can use commodity, off-the-shelf processors and networking.</a:t>
            </a:r>
          </a:p>
          <a:p>
            <a:pPr marL="0" indent="0" algn="l">
              <a:buNone/>
            </a:pPr>
            <a:r>
              <a:rPr lang="en-US" b="1" i="0" dirty="0">
                <a:solidFill>
                  <a:srgbClr val="000000"/>
                </a:solidFill>
                <a:effectLst/>
                <a:latin typeface="Arial" panose="020B0604020202020204" pitchFamily="34" charset="0"/>
              </a:rPr>
              <a:t>Disadvantages:</a:t>
            </a:r>
            <a:endParaRPr lang="en-US" b="0" i="0" dirty="0">
              <a:solidFill>
                <a:srgbClr val="000000"/>
              </a:solidFill>
              <a:effectLst/>
              <a:latin typeface="Times New Roman" panose="02020603050405020304" pitchFamily="18" charset="0"/>
            </a:endParaRPr>
          </a:p>
          <a:p>
            <a:pPr algn="l">
              <a:buFont typeface="Arial" panose="020B0604020202020204" pitchFamily="34" charset="0"/>
              <a:buChar char="•"/>
            </a:pPr>
            <a:r>
              <a:rPr lang="en-US" b="0" i="0" dirty="0">
                <a:solidFill>
                  <a:srgbClr val="000000"/>
                </a:solidFill>
                <a:effectLst/>
                <a:latin typeface="Times New Roman" panose="02020603050405020304" pitchFamily="18" charset="0"/>
              </a:rPr>
              <a:t>The programmer is responsible for many of the details associated with data communication between processors.</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It may be difficult to map existing data structures, based on global memory, to this memory organization.</a:t>
            </a:r>
          </a:p>
          <a:p>
            <a:pPr marL="0" indent="0" algn="l">
              <a:buNone/>
            </a:pPr>
            <a:endParaRPr lang="en-US" b="0" i="0" dirty="0">
              <a:solidFill>
                <a:srgbClr val="000000"/>
              </a:solidFill>
              <a:effectLst/>
              <a:latin typeface="Times New Roman" panose="02020603050405020304" pitchFamily="18" charset="0"/>
            </a:endParaRPr>
          </a:p>
          <a:p>
            <a:pPr marL="0" indent="0" algn="l">
              <a:buNone/>
            </a:pPr>
            <a:endParaRPr lang="en-US" b="0" i="0" dirty="0">
              <a:solidFill>
                <a:srgbClr val="000000"/>
              </a:solidFill>
              <a:effectLst/>
              <a:latin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03896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337D-AE79-45B1-DE46-D0041674D613}"/>
              </a:ext>
            </a:extLst>
          </p:cNvPr>
          <p:cNvSpPr>
            <a:spLocks noGrp="1"/>
          </p:cNvSpPr>
          <p:nvPr>
            <p:ph type="title"/>
          </p:nvPr>
        </p:nvSpPr>
        <p:spPr/>
        <p:txBody>
          <a:bodyPr/>
          <a:lstStyle/>
          <a:p>
            <a:br>
              <a:rPr lang="en-IN" b="1" i="0" dirty="0">
                <a:solidFill>
                  <a:srgbClr val="000000"/>
                </a:solidFill>
                <a:effectLst/>
                <a:latin typeface="Arial" panose="020B0604020202020204" pitchFamily="34" charset="0"/>
              </a:rPr>
            </a:br>
            <a:endParaRPr lang="en-IN" dirty="0"/>
          </a:p>
        </p:txBody>
      </p:sp>
      <p:pic>
        <p:nvPicPr>
          <p:cNvPr id="5" name="Content Placeholder 4">
            <a:extLst>
              <a:ext uri="{FF2B5EF4-FFF2-40B4-BE49-F238E27FC236}">
                <a16:creationId xmlns:a16="http://schemas.microsoft.com/office/drawing/2014/main" id="{3DDBF696-ACB7-6003-5EE6-BCF3B05156B2}"/>
              </a:ext>
            </a:extLst>
          </p:cNvPr>
          <p:cNvPicPr>
            <a:picLocks noGrp="1" noChangeAspect="1"/>
          </p:cNvPicPr>
          <p:nvPr>
            <p:ph idx="1"/>
          </p:nvPr>
        </p:nvPicPr>
        <p:blipFill>
          <a:blip r:embed="rId2"/>
          <a:stretch>
            <a:fillRect/>
          </a:stretch>
        </p:blipFill>
        <p:spPr>
          <a:xfrm>
            <a:off x="425046" y="519953"/>
            <a:ext cx="10928754" cy="5450541"/>
          </a:xfrm>
        </p:spPr>
      </p:pic>
    </p:spTree>
    <p:extLst>
      <p:ext uri="{BB962C8B-B14F-4D97-AF65-F5344CB8AC3E}">
        <p14:creationId xmlns:p14="http://schemas.microsoft.com/office/powerpoint/2010/main" val="3331067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169D6-BEED-9013-7C30-339DE8709CD5}"/>
              </a:ext>
            </a:extLst>
          </p:cNvPr>
          <p:cNvSpPr>
            <a:spLocks noGrp="1"/>
          </p:cNvSpPr>
          <p:nvPr>
            <p:ph type="title"/>
          </p:nvPr>
        </p:nvSpPr>
        <p:spPr/>
        <p:txBody>
          <a:bodyPr/>
          <a:lstStyle/>
          <a:p>
            <a:r>
              <a:rPr lang="en-IN" b="1" i="0" dirty="0">
                <a:solidFill>
                  <a:srgbClr val="000000"/>
                </a:solidFill>
                <a:effectLst/>
                <a:latin typeface="Arial" panose="020B0604020202020204" pitchFamily="34" charset="0"/>
              </a:rPr>
              <a:t>Hybrid Distributed-Shared Memory</a:t>
            </a:r>
            <a:br>
              <a:rPr lang="en-IN" b="1" i="0" dirty="0">
                <a:solidFill>
                  <a:srgbClr val="000000"/>
                </a:solidFill>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215CB85A-1F77-6001-2451-027C62EFBD3A}"/>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rPr>
              <a:t>The largest and fastest computers in the world today employ both shared and distributed memory architectures.</a:t>
            </a:r>
            <a:endParaRPr lang="en-IN" dirty="0"/>
          </a:p>
        </p:txBody>
      </p:sp>
      <p:pic>
        <p:nvPicPr>
          <p:cNvPr id="5" name="Picture 4">
            <a:extLst>
              <a:ext uri="{FF2B5EF4-FFF2-40B4-BE49-F238E27FC236}">
                <a16:creationId xmlns:a16="http://schemas.microsoft.com/office/drawing/2014/main" id="{6297ECA7-FB5B-5F88-445F-611EF53AB2E9}"/>
              </a:ext>
            </a:extLst>
          </p:cNvPr>
          <p:cNvPicPr>
            <a:picLocks noChangeAspect="1"/>
          </p:cNvPicPr>
          <p:nvPr/>
        </p:nvPicPr>
        <p:blipFill>
          <a:blip r:embed="rId2"/>
          <a:stretch>
            <a:fillRect/>
          </a:stretch>
        </p:blipFill>
        <p:spPr>
          <a:xfrm>
            <a:off x="393045" y="3186156"/>
            <a:ext cx="10964998" cy="2712620"/>
          </a:xfrm>
          <a:prstGeom prst="rect">
            <a:avLst/>
          </a:prstGeom>
        </p:spPr>
      </p:pic>
    </p:spTree>
    <p:extLst>
      <p:ext uri="{BB962C8B-B14F-4D97-AF65-F5344CB8AC3E}">
        <p14:creationId xmlns:p14="http://schemas.microsoft.com/office/powerpoint/2010/main" val="3572732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7324DF-803D-28A6-8100-70F4A40FADBE}"/>
              </a:ext>
            </a:extLst>
          </p:cNvPr>
          <p:cNvSpPr>
            <a:spLocks noGrp="1"/>
          </p:cNvSpPr>
          <p:nvPr>
            <p:ph idx="1"/>
          </p:nvPr>
        </p:nvSpPr>
        <p:spPr>
          <a:xfrm>
            <a:off x="448235" y="385482"/>
            <a:ext cx="11223812" cy="6176683"/>
          </a:xfrm>
        </p:spPr>
        <p:txBody>
          <a:bodyPr>
            <a:normAutofit/>
          </a:bodyPr>
          <a:lstStyle/>
          <a:p>
            <a:pPr algn="l">
              <a:buFont typeface="Arial" panose="020B0604020202020204" pitchFamily="34" charset="0"/>
              <a:buChar char="•"/>
            </a:pPr>
            <a:r>
              <a:rPr lang="en-US" b="0" i="0" dirty="0">
                <a:solidFill>
                  <a:srgbClr val="000000"/>
                </a:solidFill>
                <a:effectLst/>
                <a:latin typeface="Times New Roman" panose="02020603050405020304" pitchFamily="18" charset="0"/>
              </a:rPr>
              <a:t>The shared memory component is usually a cache coherent SMP machine. Processors on a given SMP can address that machine's memory as global.</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The distributed memory component is the networking of multiple SMPs. SMPs know only about their own memory - not the memory on another SMP. Therefore, network communications are required to move data from one SMP to another.</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Current trends seem to indicate that this type of memory architecture will continue to prevail and increase at the high end of computing for the foreseeable future.</a:t>
            </a:r>
          </a:p>
          <a:p>
            <a:pPr marL="0" indent="0" algn="l">
              <a:buNone/>
            </a:pPr>
            <a:r>
              <a:rPr lang="en-US" b="1" i="0" dirty="0">
                <a:solidFill>
                  <a:srgbClr val="000000"/>
                </a:solidFill>
                <a:effectLst/>
                <a:latin typeface="Times New Roman" panose="02020603050405020304" pitchFamily="18" charset="0"/>
              </a:rPr>
              <a:t>Advantages and Disadvantages</a:t>
            </a:r>
            <a:r>
              <a:rPr lang="en-US" b="0" i="0" dirty="0">
                <a:solidFill>
                  <a:srgbClr val="000000"/>
                </a:solidFill>
                <a:effectLst/>
                <a:latin typeface="Times New Roman" panose="02020603050405020304" pitchFamily="18" charset="0"/>
              </a:rPr>
              <a:t>: </a:t>
            </a:r>
          </a:p>
          <a:p>
            <a:pPr algn="l">
              <a:buFont typeface="Arial" panose="020B0604020202020204" pitchFamily="34" charset="0"/>
              <a:buChar char="•"/>
            </a:pPr>
            <a:r>
              <a:rPr lang="en-US" b="0" i="0" dirty="0">
                <a:solidFill>
                  <a:srgbClr val="212529"/>
                </a:solidFill>
                <a:effectLst/>
                <a:latin typeface="Times New Roman" panose="02020603050405020304" pitchFamily="18" charset="0"/>
                <a:cs typeface="Times New Roman" panose="02020603050405020304" pitchFamily="18" charset="0"/>
              </a:rPr>
              <a:t>Whatever is common to both shared and distributed memory architectures.</a:t>
            </a:r>
          </a:p>
          <a:p>
            <a:pPr algn="l">
              <a:buFont typeface="Arial" panose="020B0604020202020204" pitchFamily="34" charset="0"/>
              <a:buChar char="•"/>
            </a:pPr>
            <a:r>
              <a:rPr lang="en-US" b="0" i="0" dirty="0">
                <a:solidFill>
                  <a:srgbClr val="212529"/>
                </a:solidFill>
                <a:effectLst/>
                <a:latin typeface="Times New Roman" panose="02020603050405020304" pitchFamily="18" charset="0"/>
                <a:cs typeface="Times New Roman" panose="02020603050405020304" pitchFamily="18" charset="0"/>
              </a:rPr>
              <a:t>Increased scalability is an important advantage</a:t>
            </a:r>
          </a:p>
          <a:p>
            <a:pPr algn="l">
              <a:buFont typeface="Arial" panose="020B0604020202020204" pitchFamily="34" charset="0"/>
              <a:buChar char="•"/>
            </a:pPr>
            <a:r>
              <a:rPr lang="en-US" b="0" i="0" dirty="0">
                <a:solidFill>
                  <a:srgbClr val="212529"/>
                </a:solidFill>
                <a:effectLst/>
                <a:latin typeface="Times New Roman" panose="02020603050405020304" pitchFamily="18" charset="0"/>
                <a:cs typeface="Times New Roman" panose="02020603050405020304" pitchFamily="18" charset="0"/>
              </a:rPr>
              <a:t>Increased programmer complexity is an important disadvantage</a:t>
            </a:r>
          </a:p>
          <a:p>
            <a:pPr marL="0" indent="0">
              <a:buNone/>
            </a:pPr>
            <a:endParaRPr lang="en-IN" dirty="0"/>
          </a:p>
        </p:txBody>
      </p:sp>
    </p:spTree>
    <p:extLst>
      <p:ext uri="{BB962C8B-B14F-4D97-AF65-F5344CB8AC3E}">
        <p14:creationId xmlns:p14="http://schemas.microsoft.com/office/powerpoint/2010/main" val="2667279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TotalTime>
  <Words>721</Words>
  <Application>Microsoft Office PowerPoint</Application>
  <PresentationFormat>Widescreen</PresentationFormat>
  <Paragraphs>51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Parallel Computer Memory Architectures</vt:lpstr>
      <vt:lpstr>Shared Memory </vt:lpstr>
      <vt:lpstr>PowerPoint Presentation</vt:lpstr>
      <vt:lpstr>PowerPoint Presentation</vt:lpstr>
      <vt:lpstr>PowerPoint Presentation</vt:lpstr>
      <vt:lpstr>PowerPoint Presentation</vt:lpstr>
      <vt:lpstr>Distributed Memory </vt:lpstr>
      <vt:lpstr>PowerPoint Presentation</vt:lpstr>
      <vt:lpstr>PowerPoint Presentation</vt:lpstr>
      <vt:lpstr> </vt:lpstr>
      <vt:lpstr>Hybrid Distributed-Shared Memory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Computer Memory Architectures</dc:title>
  <dc:creator>Anjaly Aneesh</dc:creator>
  <cp:lastModifiedBy>Anjaly Aneesh</cp:lastModifiedBy>
  <cp:revision>3</cp:revision>
  <dcterms:created xsi:type="dcterms:W3CDTF">2024-01-15T05:58:54Z</dcterms:created>
  <dcterms:modified xsi:type="dcterms:W3CDTF">2024-02-22T08:03:20Z</dcterms:modified>
</cp:coreProperties>
</file>